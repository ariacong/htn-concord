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40680"/>
            <a:ext cx="274320" cy="14173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17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博士课题 · 进度与设计汇报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大模型在高血压用药决策中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究竟错在哪一步？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97280" y="3712463"/>
            <a:ext cx="2011680" cy="0"/>
          </a:xfrm>
          <a:prstGeom prst="line">
            <a:avLst/>
          </a:prstGeom>
          <a:ln w="381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" y="3950208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HTN-Concord：用一份可执行的指南做标准答案，把「读错」和「想错」分开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956048"/>
            <a:ext cx="1316736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确定性指南引擎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4956048"/>
            <a:ext cx="1447364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可定位的失效机制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53988" y="4956048"/>
            <a:ext cx="2623021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NHANES + MIMIC-IV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815584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汇报人：Aria Cong   ·   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一页看懂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这个课题在做什么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博士课题设计与进度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81328"/>
            <a:ext cx="5245455" cy="224028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81328"/>
            <a:ext cx="50292" cy="224028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37360"/>
            <a:ext cx="4678527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问题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医生开不开降压药，要同时满足四个条件：血压分期、合并症、禁忌、现在吃什么药。四条一起对，答案才对。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1481328"/>
            <a:ext cx="5245455" cy="224028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481328"/>
            <a:ext cx="50292" cy="224028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5615" y="1737360"/>
            <a:ext cx="4678527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困境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现在测大模型都是做选择题，最后给一个分数。分数说明不了它是没读懂病历，还是读懂了不会推理。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995928"/>
            <a:ext cx="5245455" cy="224028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995928"/>
            <a:ext cx="50292" cy="22402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51960"/>
            <a:ext cx="4678527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做法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把 2025 年美国高血压指南手写成程序，当标准答案；同一个病人出两份卷子——结构化数据 vs 病历叙述。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995928"/>
            <a:ext cx="5245455" cy="224028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007" y="3995928"/>
            <a:ext cx="50292" cy="22402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5615" y="4251960"/>
            <a:ext cx="4678527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结果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两份卷子的分数差，就是「读不懂病历」造成的损失。剩下的错，才是真的不会看病。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临床上这是一道四选四全对的题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博士课题设计与进度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481328"/>
            <a:ext cx="1076523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同一个 58 岁病人，任何一条读漏，答案就从「对」变成「危险」：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048256"/>
            <a:ext cx="2526715" cy="278892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2048256"/>
            <a:ext cx="2526715" cy="457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322576"/>
            <a:ext cx="20512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血压分期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34640"/>
            <a:ext cx="205122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145/92 mmHg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→ 2 期高血压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" y="3904487"/>
            <a:ext cx="2051227" cy="18288"/>
          </a:xfrm>
          <a:prstGeom prst="rect">
            <a:avLst/>
          </a:prstGeom>
          <a:solidFill>
            <a:srgbClr val="D3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4050791"/>
            <a:ext cx="205122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读漏 → 该开药的不开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59403" y="2048256"/>
            <a:ext cx="2526715" cy="278892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59403" y="2048256"/>
            <a:ext cx="2526715" cy="457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97147" y="2322576"/>
            <a:ext cx="20512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合并症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7147" y="2834640"/>
            <a:ext cx="205122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2 型糖尿病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估算 eGFR 52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97147" y="3904487"/>
            <a:ext cx="2051227" cy="18288"/>
          </a:xfrm>
          <a:prstGeom prst="rect">
            <a:avLst/>
          </a:prstGeom>
          <a:solidFill>
            <a:srgbClr val="D3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97147" y="4050791"/>
            <a:ext cx="205122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读漏 → 选错药类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5575" y="2048256"/>
            <a:ext cx="2526715" cy="278892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5575" y="2048256"/>
            <a:ext cx="2526715" cy="457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3319" y="2322576"/>
            <a:ext cx="20512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禁忌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3319" y="2834640"/>
            <a:ext cx="205122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既往血管性水肿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血钾 5.7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3319" y="3904487"/>
            <a:ext cx="2051227" cy="18288"/>
          </a:xfrm>
          <a:prstGeom prst="rect">
            <a:avLst/>
          </a:prstGeom>
          <a:solidFill>
            <a:srgbClr val="D3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3319" y="4050791"/>
            <a:ext cx="205122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读漏 → 开出危险药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51747" y="2048256"/>
            <a:ext cx="2526715" cy="278892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51747" y="2048256"/>
            <a:ext cx="2526715" cy="457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491" y="2322576"/>
            <a:ext cx="20512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现用药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491" y="2834640"/>
            <a:ext cx="205122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已在服氨氯地平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9491" y="3904487"/>
            <a:ext cx="2051227" cy="18288"/>
          </a:xfrm>
          <a:prstGeom prst="rect">
            <a:avLst/>
          </a:prstGeom>
          <a:solidFill>
            <a:srgbClr val="D3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9491" y="4050791"/>
            <a:ext cx="205122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读漏 → 「起始」当成「加药」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5111496"/>
            <a:ext cx="1076523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所以这不是知识问答，是多条件同时满足的决策。合并症越多，模型表现越差——文献已有证据。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研究缺口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缺的不是再测一遍，是缺一份标准的推理过程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博士课题设计与进度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72768"/>
            <a:ext cx="6297660" cy="330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现有医学大模型评测基本是选择题。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848739"/>
            <a:ext cx="5986764" cy="297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输出是一个总分，比如 85 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83130"/>
            <a:ext cx="6297660" cy="330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85 分回答不了三个问题：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513965"/>
            <a:ext cx="5986764" cy="330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· 它是没看懂病历，还是看懂了推错了？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2596261"/>
            <a:ext cx="54864" cy="5486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789936"/>
            <a:ext cx="5986764" cy="297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两种错要用完全不同的办法修。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124327"/>
            <a:ext cx="5986764" cy="330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· 它答对的那些，是走对了路，还是蒙对了？</a:t>
            </a:r>
          </a:p>
        </p:txBody>
      </p:sp>
      <p:sp>
        <p:nvSpPr>
          <p:cNvPr id="15" name="Oval 14"/>
          <p:cNvSpPr/>
          <p:nvPr/>
        </p:nvSpPr>
        <p:spPr>
          <a:xfrm>
            <a:off x="804672" y="3206623"/>
            <a:ext cx="54864" cy="5486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400298"/>
            <a:ext cx="5986764" cy="297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题库只有标准选项，没有标准步骤，无法核对。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734689"/>
            <a:ext cx="5986764" cy="330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· 它开出危险药的比例是多少？</a:t>
            </a:r>
          </a:p>
        </p:txBody>
      </p:sp>
      <p:sp>
        <p:nvSpPr>
          <p:cNvPr id="18" name="Oval 17"/>
          <p:cNvSpPr/>
          <p:nvPr/>
        </p:nvSpPr>
        <p:spPr>
          <a:xfrm>
            <a:off x="804672" y="3816985"/>
            <a:ext cx="54864" cy="5486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010660"/>
            <a:ext cx="5986764" cy="297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危险错误被平均进总分，冲淡了。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94940" y="1984248"/>
            <a:ext cx="4083522" cy="1825370"/>
          </a:xfrm>
          <a:prstGeom prst="rect">
            <a:avLst/>
          </a:prstGeom>
          <a:solidFill>
            <a:srgbClr val="094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4124" y="2295144"/>
            <a:ext cx="342515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ED6E4"/>
                </a:solidFill>
                <a:latin typeface="Arial"/>
                <a:ea typeface="Microsoft YaHei"/>
                <a:cs typeface="Arial"/>
              </a:rPr>
              <a:t>缺口一句话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4124" y="2734056"/>
            <a:ext cx="3425154" cy="819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现有基准没有「参考推理路径」，所以错误无法定位。知道模型不行，不知道该修哪里。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研究定位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别人已经做到哪了，我们的差别在哪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博士课题设计与进度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527048"/>
            <a:ext cx="10765231" cy="847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713232" y="1527048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9536" y="1645920"/>
            <a:ext cx="2372053" cy="664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把指南变成可执行结构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4197" y="1645920"/>
            <a:ext cx="3970849" cy="664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2026 年已有四篇（CPGPrompt、MedGuideX、GuideSkill、Guideline2Graph）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87655" y="1645920"/>
            <a:ext cx="3544504" cy="664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已被占领 · 我们引用，不当卖点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2374392"/>
            <a:ext cx="10765231" cy="449072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713232" y="237439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59536" y="2493264"/>
            <a:ext cx="2372053" cy="26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指南程序的用途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4197" y="2493264"/>
            <a:ext cx="3970849" cy="26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别人：模型去走的决策树 / 训练信号 / 文本校验器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87655" y="2493264"/>
            <a:ext cx="3544504" cy="26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我们：出题人手里的答案本，并输出推理步骤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2823464"/>
            <a:ext cx="10765231" cy="449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713232" y="2823464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59536" y="2942336"/>
            <a:ext cx="2372053" cy="26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任务类型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4197" y="2942336"/>
            <a:ext cx="3970849" cy="26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别人多是诊断（出 ICD 码）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87655" y="2942336"/>
            <a:ext cx="3544504" cy="26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我们是治疗起始与强化（开不开药、开哪类）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3272536"/>
            <a:ext cx="10765231" cy="449072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13232" y="3272536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9536" y="3391408"/>
            <a:ext cx="2372053" cy="26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难度设计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4197" y="3391408"/>
            <a:ext cx="3970849" cy="26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别人改难度时把信息量一起改了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7655" y="3391408"/>
            <a:ext cx="3544504" cy="26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我们用测试代码强制：只改写法，不改信息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3721608"/>
            <a:ext cx="10765231" cy="449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713232" y="3721608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59536" y="3840480"/>
            <a:ext cx="2372053" cy="26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编码谁来审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4197" y="3840480"/>
            <a:ext cx="3970849" cy="26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GuideSkill 自陈局限：缺医师验证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87655" y="3840480"/>
            <a:ext cx="3544504" cy="26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我们把医师盲审裁定写进必做项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13232" y="4170680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核心想法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把指南写成程序，让它当答案本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博士课题设计与进度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527048"/>
            <a:ext cx="3063240" cy="1937512"/>
          </a:xfrm>
          <a:prstGeom prst="rect">
            <a:avLst/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746504"/>
            <a:ext cx="2587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输入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130552"/>
            <a:ext cx="2587752" cy="1114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一个病人的结构化档案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（年龄、血压、化验、合并症、现用药）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95928" y="2349500"/>
            <a:ext cx="512064" cy="292608"/>
          </a:xfrm>
          <a:prstGeom prst="rightArrow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00600" y="1527048"/>
            <a:ext cx="6677863" cy="1937512"/>
          </a:xfrm>
          <a:prstGeom prst="rect">
            <a:avLst/>
          </a:prstGeom>
          <a:solidFill>
            <a:srgbClr val="FFFFFF"/>
          </a:solidFill>
          <a:ln w="2032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2" y="1728216"/>
            <a:ext cx="61657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输出</a:t>
            </a:r>
          </a:p>
        </p:txBody>
      </p:sp>
      <p:sp>
        <p:nvSpPr>
          <p:cNvPr id="14" name="Oval 13"/>
          <p:cNvSpPr/>
          <p:nvPr/>
        </p:nvSpPr>
        <p:spPr>
          <a:xfrm>
            <a:off x="5074920" y="2176272"/>
            <a:ext cx="50292" cy="502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6088" y="2093976"/>
            <a:ext cx="5854903" cy="520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该怎么处理：改生活方式 / 起始用药 / 加强用药 / 已达标 / 情况不明不下结论</a:t>
            </a:r>
          </a:p>
        </p:txBody>
      </p:sp>
      <p:sp>
        <p:nvSpPr>
          <p:cNvPr id="16" name="Oval 15"/>
          <p:cNvSpPr/>
          <p:nvPr/>
        </p:nvSpPr>
        <p:spPr>
          <a:xfrm>
            <a:off x="5074920" y="2696972"/>
            <a:ext cx="50292" cy="502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76088" y="2614676"/>
            <a:ext cx="5854903" cy="306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每一步依据指南哪一段（引文锚点）</a:t>
            </a:r>
          </a:p>
        </p:txBody>
      </p:sp>
      <p:sp>
        <p:nvSpPr>
          <p:cNvPr id="18" name="Oval 17"/>
          <p:cNvSpPr/>
          <p:nvPr/>
        </p:nvSpPr>
        <p:spPr>
          <a:xfrm>
            <a:off x="5074920" y="3003042"/>
            <a:ext cx="50292" cy="502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6088" y="2920746"/>
            <a:ext cx="5854903" cy="306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完整推理步骤（可逐步比对）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3848608"/>
            <a:ext cx="3429914" cy="23876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848608"/>
            <a:ext cx="3429914" cy="411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4122927"/>
            <a:ext cx="295442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规则由我手写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4519168"/>
            <a:ext cx="2954426" cy="1534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指南条文逐条转写，每条都有单元测试和引文；工程脚手架才交给 AI。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0890" y="3848608"/>
            <a:ext cx="3429914" cy="23876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0890" y="3848608"/>
            <a:ext cx="3429914" cy="411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8634" y="4122927"/>
            <a:ext cx="295442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不确定就不下结论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8634" y="4519168"/>
            <a:ext cx="2954426" cy="1534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信息不足或超出编码范围，一律输出「弃权」，绝不猜测。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8548" y="3848608"/>
            <a:ext cx="3429914" cy="23876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8548" y="3848608"/>
            <a:ext cx="3429914" cy="41148"/>
          </a:xfrm>
          <a:prstGeom prst="rect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6292" y="4122927"/>
            <a:ext cx="295442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它不是选手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6292" y="4519168"/>
            <a:ext cx="2954426" cy="1534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引擎不与大模型比高低，它是标准答案的来源。「引擎赢了模型」这句话在论文里不能出现。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关键设计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核心结果就是一个减法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博士课题设计与进度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99616"/>
            <a:ext cx="5227167" cy="1874519"/>
          </a:xfrm>
          <a:prstGeom prst="rect">
            <a:avLst/>
          </a:prstGeom>
          <a:solidFill>
            <a:srgbClr val="FFFFFF"/>
          </a:solidFill>
          <a:ln w="2032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99616"/>
            <a:ext cx="5227167" cy="3108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554480"/>
            <a:ext cx="47882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 卷 · 结构化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1975104"/>
            <a:ext cx="4751679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58岁，男，SBP 145，DBP 92,</a:t>
            </a:r>
          </a:p>
          <a:p>
            <a:pPr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糖尿病=是，eGFR 52,</a:t>
            </a:r>
          </a:p>
          <a:p>
            <a:pPr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当前用药=[氨氯地平]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0976" y="2971800"/>
            <a:ext cx="4751679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50976" y="3044952"/>
            <a:ext cx="47516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读取零难度，考的是纯推理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1295" y="1499616"/>
            <a:ext cx="5227167" cy="1874519"/>
          </a:xfrm>
          <a:prstGeom prst="rect">
            <a:avLst/>
          </a:prstGeom>
          <a:solidFill>
            <a:srgbClr val="FFFFFF"/>
          </a:solidFill>
          <a:ln w="2032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1295" y="1499616"/>
            <a:ext cx="5227167" cy="3108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0751" y="1554480"/>
            <a:ext cx="47882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B 卷 · 病历叙述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9039" y="1975104"/>
            <a:ext cx="4751679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「58 岁男性，因血压偏高复诊。近半年在服一种降压药。</a:t>
            </a:r>
          </a:p>
          <a:p>
            <a:pPr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糖尿病史多年，近期化验肌酐轻度升高……」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89039" y="2971800"/>
            <a:ext cx="4751680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89039" y="3044952"/>
            <a:ext cx="47516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考的是先读懂、再推理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3685032"/>
            <a:ext cx="10765231" cy="713232"/>
          </a:xfrm>
          <a:prstGeom prst="rect">
            <a:avLst/>
          </a:prstGeom>
          <a:solidFill>
            <a:srgbClr val="18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867912"/>
            <a:ext cx="107652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 卷得分  −  B 卷得分  =  「读不懂病历」造成的损失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4782312"/>
            <a:ext cx="54864" cy="5486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690872"/>
            <a:ext cx="10490911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两卷的决定性信息完全一样，只是写法不同——这一点由测试代码强制保证，不是靠人工承诺。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5122418"/>
            <a:ext cx="54864" cy="5486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5030978"/>
            <a:ext cx="10490911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所以级间的分数下降只能归因于读取，不可能是「题目里少给了一条信息」。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5462524"/>
            <a:ext cx="54864" cy="5486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371084"/>
            <a:ext cx="10490911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同类研究此前只能在 80 例上用人工撰写的摘要做出这个对比；我们能在 4,806 例上用确定性渲染器做出来。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系统架构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五个部件，一条流水线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博士课题设计与进度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63040"/>
            <a:ext cx="3289706" cy="603504"/>
          </a:xfrm>
          <a:prstGeom prst="rect">
            <a:avLst/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63624"/>
            <a:ext cx="296052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NHANES 2017–18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全美体检抽样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50994" y="1463040"/>
            <a:ext cx="3289706" cy="603504"/>
          </a:xfrm>
          <a:prstGeom prst="rect">
            <a:avLst/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5586" y="1563624"/>
            <a:ext cx="296052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MIMIC-IV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真实住院电子病历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8756" y="1463040"/>
            <a:ext cx="3289706" cy="603504"/>
          </a:xfrm>
          <a:prstGeom prst="rect">
            <a:avLst/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3348" y="1563624"/>
            <a:ext cx="296052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MIMIC-IV-ED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急诊用药核对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49543" y="2121408"/>
            <a:ext cx="292608" cy="274320"/>
          </a:xfrm>
          <a:prstGeom prst="downArrow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2450592"/>
            <a:ext cx="10765231" cy="658368"/>
          </a:xfrm>
          <a:prstGeom prst="rect">
            <a:avLst/>
          </a:prstGeom>
          <a:solidFill>
            <a:srgbClr val="094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551176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统一病人档案  PatientProfile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D8E4"/>
                </a:solidFill>
                <a:latin typeface="Arial"/>
                <a:ea typeface="Microsoft YaHei"/>
                <a:cs typeface="Arial"/>
              </a:rPr>
              <a:t>所有数据源折叠成同一张表，下游代码不区分来源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146221" y="3145536"/>
            <a:ext cx="256032" cy="237744"/>
          </a:xfrm>
          <a:prstGeom prst="downArrow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8789441" y="3145536"/>
            <a:ext cx="256032" cy="237744"/>
          </a:xfrm>
          <a:prstGeom prst="down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3419856"/>
            <a:ext cx="5122011" cy="566928"/>
          </a:xfrm>
          <a:prstGeom prst="rect">
            <a:avLst/>
          </a:prstGeom>
          <a:solidFill>
            <a:srgbClr val="FFFFFF"/>
          </a:solidFill>
          <a:ln w="2032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502152"/>
            <a:ext cx="475625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指南引擎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（标准答案）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3146221" y="4023360"/>
            <a:ext cx="256032" cy="219456"/>
          </a:xfrm>
          <a:prstGeom prst="downArrow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4279392"/>
            <a:ext cx="5122011" cy="60350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379976"/>
            <a:ext cx="475625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决策 + 引文 + 推理步骤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【全程对模型隐藏】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6451" y="3419856"/>
            <a:ext cx="5122011" cy="566928"/>
          </a:xfrm>
          <a:prstGeom prst="rect">
            <a:avLst/>
          </a:prstGeom>
          <a:solidFill>
            <a:srgbClr val="FFFFFF"/>
          </a:solidFill>
          <a:ln w="2032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9331" y="3502152"/>
            <a:ext cx="475625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病历渲染器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（三档难度）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8789441" y="4023360"/>
            <a:ext cx="256032" cy="219456"/>
          </a:xfrm>
          <a:prstGeom prst="down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6451" y="4279392"/>
            <a:ext cx="5122011" cy="60350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9331" y="4379976"/>
            <a:ext cx="475625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大模型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（结构化输出）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3146221" y="4901183"/>
            <a:ext cx="256032" cy="219456"/>
          </a:xfrm>
          <a:prstGeom prst="downArrow">
            <a:avLst/>
          </a:prstGeom>
          <a:solidFill>
            <a:srgbClr val="47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own Arrow 29"/>
          <p:cNvSpPr/>
          <p:nvPr/>
        </p:nvSpPr>
        <p:spPr>
          <a:xfrm>
            <a:off x="8789441" y="4901183"/>
            <a:ext cx="256032" cy="219456"/>
          </a:xfrm>
          <a:prstGeom prst="downArrow">
            <a:avLst/>
          </a:prstGeom>
          <a:solidFill>
            <a:srgbClr val="47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3232" y="5157216"/>
            <a:ext cx="10765231" cy="512064"/>
          </a:xfrm>
          <a:prstGeom prst="rect">
            <a:avLst/>
          </a:prstGeom>
          <a:solidFill>
            <a:srgbClr val="18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5285231"/>
            <a:ext cx="1076523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评分器 → 九项指标 + 失败类型归因报告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5797296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泄漏闸门：题面文件与答案文件物理分离，只靠 case_id 关联；含答案词的题面不予生成。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研究边界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明确说清楚不做什么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博士课题设计与进度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99616"/>
            <a:ext cx="5227167" cy="324612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99616"/>
            <a:ext cx="5227167" cy="384048"/>
          </a:xfrm>
          <a:prstGeom prst="rect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591056"/>
            <a:ext cx="47516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做（已锁定）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103120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2103120"/>
            <a:ext cx="4404207" cy="306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成人原发性高血压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482342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482342"/>
            <a:ext cx="4404207" cy="306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起始用药 与 加强用药 两个决策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861564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2861564"/>
            <a:ext cx="4404207" cy="306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三类高价值禁忌：妊娠、血管性水肿史、血钾 ≥5.5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240786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240786"/>
            <a:ext cx="4404207" cy="520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药物「类别」层面（噻嗪类 / ACEI / ARB / 二氢吡啶类钙拮抗剂）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51295" y="1499616"/>
            <a:ext cx="5227167" cy="324612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1295" y="1499616"/>
            <a:ext cx="5227167" cy="3840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9039" y="1591056"/>
            <a:ext cx="47516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不做（引擎遇到即弃权）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5615" y="2103120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9935" y="2103120"/>
            <a:ext cx="4404207" cy="306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妊娠期高血压的管理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5615" y="2482342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9935" y="2482342"/>
            <a:ext cx="4404207" cy="306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继发性高血压、难治性高血压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5615" y="2861564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9935" y="2861564"/>
            <a:ext cx="4404207" cy="306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高血压急症、终末期肾病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5615" y="3240786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99935" y="3240786"/>
            <a:ext cx="4404207" cy="306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具体药名与剂量、滴定方案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5615" y="3620008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99935" y="3620008"/>
            <a:ext cx="4404207" cy="306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临床部署与决策支持系统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503834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边界不是回避，是可辩护性的一部分：范围外一律弃权并说明理由，比强答一个没编码的答案更安全，也更好写进论文。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两个真实数据源，一条统一管线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博士课题设计与进度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99616"/>
            <a:ext cx="5227167" cy="3246120"/>
          </a:xfrm>
          <a:prstGeom prst="rect">
            <a:avLst/>
          </a:prstGeom>
          <a:solidFill>
            <a:srgbClr val="FFFFFF"/>
          </a:solidFill>
          <a:ln w="15240">
            <a:solidFill>
              <a:srgbClr val="D3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99616"/>
            <a:ext cx="5227167" cy="5029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773936"/>
            <a:ext cx="471510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NHANES 2017–18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96389" y="1792224"/>
            <a:ext cx="1487978" cy="274320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主基底 · 已完成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2368296"/>
            <a:ext cx="50292" cy="50292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286000"/>
            <a:ext cx="4440783" cy="309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9,254 名受访者 → 4,806 份成人档案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2732532"/>
            <a:ext cx="50292" cy="50292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25296" y="2650236"/>
            <a:ext cx="4440783" cy="309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已生成 14,418 道病历叙述题（3 档难度）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3096768"/>
            <a:ext cx="50292" cy="50292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25296" y="3014472"/>
            <a:ext cx="4440783" cy="527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切分按病人而非按题，训练 2,914 / 开发 940 / 测试 952 人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" y="3678936"/>
            <a:ext cx="50292" cy="50292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25296" y="3596640"/>
            <a:ext cx="4440783" cy="309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泄漏审计零命中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51295" y="1499616"/>
            <a:ext cx="5227167" cy="3246120"/>
          </a:xfrm>
          <a:prstGeom prst="rect">
            <a:avLst/>
          </a:prstGeom>
          <a:solidFill>
            <a:srgbClr val="FFFFFF"/>
          </a:solidFill>
          <a:ln w="15240">
            <a:solidFill>
              <a:srgbClr val="D3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51295" y="1499616"/>
            <a:ext cx="5227167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7327" y="1773936"/>
            <a:ext cx="471510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MIMIC-IV 3.1 + 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34453" y="1792224"/>
            <a:ext cx="1487978" cy="274320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真实病历 · 待建</a:t>
            </a:r>
          </a:p>
        </p:txBody>
      </p:sp>
      <p:sp>
        <p:nvSpPr>
          <p:cNvPr id="24" name="Oval 23"/>
          <p:cNvSpPr/>
          <p:nvPr/>
        </p:nvSpPr>
        <p:spPr>
          <a:xfrm>
            <a:off x="6543903" y="2368296"/>
            <a:ext cx="50292" cy="502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3359" y="2286000"/>
            <a:ext cx="4440783" cy="309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锚定 ICD 选人，血压分期只用入院前门诊读数</a:t>
            </a:r>
          </a:p>
        </p:txBody>
      </p:sp>
      <p:sp>
        <p:nvSpPr>
          <p:cNvPr id="26" name="Oval 25"/>
          <p:cNvSpPr/>
          <p:nvPr/>
        </p:nvSpPr>
        <p:spPr>
          <a:xfrm>
            <a:off x="6543903" y="2732532"/>
            <a:ext cx="50292" cy="502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3359" y="2650236"/>
            <a:ext cx="4440783" cy="309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可分期人群 28,530 人</a:t>
            </a:r>
          </a:p>
        </p:txBody>
      </p:sp>
      <p:sp>
        <p:nvSpPr>
          <p:cNvPr id="28" name="Oval 27"/>
          <p:cNvSpPr/>
          <p:nvPr/>
        </p:nvSpPr>
        <p:spPr>
          <a:xfrm>
            <a:off x="6543903" y="3096768"/>
            <a:ext cx="50292" cy="502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3359" y="3014472"/>
            <a:ext cx="4440783" cy="309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真正能下决策标签的 ~8,921 人（需入院前用药核对）</a:t>
            </a:r>
          </a:p>
        </p:txBody>
      </p:sp>
      <p:sp>
        <p:nvSpPr>
          <p:cNvPr id="30" name="Oval 29"/>
          <p:cNvSpPr/>
          <p:nvPr/>
        </p:nvSpPr>
        <p:spPr>
          <a:xfrm>
            <a:off x="6543903" y="3461004"/>
            <a:ext cx="50292" cy="502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3359" y="3378708"/>
            <a:ext cx="4440783" cy="309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出院小结用于真实文本任务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5038344"/>
            <a:ext cx="1076523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口径已经写死：用药只取入院前的家庭用药，绝不取出院带药——出院带药直接泄漏答案。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方法 · 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四个任务，一层层逼近真实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博士课题设计与进度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591056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713232" y="1591056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" y="1665224"/>
            <a:ext cx="392552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6408" y="1709928"/>
            <a:ext cx="1803277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结构化对照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2294" y="1709928"/>
            <a:ext cx="3041755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干净档案进，引擎标签出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6658" y="1709928"/>
            <a:ext cx="313702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上限：读取完美时模型能推到什么程度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6289" y="1709928"/>
            <a:ext cx="945869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待建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2032000"/>
            <a:ext cx="10765231" cy="4409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713232" y="2032000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41248" y="2106168"/>
            <a:ext cx="392552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6408" y="2150872"/>
            <a:ext cx="1803277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病历叙述（主线）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2294" y="2150872"/>
            <a:ext cx="3041755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渲染成散文，只给原始事实，不给结论词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6658" y="2150872"/>
            <a:ext cx="313702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主结果来源；与 A 相减得到读取负担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6289" y="2150872"/>
            <a:ext cx="945869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已建成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2472944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713232" y="2472944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41248" y="2547112"/>
            <a:ext cx="392552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6408" y="2591816"/>
            <a:ext cx="1803277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真实病历文本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2294" y="2591816"/>
            <a:ext cx="3041755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MIMIC 出院小结进，先抽取再推理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56658" y="2591816"/>
            <a:ext cx="313702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外部效度：合成结论能外推多远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86289" y="2591816"/>
            <a:ext cx="945869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待建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2913888"/>
            <a:ext cx="10765231" cy="4409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713232" y="2913888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41248" y="2988055"/>
            <a:ext cx="392552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6408" y="3032760"/>
            <a:ext cx="1803277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外部合理性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22294" y="3032760"/>
            <a:ext cx="3041755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决策一致性 与 随访死亡率的关联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56658" y="3032760"/>
            <a:ext cx="313702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只谈合理性，不谈疗效（存在适应证混杂）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86289" y="3032760"/>
            <a:ext cx="945869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待建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13232" y="335483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方法 · 消融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一次只改一件事，看差值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博士课题设计与进度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536192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713232" y="153619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" y="1610360"/>
            <a:ext cx="521140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4996" y="1655064"/>
            <a:ext cx="384378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结构化输入 + 模型自身知识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91390" y="1655064"/>
            <a:ext cx="235892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基线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2925" y="1655064"/>
            <a:ext cx="288923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推理上限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1977136"/>
            <a:ext cx="10765231" cy="4409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13232" y="1977136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1248" y="2051303"/>
            <a:ext cx="521140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4996" y="2096008"/>
            <a:ext cx="384378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改成病历叙述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1390" y="2096008"/>
            <a:ext cx="235892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只改了输入形式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2925" y="2096008"/>
            <a:ext cx="288923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读取负担 = C0 − C1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2418080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713232" y="2418080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41248" y="2492247"/>
            <a:ext cx="521140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54996" y="2536952"/>
            <a:ext cx="384378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加检索指南原文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1390" y="2536952"/>
            <a:ext cx="235892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只加了检索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2925" y="2536952"/>
            <a:ext cx="288923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知识缺口 = C2 − C1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2859024"/>
            <a:ext cx="10765231" cy="4409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713232" y="2859024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41248" y="2933191"/>
            <a:ext cx="521140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54996" y="2977895"/>
            <a:ext cx="384378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加确定性计算工具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91390" y="2977895"/>
            <a:ext cx="235892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只加了工具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42925" y="2977895"/>
            <a:ext cx="288923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算错 = C3 − C2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3299967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713232" y="3299967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" y="3374135"/>
            <a:ext cx="521140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C3g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54996" y="3418839"/>
            <a:ext cx="384378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检索改成指南知识图谱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91390" y="3418839"/>
            <a:ext cx="235892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只改了检索方式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42925" y="3418839"/>
            <a:ext cx="288923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图谱的边际价值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" y="3740912"/>
            <a:ext cx="10765231" cy="4409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713232" y="374091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41248" y="3815080"/>
            <a:ext cx="521140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54996" y="3859784"/>
            <a:ext cx="384378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换成真实出院小结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91390" y="3859784"/>
            <a:ext cx="2358926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只改了文本来源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42925" y="3859784"/>
            <a:ext cx="288923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生态效度 = C4 − C3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13232" y="4181856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13232" y="4437888"/>
            <a:ext cx="1076523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读的是差值，不是绝对分数。绝对分数取决于题库难度，那是设计选择；同一题库上两个条件的差，才是科学内容。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方法 · 评价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不报一个总分，报九个指标 + 三条纪律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博士课题设计与进度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99616"/>
            <a:ext cx="4736701" cy="916431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99616"/>
            <a:ext cx="45720" cy="916431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645920"/>
            <a:ext cx="427950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主结果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1975104"/>
            <a:ext cx="4224637" cy="294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· 决策一致性（与引擎标签精确匹配）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2617216"/>
            <a:ext cx="4736701" cy="916431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2617216"/>
            <a:ext cx="45720" cy="916431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2763520"/>
            <a:ext cx="427950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共同主结果 · 安全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3092704"/>
            <a:ext cx="4224637" cy="294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· 危险推荐率（给出该病人禁忌的药）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3734816"/>
            <a:ext cx="4736701" cy="1322832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3734816"/>
            <a:ext cx="45720" cy="1322832"/>
          </a:xfrm>
          <a:prstGeom prst="rect">
            <a:avLst/>
          </a:prstGeom>
          <a:solidFill>
            <a:srgbClr val="47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3881120"/>
            <a:ext cx="427950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次要指标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4210304"/>
            <a:ext cx="4224637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· 分期正确率 · 事实抽取 F1 · 禁忌召回 · 禁忌误报 · 引文支持度 · 推理路径一致性 · 弃权恰当性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269" y="1499616"/>
            <a:ext cx="5626193" cy="991108"/>
          </a:xfrm>
          <a:prstGeom prst="rect">
            <a:avLst/>
          </a:prstGeom>
          <a:solidFill>
            <a:srgbClr val="FFFFFF"/>
          </a:solidFill>
          <a:ln w="15240">
            <a:solidFill>
              <a:srgbClr val="D3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08301" y="16824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909" y="1682496"/>
            <a:ext cx="4803233" cy="308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安全不进平均分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909" y="2009140"/>
            <a:ext cx="4803233" cy="298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漏掉妊娠禁忌 和 建议偏保守，对准确率都是「错一题」，临床上完全不等价。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269" y="2673604"/>
            <a:ext cx="5626193" cy="991108"/>
          </a:xfrm>
          <a:prstGeom prst="rect">
            <a:avLst/>
          </a:prstGeom>
          <a:solidFill>
            <a:srgbClr val="FFFFFF"/>
          </a:solidFill>
          <a:ln w="15240">
            <a:solidFill>
              <a:srgbClr val="D3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08301" y="28564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909" y="2856484"/>
            <a:ext cx="4803233" cy="308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总分旁边必须印基线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909" y="3183127"/>
            <a:ext cx="4803233" cy="298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测试集最大类占 51.5%——无脑答「只改生活方式」就有 51.5 分。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269" y="3847592"/>
            <a:ext cx="5626193" cy="991108"/>
          </a:xfrm>
          <a:prstGeom prst="rect">
            <a:avLst/>
          </a:prstGeom>
          <a:solidFill>
            <a:srgbClr val="FFFFFF"/>
          </a:solidFill>
          <a:ln w="15240">
            <a:solidFill>
              <a:srgbClr val="D3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08301" y="40304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909" y="4030472"/>
            <a:ext cx="4803233" cy="308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弃权要计分，不能剔除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909" y="4357116"/>
            <a:ext cx="4803233" cy="298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该弃权时弃权是对的；剔除弃权的评测等于在奖励瞎猜。过度与不足分两个率报。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预期结果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五条可证伪的预测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博士课题设计与进度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536192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713232" y="153619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" y="1610360"/>
            <a:ext cx="398506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H1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2362" y="1655064"/>
            <a:ext cx="3856491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结构化卷接近天花板，叙述卷明显下降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1462" y="1655064"/>
            <a:ext cx="3520078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多数错误是读取，不是推理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4148" y="1655064"/>
            <a:ext cx="1838010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C0 − C1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1977136"/>
            <a:ext cx="10765231" cy="4409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13232" y="1977136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1248" y="2051303"/>
            <a:ext cx="398506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H2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2362" y="2096008"/>
            <a:ext cx="3856491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分期几乎全对，错误集中在风险分层与禁忌识别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81462" y="2096008"/>
            <a:ext cx="3520078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指出真正该修的环节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4148" y="2096008"/>
            <a:ext cx="1838010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失败类型分布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2418080"/>
            <a:ext cx="10765231" cy="644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713232" y="2418080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41248" y="2593848"/>
            <a:ext cx="398506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H3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32362" y="2536952"/>
            <a:ext cx="3856491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检索修知识错误但修不了算术；工具反之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81462" y="2536952"/>
            <a:ext cx="3520078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干预要对症，不能一股脑上 RAG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94148" y="2536952"/>
            <a:ext cx="1838010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C2 − C1 vs C3 − C2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3062224"/>
            <a:ext cx="10765231" cy="4409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713232" y="3062224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41248" y="3136391"/>
            <a:ext cx="398506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H4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32362" y="3181096"/>
            <a:ext cx="3856491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真实出院小结上进一步下降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81462" y="3181096"/>
            <a:ext cx="3520078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界定合成题结论的外推边界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94148" y="3181096"/>
            <a:ext cx="1838010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C4 − C3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3503168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713232" y="3503168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" y="3577335"/>
            <a:ext cx="398506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H5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32362" y="3622039"/>
            <a:ext cx="3856491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模型系统性过度作答，该弃权时不弃权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81462" y="3622039"/>
            <a:ext cx="3520078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临床部署的直接安全隐患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94148" y="3622039"/>
            <a:ext cx="1838010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弃权恰当性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13232" y="394411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13232" y="4200144"/>
            <a:ext cx="1076523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任何一条不成立都是有价值的发现。若 H1 不成立（叙述卷不掉分），说明读取不是瓶颈，课题重心转向推理——这也是结论。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这篇论文能说什么、不能说什么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博士课题设计与进度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99616"/>
            <a:ext cx="5227167" cy="4736592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99616"/>
            <a:ext cx="5227167" cy="384048"/>
          </a:xfrm>
          <a:prstGeom prst="rect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591056"/>
            <a:ext cx="47516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能下的结论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121408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21408"/>
            <a:ext cx="4385919" cy="30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大模型在高血压用药决策上的错误，有多大比例来自读不懂病历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513838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513838"/>
            <a:ext cx="4385919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错误集中在决策链的哪一步、属于抽取 / 推理 / 引文哪一类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115818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115818"/>
            <a:ext cx="4385919" cy="30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哪一种干预修哪一类错误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508248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508248"/>
            <a:ext cx="4385919" cy="30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合成病历上的结论，在真实病历上还剩多少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3900678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900678"/>
            <a:ext cx="4385919" cy="30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引擎是对一份已发表指南的忠实、可审计、带引文的转写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1295" y="1499616"/>
            <a:ext cx="5227167" cy="4736592"/>
          </a:xfrm>
          <a:prstGeom prst="rect">
            <a:avLst/>
          </a:prstGeom>
          <a:solidFill>
            <a:srgbClr val="FFFFFF"/>
          </a:solidFill>
          <a:ln w="15240">
            <a:solidFill>
              <a:srgbClr val="D3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51295" y="1499616"/>
            <a:ext cx="5227167" cy="3840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9039" y="1591056"/>
            <a:ext cx="47516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不能下的结论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5615" y="2121408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8223" y="2121408"/>
            <a:ext cx="4385919" cy="30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「引擎比大模型强」——它是答案本，不是选手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5615" y="2513838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8223" y="2513838"/>
            <a:ext cx="4385919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「与引擎一致 = 临床上正确」——一致的是这一份指南的形式化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5615" y="3115818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8223" y="3115818"/>
            <a:ext cx="4385919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「模型可以用于临床」——本研究无人参与、无部署，属于上游测量研究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5615" y="3717798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8223" y="3717798"/>
            <a:ext cx="4385919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「概念被污染排除了」——指南与 NHANES 都是公开数据，可能在预训练里；这也是必须看差值的原因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进度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已建成的、在做的、待做的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博士课题设计与进度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99616"/>
            <a:ext cx="3663161" cy="4736592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99616"/>
            <a:ext cx="3663161" cy="365760"/>
          </a:xfrm>
          <a:prstGeom prst="rect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81912"/>
            <a:ext cx="32608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已建成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2144268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2066544"/>
            <a:ext cx="3059657" cy="465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统一档案 schema、受控词表、CI 与版本基线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2641600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2563876"/>
            <a:ext cx="3059657" cy="652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NHANES 4,806 份 + MIMIC-IV 8,919 份档案（含 7,257 份小结）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325876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3248152"/>
            <a:ext cx="3059657" cy="465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PREVENT 十年风险模型（精确复现原文算例）</a:t>
            </a:r>
          </a:p>
        </p:txBody>
      </p:sp>
      <p:sp>
        <p:nvSpPr>
          <p:cNvPr id="17" name="Oval 16"/>
          <p:cNvSpPr/>
          <p:nvPr/>
        </p:nvSpPr>
        <p:spPr>
          <a:xfrm>
            <a:off x="932688" y="3823208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3745484"/>
            <a:ext cx="3059657" cy="278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引擎：血压分期、起始/强化、三值弃权</a:t>
            </a:r>
          </a:p>
        </p:txBody>
      </p:sp>
      <p:sp>
        <p:nvSpPr>
          <p:cNvPr id="19" name="Oval 18"/>
          <p:cNvSpPr/>
          <p:nvPr/>
        </p:nvSpPr>
        <p:spPr>
          <a:xfrm>
            <a:off x="932688" y="4133596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4055872"/>
            <a:ext cx="3059657" cy="465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病历渲染器（三档）+ 主线题库 14,418 题 + 泄漏审计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630928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4553204"/>
            <a:ext cx="3059657" cy="465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模型运行器 + 先导实验 720 次真实调用（GO-NARROWED，K2 两次触发）</a:t>
            </a:r>
          </a:p>
        </p:txBody>
      </p:sp>
      <p:sp>
        <p:nvSpPr>
          <p:cNvPr id="23" name="Oval 22"/>
          <p:cNvSpPr/>
          <p:nvPr/>
        </p:nvSpPr>
        <p:spPr>
          <a:xfrm>
            <a:off x="932688" y="5128260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5050536"/>
            <a:ext cx="3059657" cy="278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九项指标评分器（审计发现已写进代码）</a:t>
            </a:r>
          </a:p>
        </p:txBody>
      </p:sp>
      <p:sp>
        <p:nvSpPr>
          <p:cNvPr id="25" name="Oval 24"/>
          <p:cNvSpPr/>
          <p:nvPr/>
        </p:nvSpPr>
        <p:spPr>
          <a:xfrm>
            <a:off x="932688" y="5438648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5360924"/>
            <a:ext cx="3059657" cy="465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实验设计文档（消融矩阵 + TRIPOD-LLM 映射）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4137" y="1499616"/>
            <a:ext cx="2478985" cy="4736592"/>
          </a:xfrm>
          <a:prstGeom prst="rect">
            <a:avLst/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14137" y="1499616"/>
            <a:ext cx="2478985" cy="36576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15305" y="1581912"/>
            <a:ext cx="207664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进行中</a:t>
            </a:r>
          </a:p>
        </p:txBody>
      </p:sp>
      <p:sp>
        <p:nvSpPr>
          <p:cNvPr id="30" name="Oval 29"/>
          <p:cNvSpPr/>
          <p:nvPr/>
        </p:nvSpPr>
        <p:spPr>
          <a:xfrm>
            <a:off x="4833593" y="2144268"/>
            <a:ext cx="45720" cy="4572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16473" y="2066544"/>
            <a:ext cx="1875481" cy="465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引擎组合层重构（阻塞后续六个规则模块）</a:t>
            </a:r>
          </a:p>
        </p:txBody>
      </p:sp>
      <p:sp>
        <p:nvSpPr>
          <p:cNvPr id="32" name="Oval 31"/>
          <p:cNvSpPr/>
          <p:nvPr/>
        </p:nvSpPr>
        <p:spPr>
          <a:xfrm>
            <a:off x="4833593" y="2641600"/>
            <a:ext cx="45720" cy="4572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16473" y="2563876"/>
            <a:ext cx="1875481" cy="278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文档三处同步与图表去重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0866" y="1499616"/>
            <a:ext cx="4147596" cy="4736592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30866" y="1499616"/>
            <a:ext cx="4147596" cy="3657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32034" y="1581912"/>
            <a:ext cx="37452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待做（按关键路径）</a:t>
            </a:r>
          </a:p>
        </p:txBody>
      </p:sp>
      <p:sp>
        <p:nvSpPr>
          <p:cNvPr id="37" name="Oval 36"/>
          <p:cNvSpPr/>
          <p:nvPr/>
        </p:nvSpPr>
        <p:spPr>
          <a:xfrm>
            <a:off x="7550322" y="2144268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33202" y="2066544"/>
            <a:ext cx="3544092" cy="465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干扰项库（手写、需临床判断）← 当前最优先：已实测为修复 K2 的唯一剩余机制</a:t>
            </a:r>
          </a:p>
        </p:txBody>
      </p:sp>
      <p:sp>
        <p:nvSpPr>
          <p:cNvPr id="39" name="Oval 38"/>
          <p:cNvSpPr/>
          <p:nvPr/>
        </p:nvSpPr>
        <p:spPr>
          <a:xfrm>
            <a:off x="7550322" y="2641600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33202" y="2563876"/>
            <a:ext cx="3544092" cy="465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引擎剩余规则：药类、合并症修饰、禁忌、弃权、引文链接、轨迹发射</a:t>
            </a:r>
          </a:p>
        </p:txBody>
      </p:sp>
      <p:sp>
        <p:nvSpPr>
          <p:cNvPr id="41" name="Oval 40"/>
          <p:cNvSpPr/>
          <p:nvPr/>
        </p:nvSpPr>
        <p:spPr>
          <a:xfrm>
            <a:off x="7550322" y="3138932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33202" y="3061208"/>
            <a:ext cx="3544092" cy="465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禁忌压力测试集（安全指标在 NHANES 上不可估计）</a:t>
            </a:r>
          </a:p>
        </p:txBody>
      </p:sp>
      <p:sp>
        <p:nvSpPr>
          <p:cNvPr id="43" name="Oval 42"/>
          <p:cNvSpPr/>
          <p:nvPr/>
        </p:nvSpPr>
        <p:spPr>
          <a:xfrm>
            <a:off x="7550322" y="3636264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33202" y="3558540"/>
            <a:ext cx="3544092" cy="278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医师盲审裁定 150–200 例</a:t>
            </a:r>
          </a:p>
        </p:txBody>
      </p:sp>
      <p:sp>
        <p:nvSpPr>
          <p:cNvPr id="45" name="Oval 44"/>
          <p:cNvSpPr/>
          <p:nvPr/>
        </p:nvSpPr>
        <p:spPr>
          <a:xfrm>
            <a:off x="7550322" y="3946651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33202" y="3868927"/>
            <a:ext cx="3544092" cy="278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预注册冻结与统计分析实现（仍被 K2 阻塞）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七个里程碑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博士课题设计与进度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536192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713232" y="153619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" y="1610360"/>
            <a:ext cx="41235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46207" y="1655064"/>
            <a:ext cx="2254720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契约冻结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3535" y="1655064"/>
            <a:ext cx="5577322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档案 schema 与词表定死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3466" y="1655064"/>
            <a:ext cx="136869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已达成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1977136"/>
            <a:ext cx="10765231" cy="4409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13232" y="1977136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1248" y="2051303"/>
            <a:ext cx="41235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6207" y="2096008"/>
            <a:ext cx="2254720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数据齐备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3535" y="2096008"/>
            <a:ext cx="5577322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各数据源都能产出合规档案 + 质控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3466" y="2096008"/>
            <a:ext cx="136869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部分达成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2418080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713232" y="2418080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41248" y="2492247"/>
            <a:ext cx="41235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46207" y="2536952"/>
            <a:ext cx="2254720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引擎完成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3535" y="2536952"/>
            <a:ext cx="5577322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全部规则有测试有引文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3466" y="2536952"/>
            <a:ext cx="136869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进行中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2859024"/>
            <a:ext cx="10765231" cy="4409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713232" y="2859024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41248" y="2933191"/>
            <a:ext cx="41235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46207" y="2977895"/>
            <a:ext cx="2254720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题库 v0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93535" y="2977895"/>
            <a:ext cx="5577322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A/B 卷建成，泄漏审计通过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3466" y="2977895"/>
            <a:ext cx="136869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B 卷已成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3299967"/>
            <a:ext cx="10765231" cy="644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713232" y="3299967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" y="3475735"/>
            <a:ext cx="41235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46207" y="3418839"/>
            <a:ext cx="2254720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先导判决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93535" y="3418839"/>
            <a:ext cx="5577322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2 模型 × 3 难度，走或不走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3466" y="3418839"/>
            <a:ext cx="1368693" cy="46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已达成 · GO-NARROWED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" y="3944111"/>
            <a:ext cx="10765231" cy="4409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713232" y="3944111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41248" y="4018279"/>
            <a:ext cx="41235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46207" y="4062983"/>
            <a:ext cx="2254720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完整结果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93535" y="4062983"/>
            <a:ext cx="5577322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RQ1–RQ4 全部跑完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3466" y="4062983"/>
            <a:ext cx="136869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232" y="4385055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713232" y="4385055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841248" y="4459223"/>
            <a:ext cx="41235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46207" y="4503927"/>
            <a:ext cx="2254720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投稿与开源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93535" y="4503927"/>
            <a:ext cx="5577322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论文 + 引擎/题库发布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3466" y="4503927"/>
            <a:ext cx="1368693" cy="25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待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13232" y="4825999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13232" y="5063743"/>
            <a:ext cx="1076523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M5 已经走完，而且正是它该起的作用：题库区分得开模型（0.850 对 0.197），但三档难度分不开（落差为零），所以判定是「继续，但收窄」—— 受影响的研究问题按「本语料无法回答」如实报告。修题库先于扩规模，M6 仍被 K2 阻塞。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五个真实风险和对策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博士课题设计与进度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81328"/>
            <a:ext cx="10765231" cy="880491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81328"/>
            <a:ext cx="41148" cy="880491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36776"/>
            <a:ext cx="2524640" cy="88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引擎写错，整篇结果全错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7056" y="1636776"/>
            <a:ext cx="3385858" cy="88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标准答案是单点故障：一条规则写错，下游全部静默污染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7234" y="1636776"/>
            <a:ext cx="4086636" cy="88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每条规则带引文带单元测试；歧义即弃权；医师盲审 150–200 例并报 Kappa；预先声明 Kappa &lt; 1 是预期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2444115"/>
            <a:ext cx="41148" cy="69062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599563"/>
            <a:ext cx="2524640" cy="690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安全指标在主队列上算不出来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7056" y="2599563"/>
            <a:ext cx="3385858" cy="690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4,806 人中仅 9 人带禁忌，且全是高血钾；妊娠与血管性水肿为零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7234" y="2599563"/>
            <a:ext cx="4086636" cy="690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另建禁忌压力测试集，单独成表，绝不并入主结果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3217036"/>
            <a:ext cx="10765231" cy="690626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3217036"/>
            <a:ext cx="41148" cy="69062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3372484"/>
            <a:ext cx="2524640" cy="690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先导实验已跑完，风险兑现了一半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7056" y="3372484"/>
            <a:ext cx="3385858" cy="690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题库确实区分得开模型（0.850 对 0.197），但三档难度完全分不开——止损线 K2 触发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7234" y="3372484"/>
            <a:ext cx="4086636" cy="690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判定「继续，但收窄」：项目往下走，受影响的研究问题明确报告为「本语料无法回答」，不悄悄略过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3989958"/>
            <a:ext cx="41148" cy="512318"/>
          </a:xfrm>
          <a:prstGeom prst="rect">
            <a:avLst/>
          </a:prstGeom>
          <a:solidFill>
            <a:srgbClr val="47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4145406"/>
            <a:ext cx="2524640" cy="5123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真实病历管线是最大工程量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7056" y="4145406"/>
            <a:ext cx="3385858" cy="5123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真实文本任务与外部效度全部卡在这里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7234" y="4145406"/>
            <a:ext cx="4086636" cy="5123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先做产出率清点闸门，确认能落标签的人数，再决定队列口径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4584573"/>
            <a:ext cx="10765231" cy="880491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3232" y="4584573"/>
            <a:ext cx="41148" cy="880491"/>
          </a:xfrm>
          <a:prstGeom prst="rect">
            <a:avLst/>
          </a:prstGeom>
          <a:solidFill>
            <a:srgbClr val="47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4740021"/>
            <a:ext cx="2524640" cy="88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「困难档」对前沿模型根本不难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7056" y="4740021"/>
            <a:ext cx="3385858" cy="88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原以为只是「更难读、不更难推」；实测更糟——改成给三次血压读数、加旧值诱饵后，三档抽取 F1 仍都是 0.9182，困难档零失误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7234" y="4740021"/>
            <a:ext cx="4086636" cy="88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纯表现形式的难度已被测量排除，不再投入；只剩手写干扰项库，改的必须是「有什么需要判断」而非「要读多少字」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产出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四项贡献与交付物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博士课题设计与进度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81328"/>
            <a:ext cx="2526715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0784"/>
            <a:ext cx="21243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① 可执行的指南引擎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49399"/>
            <a:ext cx="2124379" cy="1077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开源。逐条转写、带引文、可审计，别的病种可照此复制。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9403" y="1481328"/>
            <a:ext cx="2526715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60571" y="1700784"/>
            <a:ext cx="21243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② 高血压决策题库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0571" y="2049399"/>
            <a:ext cx="2124379" cy="1077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开源。合成叙述与真实病历两条臂共用一套 schema 和一个引擎。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5575" y="1481328"/>
            <a:ext cx="2526715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6743" y="1700784"/>
            <a:ext cx="21243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③ 失效机制定位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6743" y="2049399"/>
            <a:ext cx="2124379" cy="1077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第一次能说清错误落在决策链哪一步、属于哪一类机制。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51747" y="1481328"/>
            <a:ext cx="2526715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2915" y="1700784"/>
            <a:ext cx="21243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④ 推理路径一致性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2915" y="2049399"/>
            <a:ext cx="2124379" cy="1077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有参考推理步骤可比对，能区分「答对且路对」与「答对但路错」。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3456432"/>
            <a:ext cx="5550124" cy="2779776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3657600"/>
            <a:ext cx="5074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交付物</a:t>
            </a:r>
          </a:p>
        </p:txBody>
      </p:sp>
      <p:sp>
        <p:nvSpPr>
          <p:cNvPr id="22" name="Oval 21"/>
          <p:cNvSpPr/>
          <p:nvPr/>
        </p:nvSpPr>
        <p:spPr>
          <a:xfrm>
            <a:off x="969264" y="4137660"/>
            <a:ext cx="45720" cy="4572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2" y="4059936"/>
            <a:ext cx="4818604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论文 1–2 篇（一篇旗舰，或题库与方法分开）</a:t>
            </a:r>
          </a:p>
        </p:txBody>
      </p:sp>
      <p:sp>
        <p:nvSpPr>
          <p:cNvPr id="24" name="Oval 23"/>
          <p:cNvSpPr/>
          <p:nvPr/>
        </p:nvSpPr>
        <p:spPr>
          <a:xfrm>
            <a:off x="969264" y="4482084"/>
            <a:ext cx="45720" cy="4572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0432" y="4404360"/>
            <a:ext cx="4818604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开源引擎 + 题库 + 可复现附录（清单、校验和、质控报告、环境锁）</a:t>
            </a:r>
          </a:p>
        </p:txBody>
      </p:sp>
      <p:sp>
        <p:nvSpPr>
          <p:cNvPr id="26" name="Oval 25"/>
          <p:cNvSpPr/>
          <p:nvPr/>
        </p:nvSpPr>
        <p:spPr>
          <a:xfrm>
            <a:off x="969264" y="5024628"/>
            <a:ext cx="45720" cy="4572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70432" y="4946904"/>
            <a:ext cx="4818604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按 TRIPOD-LLM 逐条对应的报告清单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74252" y="3456432"/>
            <a:ext cx="4904210" cy="2779776"/>
          </a:xfrm>
          <a:prstGeom prst="rect">
            <a:avLst/>
          </a:prstGeom>
          <a:solidFill>
            <a:srgbClr val="094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1996" y="3657600"/>
            <a:ext cx="442872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D6E4"/>
                </a:solidFill>
                <a:latin typeface="Arial"/>
                <a:ea typeface="Microsoft YaHei"/>
                <a:cs typeface="Arial"/>
              </a:rPr>
              <a:t>需要导师支持的</a:t>
            </a:r>
          </a:p>
        </p:txBody>
      </p:sp>
      <p:sp>
        <p:nvSpPr>
          <p:cNvPr id="30" name="Oval 29"/>
          <p:cNvSpPr/>
          <p:nvPr/>
        </p:nvSpPr>
        <p:spPr>
          <a:xfrm>
            <a:off x="6830284" y="4137660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1452" y="4059936"/>
            <a:ext cx="4172690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引荐两位心血管方向临床医师，参与盲审裁定（日程长，需尽早启动）</a:t>
            </a:r>
          </a:p>
        </p:txBody>
      </p:sp>
      <p:sp>
        <p:nvSpPr>
          <p:cNvPr id="32" name="Oval 31"/>
          <p:cNvSpPr/>
          <p:nvPr/>
        </p:nvSpPr>
        <p:spPr>
          <a:xfrm>
            <a:off x="6830284" y="4680204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31452" y="4602480"/>
            <a:ext cx="417269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确认论文拆分策略：一篇旗舰 还是 题库 + 方法两篇</a:t>
            </a:r>
          </a:p>
        </p:txBody>
      </p:sp>
      <p:sp>
        <p:nvSpPr>
          <p:cNvPr id="34" name="Oval 33"/>
          <p:cNvSpPr/>
          <p:nvPr/>
        </p:nvSpPr>
        <p:spPr>
          <a:xfrm>
            <a:off x="6830284" y="5024628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31452" y="4946904"/>
            <a:ext cx="417269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模型调用预算：每题 5 次重复 × 六个条件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