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 name="Rectangle 2"/>
          <p:cNvSpPr/>
          <p:nvPr/>
        </p:nvSpPr>
        <p:spPr>
          <a:xfrm>
            <a:off x="0" y="5440680"/>
            <a:ext cx="274320" cy="14173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4" name="TextBox 3"/>
          <p:cNvSpPr txBox="1"/>
          <p:nvPr/>
        </p:nvSpPr>
        <p:spPr>
          <a:xfrm>
            <a:off x="1097280" y="1417320"/>
            <a:ext cx="10058400"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0E7490"/>
                </a:solidFill>
                <a:latin typeface="Arial"/>
                <a:ea typeface="Microsoft YaHei"/>
                <a:cs typeface="Arial"/>
              </a:rPr>
              <a:t>PhD project · design and progress review</a:t>
            </a:r>
          </a:p>
        </p:txBody>
      </p:sp>
      <p:sp>
        <p:nvSpPr>
          <p:cNvPr id="5" name="TextBox 4"/>
          <p:cNvSpPr txBox="1"/>
          <p:nvPr/>
        </p:nvSpPr>
        <p:spPr>
          <a:xfrm>
            <a:off x="1097280" y="1828800"/>
            <a:ext cx="10058400" cy="1737360"/>
          </a:xfrm>
          <a:prstGeom prst="rect">
            <a:avLst/>
          </a:prstGeom>
          <a:noFill/>
        </p:spPr>
        <p:txBody>
          <a:bodyPr wrap="square" lIns="0" rIns="0" tIns="0" bIns="0" anchor="t">
            <a:spAutoFit/>
          </a:bodyPr>
          <a:lstStyle/>
          <a:p>
            <a:pPr algn="l">
              <a:lnSpc>
                <a:spcPct val="112000"/>
              </a:lnSpc>
              <a:spcBef>
                <a:spcPts val="0"/>
              </a:spcBef>
              <a:spcAft>
                <a:spcPts val="200"/>
              </a:spcAft>
            </a:pPr>
            <a:r>
              <a:rPr sz="4000" b="1" i="0">
                <a:solidFill>
                  <a:srgbClr val="182533"/>
                </a:solidFill>
                <a:latin typeface="Arial"/>
                <a:ea typeface="Microsoft YaHei"/>
                <a:cs typeface="Arial"/>
              </a:rPr>
              <a:t>Where exactly do LLMs go wrong</a:t>
            </a:r>
          </a:p>
          <a:p>
            <a:pPr>
              <a:lnSpc>
                <a:spcPct val="112000"/>
              </a:lnSpc>
              <a:spcBef>
                <a:spcPts val="0"/>
              </a:spcBef>
              <a:spcAft>
                <a:spcPts val="200"/>
              </a:spcAft>
            </a:pPr>
            <a:r>
              <a:rPr sz="4000" b="1" i="0">
                <a:solidFill>
                  <a:srgbClr val="182533"/>
                </a:solidFill>
                <a:latin typeface="Arial"/>
                <a:ea typeface="Microsoft YaHei"/>
                <a:cs typeface="Arial"/>
              </a:rPr>
              <a:t>in hypertension treatment decisions?</a:t>
            </a:r>
          </a:p>
        </p:txBody>
      </p:sp>
      <p:cxnSp>
        <p:nvCxnSpPr>
          <p:cNvPr id="6" name="Connector 5"/>
          <p:cNvCxnSpPr/>
          <p:nvPr/>
        </p:nvCxnSpPr>
        <p:spPr>
          <a:xfrm>
            <a:off x="1097280" y="3712463"/>
            <a:ext cx="2011680" cy="0"/>
          </a:xfrm>
          <a:prstGeom prst="line">
            <a:avLst/>
          </a:prstGeom>
          <a:ln w="38100">
            <a:solidFill>
              <a:srgbClr val="B4530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7280" y="3950208"/>
            <a:ext cx="9509760" cy="822960"/>
          </a:xfrm>
          <a:prstGeom prst="rect">
            <a:avLst/>
          </a:prstGeom>
          <a:noFill/>
        </p:spPr>
        <p:txBody>
          <a:bodyPr wrap="square" lIns="0" rIns="0" tIns="0" bIns="0" anchor="t">
            <a:spAutoFit/>
          </a:bodyPr>
          <a:lstStyle/>
          <a:p>
            <a:pPr algn="l">
              <a:lnSpc>
                <a:spcPct val="135000"/>
              </a:lnSpc>
              <a:spcBef>
                <a:spcPts val="0"/>
              </a:spcBef>
              <a:spcAft>
                <a:spcPts val="0"/>
              </a:spcAft>
            </a:pPr>
            <a:r>
              <a:rPr sz="1600" b="0" i="0">
                <a:solidFill>
                  <a:srgbClr val="475A6B"/>
                </a:solidFill>
                <a:latin typeface="Arial"/>
                <a:ea typeface="Microsoft YaHei"/>
                <a:cs typeface="Arial"/>
              </a:rPr>
              <a:t>HTN-Concord: an executable guideline as the answer key, separating misreading from misreasoning</a:t>
            </a:r>
          </a:p>
        </p:txBody>
      </p:sp>
      <p:sp>
        <p:nvSpPr>
          <p:cNvPr id="8" name="Rounded Rectangle 7"/>
          <p:cNvSpPr/>
          <p:nvPr/>
        </p:nvSpPr>
        <p:spPr>
          <a:xfrm>
            <a:off x="1097280" y="4956048"/>
            <a:ext cx="2480517" cy="329184"/>
          </a:xfrm>
          <a:prstGeom prst="roundRect">
            <a:avLst>
              <a:gd name="adj" fmla="val 50000"/>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lnSpc>
                <a:spcPct val="122000"/>
              </a:lnSpc>
              <a:spcBef>
                <a:spcPts val="0"/>
              </a:spcBef>
              <a:spcAft>
                <a:spcPts val="0"/>
              </a:spcAft>
            </a:pPr>
            <a:r>
              <a:rPr sz="1100" b="1" i="0">
                <a:solidFill>
                  <a:srgbClr val="094F63"/>
                </a:solidFill>
                <a:latin typeface="Arial"/>
                <a:ea typeface="Microsoft YaHei"/>
                <a:cs typeface="Arial"/>
              </a:rPr>
              <a:t>Deterministic guideline engine</a:t>
            </a:r>
          </a:p>
        </p:txBody>
      </p:sp>
      <p:sp>
        <p:nvSpPr>
          <p:cNvPr id="9" name="Rounded Rectangle 8"/>
          <p:cNvSpPr/>
          <p:nvPr/>
        </p:nvSpPr>
        <p:spPr>
          <a:xfrm>
            <a:off x="3724101" y="4956048"/>
            <a:ext cx="2411245" cy="329184"/>
          </a:xfrm>
          <a:prstGeom prst="roundRect">
            <a:avLst>
              <a:gd name="adj" fmla="val 50000"/>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lnSpc>
                <a:spcPct val="122000"/>
              </a:lnSpc>
              <a:spcBef>
                <a:spcPts val="0"/>
              </a:spcBef>
              <a:spcAft>
                <a:spcPts val="0"/>
              </a:spcAft>
            </a:pPr>
            <a:r>
              <a:rPr sz="1100" b="1" i="0">
                <a:solidFill>
                  <a:srgbClr val="094F63"/>
                </a:solidFill>
                <a:latin typeface="Arial"/>
                <a:ea typeface="Microsoft YaHei"/>
                <a:cs typeface="Arial"/>
              </a:rPr>
              <a:t>Localizable failure mechanism</a:t>
            </a:r>
          </a:p>
        </p:txBody>
      </p:sp>
      <p:sp>
        <p:nvSpPr>
          <p:cNvPr id="10" name="Rounded Rectangle 9"/>
          <p:cNvSpPr/>
          <p:nvPr/>
        </p:nvSpPr>
        <p:spPr>
          <a:xfrm>
            <a:off x="6281650" y="4956048"/>
            <a:ext cx="1579972" cy="329184"/>
          </a:xfrm>
          <a:prstGeom prst="roundRect">
            <a:avLst>
              <a:gd name="adj" fmla="val 50000"/>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lnSpc>
                <a:spcPct val="122000"/>
              </a:lnSpc>
              <a:spcBef>
                <a:spcPts val="0"/>
              </a:spcBef>
              <a:spcAft>
                <a:spcPts val="0"/>
              </a:spcAft>
            </a:pPr>
            <a:r>
              <a:rPr sz="1100" b="1" i="0">
                <a:solidFill>
                  <a:srgbClr val="094F63"/>
                </a:solidFill>
                <a:latin typeface="Arial"/>
                <a:ea typeface="Microsoft YaHei"/>
                <a:cs typeface="Arial"/>
              </a:rPr>
              <a:t>NHANES + MIMIC-IV</a:t>
            </a:r>
          </a:p>
        </p:txBody>
      </p:sp>
      <p:sp>
        <p:nvSpPr>
          <p:cNvPr id="11" name="TextBox 10"/>
          <p:cNvSpPr txBox="1"/>
          <p:nvPr/>
        </p:nvSpPr>
        <p:spPr>
          <a:xfrm>
            <a:off x="1097280" y="5815584"/>
            <a:ext cx="9509760" cy="457200"/>
          </a:xfrm>
          <a:prstGeom prst="rect">
            <a:avLst/>
          </a:prstGeom>
          <a:noFill/>
        </p:spPr>
        <p:txBody>
          <a:bodyPr wrap="square" lIns="0" rIns="0" tIns="0" bIns="0" anchor="t">
            <a:spAutoFit/>
          </a:bodyPr>
          <a:lstStyle/>
          <a:p>
            <a:pPr algn="l">
              <a:lnSpc>
                <a:spcPct val="122000"/>
              </a:lnSpc>
              <a:spcBef>
                <a:spcPts val="0"/>
              </a:spcBef>
              <a:spcAft>
                <a:spcPts val="0"/>
              </a:spcAft>
            </a:pPr>
            <a:r>
              <a:rPr sz="1200" b="0" i="0">
                <a:solidFill>
                  <a:srgbClr val="748694"/>
                </a:solidFill>
                <a:latin typeface="Arial"/>
                <a:ea typeface="Microsoft YaHei"/>
                <a:cs typeface="Arial"/>
              </a:rPr>
              <a:t>Aria Cong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IN ONE SLIDE</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What this project does</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2</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81328"/>
            <a:ext cx="5245455" cy="224028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Rectangle 8"/>
          <p:cNvSpPr/>
          <p:nvPr/>
        </p:nvSpPr>
        <p:spPr>
          <a:xfrm>
            <a:off x="713232" y="1481328"/>
            <a:ext cx="50292" cy="22402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0" name="TextBox 9"/>
          <p:cNvSpPr txBox="1"/>
          <p:nvPr/>
        </p:nvSpPr>
        <p:spPr>
          <a:xfrm>
            <a:off x="1005840" y="1737360"/>
            <a:ext cx="4678527" cy="1783080"/>
          </a:xfrm>
          <a:prstGeom prst="rect">
            <a:avLst/>
          </a:prstGeom>
          <a:noFill/>
        </p:spPr>
        <p:txBody>
          <a:bodyPr wrap="square" lIns="0" rIns="0" tIns="0" bIns="0" anchor="t">
            <a:spAutoFit/>
          </a:bodyPr>
          <a:lstStyle/>
          <a:p>
            <a:pPr algn="l">
              <a:lnSpc>
                <a:spcPct val="122000"/>
              </a:lnSpc>
              <a:spcBef>
                <a:spcPts val="0"/>
              </a:spcBef>
              <a:spcAft>
                <a:spcPts val="900"/>
              </a:spcAft>
            </a:pPr>
            <a:r>
              <a:rPr sz="1700" b="1" i="0">
                <a:solidFill>
                  <a:srgbClr val="094F63"/>
                </a:solidFill>
                <a:latin typeface="Arial"/>
                <a:ea typeface="Microsoft YaHei"/>
                <a:cs typeface="Arial"/>
              </a:rPr>
              <a:t>Problem</a:t>
            </a:r>
          </a:p>
          <a:p>
            <a:pPr>
              <a:lnSpc>
                <a:spcPct val="142000"/>
              </a:lnSpc>
              <a:spcBef>
                <a:spcPts val="0"/>
              </a:spcBef>
              <a:spcAft>
                <a:spcPts val="0"/>
              </a:spcAft>
            </a:pPr>
            <a:r>
              <a:rPr sz="1350" b="0" i="0">
                <a:solidFill>
                  <a:srgbClr val="182533"/>
                </a:solidFill>
                <a:latin typeface="Arial"/>
                <a:ea typeface="Microsoft YaHei"/>
                <a:cs typeface="Arial"/>
              </a:rPr>
              <a:t>Prescribing for hypertension means satisfying four conditions at once: BP stage, comorbidity, contraindication, and current medication. All four must be right for the answer to be right.</a:t>
            </a:r>
          </a:p>
        </p:txBody>
      </p:sp>
      <p:sp>
        <p:nvSpPr>
          <p:cNvPr id="11" name="Rectangle 10"/>
          <p:cNvSpPr/>
          <p:nvPr/>
        </p:nvSpPr>
        <p:spPr>
          <a:xfrm>
            <a:off x="6233007" y="1481328"/>
            <a:ext cx="5245455" cy="224028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2" name="Rectangle 11"/>
          <p:cNvSpPr/>
          <p:nvPr/>
        </p:nvSpPr>
        <p:spPr>
          <a:xfrm>
            <a:off x="6233007" y="1481328"/>
            <a:ext cx="50292" cy="22402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3" name="TextBox 12"/>
          <p:cNvSpPr txBox="1"/>
          <p:nvPr/>
        </p:nvSpPr>
        <p:spPr>
          <a:xfrm>
            <a:off x="6525615" y="1737360"/>
            <a:ext cx="4678527" cy="1783080"/>
          </a:xfrm>
          <a:prstGeom prst="rect">
            <a:avLst/>
          </a:prstGeom>
          <a:noFill/>
        </p:spPr>
        <p:txBody>
          <a:bodyPr wrap="square" lIns="0" rIns="0" tIns="0" bIns="0" anchor="t">
            <a:spAutoFit/>
          </a:bodyPr>
          <a:lstStyle/>
          <a:p>
            <a:pPr algn="l">
              <a:lnSpc>
                <a:spcPct val="122000"/>
              </a:lnSpc>
              <a:spcBef>
                <a:spcPts val="0"/>
              </a:spcBef>
              <a:spcAft>
                <a:spcPts val="900"/>
              </a:spcAft>
            </a:pPr>
            <a:r>
              <a:rPr sz="1700" b="1" i="0">
                <a:solidFill>
                  <a:srgbClr val="094F63"/>
                </a:solidFill>
                <a:latin typeface="Arial"/>
                <a:ea typeface="Microsoft YaHei"/>
                <a:cs typeface="Arial"/>
              </a:rPr>
              <a:t>Difficulty</a:t>
            </a:r>
          </a:p>
          <a:p>
            <a:pPr>
              <a:lnSpc>
                <a:spcPct val="142000"/>
              </a:lnSpc>
              <a:spcBef>
                <a:spcPts val="0"/>
              </a:spcBef>
              <a:spcAft>
                <a:spcPts val="0"/>
              </a:spcAft>
            </a:pPr>
            <a:r>
              <a:rPr sz="1350" b="0" i="0">
                <a:solidFill>
                  <a:srgbClr val="182533"/>
                </a:solidFill>
                <a:latin typeface="Arial"/>
                <a:ea typeface="Microsoft YaHei"/>
                <a:cs typeface="Arial"/>
              </a:rPr>
              <a:t>LLMs are tested with multiple-choice questions that produce one score. A score cannot say whether the model misread the chart or read it and reasoned badly.</a:t>
            </a:r>
          </a:p>
        </p:txBody>
      </p:sp>
      <p:sp>
        <p:nvSpPr>
          <p:cNvPr id="14" name="Rectangle 13"/>
          <p:cNvSpPr/>
          <p:nvPr/>
        </p:nvSpPr>
        <p:spPr>
          <a:xfrm>
            <a:off x="713232" y="3995928"/>
            <a:ext cx="5245455" cy="224028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5" name="Rectangle 14"/>
          <p:cNvSpPr/>
          <p:nvPr/>
        </p:nvSpPr>
        <p:spPr>
          <a:xfrm>
            <a:off x="713232" y="3995928"/>
            <a:ext cx="50292" cy="22402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6" name="TextBox 15"/>
          <p:cNvSpPr txBox="1"/>
          <p:nvPr/>
        </p:nvSpPr>
        <p:spPr>
          <a:xfrm>
            <a:off x="1005840" y="4251960"/>
            <a:ext cx="4678527" cy="1783080"/>
          </a:xfrm>
          <a:prstGeom prst="rect">
            <a:avLst/>
          </a:prstGeom>
          <a:noFill/>
        </p:spPr>
        <p:txBody>
          <a:bodyPr wrap="square" lIns="0" rIns="0" tIns="0" bIns="0" anchor="t">
            <a:spAutoFit/>
          </a:bodyPr>
          <a:lstStyle/>
          <a:p>
            <a:pPr algn="l">
              <a:lnSpc>
                <a:spcPct val="122000"/>
              </a:lnSpc>
              <a:spcBef>
                <a:spcPts val="0"/>
              </a:spcBef>
              <a:spcAft>
                <a:spcPts val="900"/>
              </a:spcAft>
            </a:pPr>
            <a:r>
              <a:rPr sz="1700" b="1" i="0">
                <a:solidFill>
                  <a:srgbClr val="B45309"/>
                </a:solidFill>
                <a:latin typeface="Arial"/>
                <a:ea typeface="Microsoft YaHei"/>
                <a:cs typeface="Arial"/>
              </a:rPr>
              <a:t>Approach</a:t>
            </a:r>
          </a:p>
          <a:p>
            <a:pPr>
              <a:lnSpc>
                <a:spcPct val="142000"/>
              </a:lnSpc>
              <a:spcBef>
                <a:spcPts val="0"/>
              </a:spcBef>
              <a:spcAft>
                <a:spcPts val="0"/>
              </a:spcAft>
            </a:pPr>
            <a:r>
              <a:rPr sz="1350" b="0" i="0">
                <a:solidFill>
                  <a:srgbClr val="182533"/>
                </a:solidFill>
                <a:latin typeface="Arial"/>
                <a:ea typeface="Microsoft YaHei"/>
                <a:cs typeface="Arial"/>
              </a:rPr>
              <a:t>Hand-write the 2025 AHA/ACC hypertension guideline as a program and use it as the answer key. Give the same patient to the model twice: as structured data, and as a clinical narrative.</a:t>
            </a:r>
          </a:p>
        </p:txBody>
      </p:sp>
      <p:sp>
        <p:nvSpPr>
          <p:cNvPr id="17" name="Rectangle 16"/>
          <p:cNvSpPr/>
          <p:nvPr/>
        </p:nvSpPr>
        <p:spPr>
          <a:xfrm>
            <a:off x="6233007" y="3995928"/>
            <a:ext cx="5245455" cy="224028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8" name="Rectangle 17"/>
          <p:cNvSpPr/>
          <p:nvPr/>
        </p:nvSpPr>
        <p:spPr>
          <a:xfrm>
            <a:off x="6233007" y="3995928"/>
            <a:ext cx="50292" cy="22402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9" name="TextBox 18"/>
          <p:cNvSpPr txBox="1"/>
          <p:nvPr/>
        </p:nvSpPr>
        <p:spPr>
          <a:xfrm>
            <a:off x="6525615" y="4251960"/>
            <a:ext cx="4678527" cy="1783080"/>
          </a:xfrm>
          <a:prstGeom prst="rect">
            <a:avLst/>
          </a:prstGeom>
          <a:noFill/>
        </p:spPr>
        <p:txBody>
          <a:bodyPr wrap="square" lIns="0" rIns="0" tIns="0" bIns="0" anchor="t">
            <a:spAutoFit/>
          </a:bodyPr>
          <a:lstStyle/>
          <a:p>
            <a:pPr algn="l">
              <a:lnSpc>
                <a:spcPct val="122000"/>
              </a:lnSpc>
              <a:spcBef>
                <a:spcPts val="0"/>
              </a:spcBef>
              <a:spcAft>
                <a:spcPts val="900"/>
              </a:spcAft>
            </a:pPr>
            <a:r>
              <a:rPr sz="1700" b="1" i="0">
                <a:solidFill>
                  <a:srgbClr val="B45309"/>
                </a:solidFill>
                <a:latin typeface="Arial"/>
                <a:ea typeface="Microsoft YaHei"/>
                <a:cs typeface="Arial"/>
              </a:rPr>
              <a:t>Result</a:t>
            </a:r>
          </a:p>
          <a:p>
            <a:pPr>
              <a:lnSpc>
                <a:spcPct val="142000"/>
              </a:lnSpc>
              <a:spcBef>
                <a:spcPts val="0"/>
              </a:spcBef>
              <a:spcAft>
                <a:spcPts val="0"/>
              </a:spcAft>
            </a:pPr>
            <a:r>
              <a:rPr sz="1350" b="0" i="0">
                <a:solidFill>
                  <a:srgbClr val="182533"/>
                </a:solidFill>
                <a:latin typeface="Arial"/>
                <a:ea typeface="Microsoft YaHei"/>
                <a:cs typeface="Arial"/>
              </a:rPr>
              <a:t>The gap between the two scores is the cost of not being able to read a chart. What remains is genuine clinical-reasoning failure.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BACKGROUND</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Clinically this is a four-out-of-four question</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3</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TextBox 7"/>
          <p:cNvSpPr txBox="1"/>
          <p:nvPr/>
        </p:nvSpPr>
        <p:spPr>
          <a:xfrm>
            <a:off x="713232" y="1481328"/>
            <a:ext cx="10765231" cy="329184"/>
          </a:xfrm>
          <a:prstGeom prst="rect">
            <a:avLst/>
          </a:prstGeom>
          <a:noFill/>
        </p:spPr>
        <p:txBody>
          <a:bodyPr wrap="square" lIns="0" rIns="0" tIns="0" bIns="0" anchor="t">
            <a:spAutoFit/>
          </a:bodyPr>
          <a:lstStyle/>
          <a:p>
            <a:pPr algn="l">
              <a:lnSpc>
                <a:spcPct val="122000"/>
              </a:lnSpc>
              <a:spcBef>
                <a:spcPts val="0"/>
              </a:spcBef>
              <a:spcAft>
                <a:spcPts val="0"/>
              </a:spcAft>
            </a:pPr>
            <a:r>
              <a:rPr sz="1350" b="0" i="0">
                <a:solidFill>
                  <a:srgbClr val="475A6B"/>
                </a:solidFill>
                <a:latin typeface="Arial"/>
                <a:ea typeface="Microsoft YaHei"/>
                <a:cs typeface="Arial"/>
              </a:rPr>
              <a:t>One 58-year-old patient. Miss any single line and the answer turns from correct to dangerous:</a:t>
            </a:r>
          </a:p>
        </p:txBody>
      </p:sp>
      <p:sp>
        <p:nvSpPr>
          <p:cNvPr id="9" name="Rectangle 8"/>
          <p:cNvSpPr/>
          <p:nvPr/>
        </p:nvSpPr>
        <p:spPr>
          <a:xfrm>
            <a:off x="713232" y="2048256"/>
            <a:ext cx="2526715" cy="278892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0" name="Rectangle 9"/>
          <p:cNvSpPr/>
          <p:nvPr/>
        </p:nvSpPr>
        <p:spPr>
          <a:xfrm>
            <a:off x="713232" y="2048256"/>
            <a:ext cx="2526715"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1" name="TextBox 10"/>
          <p:cNvSpPr txBox="1"/>
          <p:nvPr/>
        </p:nvSpPr>
        <p:spPr>
          <a:xfrm>
            <a:off x="950976" y="2322576"/>
            <a:ext cx="2051227" cy="365760"/>
          </a:xfrm>
          <a:prstGeom prst="rect">
            <a:avLst/>
          </a:prstGeom>
          <a:noFill/>
        </p:spPr>
        <p:txBody>
          <a:bodyPr wrap="square" lIns="0" rIns="0" tIns="0" bIns="0" anchor="t">
            <a:spAutoFit/>
          </a:bodyPr>
          <a:lstStyle/>
          <a:p>
            <a:pPr algn="l">
              <a:lnSpc>
                <a:spcPct val="122000"/>
              </a:lnSpc>
              <a:spcBef>
                <a:spcPts val="0"/>
              </a:spcBef>
              <a:spcAft>
                <a:spcPts val="0"/>
              </a:spcAft>
            </a:pPr>
            <a:r>
              <a:rPr sz="1450" b="1" i="0">
                <a:solidFill>
                  <a:srgbClr val="182533"/>
                </a:solidFill>
                <a:latin typeface="Arial"/>
                <a:ea typeface="Microsoft YaHei"/>
                <a:cs typeface="Arial"/>
              </a:rPr>
              <a:t>BP stage</a:t>
            </a:r>
          </a:p>
        </p:txBody>
      </p:sp>
      <p:sp>
        <p:nvSpPr>
          <p:cNvPr id="12" name="TextBox 11"/>
          <p:cNvSpPr txBox="1"/>
          <p:nvPr/>
        </p:nvSpPr>
        <p:spPr>
          <a:xfrm>
            <a:off x="950976" y="2834640"/>
            <a:ext cx="2051227" cy="1097280"/>
          </a:xfrm>
          <a:prstGeom prst="rect">
            <a:avLst/>
          </a:prstGeom>
          <a:noFill/>
        </p:spPr>
        <p:txBody>
          <a:bodyPr wrap="square" lIns="0" rIns="0" tIns="0" bIns="0" anchor="t">
            <a:spAutoFit/>
          </a:bodyPr>
          <a:lstStyle/>
          <a:p>
            <a:pPr algn="l">
              <a:lnSpc>
                <a:spcPct val="132000"/>
              </a:lnSpc>
              <a:spcBef>
                <a:spcPts val="0"/>
              </a:spcBef>
              <a:spcAft>
                <a:spcPts val="200"/>
              </a:spcAft>
            </a:pPr>
            <a:r>
              <a:rPr sz="1300" b="1" i="0">
                <a:solidFill>
                  <a:srgbClr val="094F63"/>
                </a:solidFill>
                <a:latin typeface="Arial"/>
                <a:ea typeface="Microsoft YaHei"/>
                <a:cs typeface="Arial"/>
              </a:rPr>
              <a:t>145/92 mmHg</a:t>
            </a:r>
          </a:p>
          <a:p>
            <a:pPr>
              <a:lnSpc>
                <a:spcPct val="132000"/>
              </a:lnSpc>
              <a:spcBef>
                <a:spcPts val="0"/>
              </a:spcBef>
              <a:spcAft>
                <a:spcPts val="200"/>
              </a:spcAft>
            </a:pPr>
            <a:r>
              <a:rPr sz="1300" b="1" i="0">
                <a:solidFill>
                  <a:srgbClr val="094F63"/>
                </a:solidFill>
                <a:latin typeface="Arial"/>
                <a:ea typeface="Microsoft YaHei"/>
                <a:cs typeface="Arial"/>
              </a:rPr>
              <a:t>→ stage 2 hypertension</a:t>
            </a:r>
          </a:p>
        </p:txBody>
      </p:sp>
      <p:sp>
        <p:nvSpPr>
          <p:cNvPr id="13" name="Rectangle 12"/>
          <p:cNvSpPr/>
          <p:nvPr/>
        </p:nvSpPr>
        <p:spPr>
          <a:xfrm>
            <a:off x="950976" y="3904487"/>
            <a:ext cx="2051227" cy="18288"/>
          </a:xfrm>
          <a:prstGeom prst="rect">
            <a:avLst/>
          </a:prstGeom>
          <a:solidFill>
            <a:srgbClr val="D3D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4" name="TextBox 13"/>
          <p:cNvSpPr txBox="1"/>
          <p:nvPr/>
        </p:nvSpPr>
        <p:spPr>
          <a:xfrm>
            <a:off x="950976" y="4050791"/>
            <a:ext cx="2051227" cy="658368"/>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B45309"/>
                </a:solidFill>
                <a:latin typeface="Arial"/>
                <a:ea typeface="Microsoft YaHei"/>
                <a:cs typeface="Arial"/>
              </a:rPr>
              <a:t>Missed → no drug when one is due</a:t>
            </a:r>
          </a:p>
        </p:txBody>
      </p:sp>
      <p:sp>
        <p:nvSpPr>
          <p:cNvPr id="15" name="Rectangle 14"/>
          <p:cNvSpPr/>
          <p:nvPr/>
        </p:nvSpPr>
        <p:spPr>
          <a:xfrm>
            <a:off x="3459403" y="2048256"/>
            <a:ext cx="2526715" cy="278892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6" name="Rectangle 15"/>
          <p:cNvSpPr/>
          <p:nvPr/>
        </p:nvSpPr>
        <p:spPr>
          <a:xfrm>
            <a:off x="3459403" y="2048256"/>
            <a:ext cx="2526715"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7" name="TextBox 16"/>
          <p:cNvSpPr txBox="1"/>
          <p:nvPr/>
        </p:nvSpPr>
        <p:spPr>
          <a:xfrm>
            <a:off x="3697147" y="2322576"/>
            <a:ext cx="2051227" cy="365760"/>
          </a:xfrm>
          <a:prstGeom prst="rect">
            <a:avLst/>
          </a:prstGeom>
          <a:noFill/>
        </p:spPr>
        <p:txBody>
          <a:bodyPr wrap="square" lIns="0" rIns="0" tIns="0" bIns="0" anchor="t">
            <a:spAutoFit/>
          </a:bodyPr>
          <a:lstStyle/>
          <a:p>
            <a:pPr algn="l">
              <a:lnSpc>
                <a:spcPct val="122000"/>
              </a:lnSpc>
              <a:spcBef>
                <a:spcPts val="0"/>
              </a:spcBef>
              <a:spcAft>
                <a:spcPts val="0"/>
              </a:spcAft>
            </a:pPr>
            <a:r>
              <a:rPr sz="1450" b="1" i="0">
                <a:solidFill>
                  <a:srgbClr val="182533"/>
                </a:solidFill>
                <a:latin typeface="Arial"/>
                <a:ea typeface="Microsoft YaHei"/>
                <a:cs typeface="Arial"/>
              </a:rPr>
              <a:t>Comorbidity</a:t>
            </a:r>
          </a:p>
        </p:txBody>
      </p:sp>
      <p:sp>
        <p:nvSpPr>
          <p:cNvPr id="18" name="TextBox 17"/>
          <p:cNvSpPr txBox="1"/>
          <p:nvPr/>
        </p:nvSpPr>
        <p:spPr>
          <a:xfrm>
            <a:off x="3697147" y="2834640"/>
            <a:ext cx="2051227" cy="1097280"/>
          </a:xfrm>
          <a:prstGeom prst="rect">
            <a:avLst/>
          </a:prstGeom>
          <a:noFill/>
        </p:spPr>
        <p:txBody>
          <a:bodyPr wrap="square" lIns="0" rIns="0" tIns="0" bIns="0" anchor="t">
            <a:spAutoFit/>
          </a:bodyPr>
          <a:lstStyle/>
          <a:p>
            <a:pPr algn="l">
              <a:lnSpc>
                <a:spcPct val="132000"/>
              </a:lnSpc>
              <a:spcBef>
                <a:spcPts val="0"/>
              </a:spcBef>
              <a:spcAft>
                <a:spcPts val="200"/>
              </a:spcAft>
            </a:pPr>
            <a:r>
              <a:rPr sz="1300" b="1" i="0">
                <a:solidFill>
                  <a:srgbClr val="094F63"/>
                </a:solidFill>
                <a:latin typeface="Arial"/>
                <a:ea typeface="Microsoft YaHei"/>
                <a:cs typeface="Arial"/>
              </a:rPr>
              <a:t>Type 2 diabetes</a:t>
            </a:r>
          </a:p>
          <a:p>
            <a:pPr>
              <a:lnSpc>
                <a:spcPct val="132000"/>
              </a:lnSpc>
              <a:spcBef>
                <a:spcPts val="0"/>
              </a:spcBef>
              <a:spcAft>
                <a:spcPts val="200"/>
              </a:spcAft>
            </a:pPr>
            <a:r>
              <a:rPr sz="1300" b="1" i="0">
                <a:solidFill>
                  <a:srgbClr val="094F63"/>
                </a:solidFill>
                <a:latin typeface="Arial"/>
                <a:ea typeface="Microsoft YaHei"/>
                <a:cs typeface="Arial"/>
              </a:rPr>
              <a:t>estimated eGFR 52</a:t>
            </a:r>
          </a:p>
        </p:txBody>
      </p:sp>
      <p:sp>
        <p:nvSpPr>
          <p:cNvPr id="19" name="Rectangle 18"/>
          <p:cNvSpPr/>
          <p:nvPr/>
        </p:nvSpPr>
        <p:spPr>
          <a:xfrm>
            <a:off x="3697147" y="3904487"/>
            <a:ext cx="2051227" cy="18288"/>
          </a:xfrm>
          <a:prstGeom prst="rect">
            <a:avLst/>
          </a:prstGeom>
          <a:solidFill>
            <a:srgbClr val="D3D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0" name="TextBox 19"/>
          <p:cNvSpPr txBox="1"/>
          <p:nvPr/>
        </p:nvSpPr>
        <p:spPr>
          <a:xfrm>
            <a:off x="3697147" y="4050791"/>
            <a:ext cx="2051227" cy="658368"/>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B45309"/>
                </a:solidFill>
                <a:latin typeface="Arial"/>
                <a:ea typeface="Microsoft YaHei"/>
                <a:cs typeface="Arial"/>
              </a:rPr>
              <a:t>Missed → wrong drug class</a:t>
            </a:r>
          </a:p>
        </p:txBody>
      </p:sp>
      <p:sp>
        <p:nvSpPr>
          <p:cNvPr id="21" name="Rectangle 20"/>
          <p:cNvSpPr/>
          <p:nvPr/>
        </p:nvSpPr>
        <p:spPr>
          <a:xfrm>
            <a:off x="6205575" y="2048256"/>
            <a:ext cx="2526715" cy="278892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2" name="Rectangle 21"/>
          <p:cNvSpPr/>
          <p:nvPr/>
        </p:nvSpPr>
        <p:spPr>
          <a:xfrm>
            <a:off x="6205575" y="2048256"/>
            <a:ext cx="2526715"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3" name="TextBox 22"/>
          <p:cNvSpPr txBox="1"/>
          <p:nvPr/>
        </p:nvSpPr>
        <p:spPr>
          <a:xfrm>
            <a:off x="6443319" y="2322576"/>
            <a:ext cx="2051227" cy="365760"/>
          </a:xfrm>
          <a:prstGeom prst="rect">
            <a:avLst/>
          </a:prstGeom>
          <a:noFill/>
        </p:spPr>
        <p:txBody>
          <a:bodyPr wrap="square" lIns="0" rIns="0" tIns="0" bIns="0" anchor="t">
            <a:spAutoFit/>
          </a:bodyPr>
          <a:lstStyle/>
          <a:p>
            <a:pPr algn="l">
              <a:lnSpc>
                <a:spcPct val="122000"/>
              </a:lnSpc>
              <a:spcBef>
                <a:spcPts val="0"/>
              </a:spcBef>
              <a:spcAft>
                <a:spcPts val="0"/>
              </a:spcAft>
            </a:pPr>
            <a:r>
              <a:rPr sz="1450" b="1" i="0">
                <a:solidFill>
                  <a:srgbClr val="182533"/>
                </a:solidFill>
                <a:latin typeface="Arial"/>
                <a:ea typeface="Microsoft YaHei"/>
                <a:cs typeface="Arial"/>
              </a:rPr>
              <a:t>Contraindication</a:t>
            </a:r>
          </a:p>
        </p:txBody>
      </p:sp>
      <p:sp>
        <p:nvSpPr>
          <p:cNvPr id="24" name="TextBox 23"/>
          <p:cNvSpPr txBox="1"/>
          <p:nvPr/>
        </p:nvSpPr>
        <p:spPr>
          <a:xfrm>
            <a:off x="6443319" y="2834640"/>
            <a:ext cx="2051227" cy="1097280"/>
          </a:xfrm>
          <a:prstGeom prst="rect">
            <a:avLst/>
          </a:prstGeom>
          <a:noFill/>
        </p:spPr>
        <p:txBody>
          <a:bodyPr wrap="square" lIns="0" rIns="0" tIns="0" bIns="0" anchor="t">
            <a:spAutoFit/>
          </a:bodyPr>
          <a:lstStyle/>
          <a:p>
            <a:pPr algn="l">
              <a:lnSpc>
                <a:spcPct val="132000"/>
              </a:lnSpc>
              <a:spcBef>
                <a:spcPts val="0"/>
              </a:spcBef>
              <a:spcAft>
                <a:spcPts val="200"/>
              </a:spcAft>
            </a:pPr>
            <a:r>
              <a:rPr sz="1300" b="1" i="0">
                <a:solidFill>
                  <a:srgbClr val="094F63"/>
                </a:solidFill>
                <a:latin typeface="Arial"/>
                <a:ea typeface="Microsoft YaHei"/>
                <a:cs typeface="Arial"/>
              </a:rPr>
              <a:t>Prior angioedema</a:t>
            </a:r>
          </a:p>
          <a:p>
            <a:pPr>
              <a:lnSpc>
                <a:spcPct val="132000"/>
              </a:lnSpc>
              <a:spcBef>
                <a:spcPts val="0"/>
              </a:spcBef>
              <a:spcAft>
                <a:spcPts val="200"/>
              </a:spcAft>
            </a:pPr>
            <a:r>
              <a:rPr sz="1300" b="1" i="0">
                <a:solidFill>
                  <a:srgbClr val="094F63"/>
                </a:solidFill>
                <a:latin typeface="Arial"/>
                <a:ea typeface="Microsoft YaHei"/>
                <a:cs typeface="Arial"/>
              </a:rPr>
              <a:t>serum K 5.7</a:t>
            </a:r>
          </a:p>
        </p:txBody>
      </p:sp>
      <p:sp>
        <p:nvSpPr>
          <p:cNvPr id="25" name="Rectangle 24"/>
          <p:cNvSpPr/>
          <p:nvPr/>
        </p:nvSpPr>
        <p:spPr>
          <a:xfrm>
            <a:off x="6443319" y="3904487"/>
            <a:ext cx="2051227" cy="18288"/>
          </a:xfrm>
          <a:prstGeom prst="rect">
            <a:avLst/>
          </a:prstGeom>
          <a:solidFill>
            <a:srgbClr val="D3D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6" name="TextBox 25"/>
          <p:cNvSpPr txBox="1"/>
          <p:nvPr/>
        </p:nvSpPr>
        <p:spPr>
          <a:xfrm>
            <a:off x="6443319" y="4050791"/>
            <a:ext cx="2051227" cy="658368"/>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B45309"/>
                </a:solidFill>
                <a:latin typeface="Arial"/>
                <a:ea typeface="Microsoft YaHei"/>
                <a:cs typeface="Arial"/>
              </a:rPr>
              <a:t>Missed → an unsafe drug</a:t>
            </a:r>
          </a:p>
        </p:txBody>
      </p:sp>
      <p:sp>
        <p:nvSpPr>
          <p:cNvPr id="27" name="Rectangle 26"/>
          <p:cNvSpPr/>
          <p:nvPr/>
        </p:nvSpPr>
        <p:spPr>
          <a:xfrm>
            <a:off x="8951747" y="2048256"/>
            <a:ext cx="2526715" cy="278892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8" name="Rectangle 27"/>
          <p:cNvSpPr/>
          <p:nvPr/>
        </p:nvSpPr>
        <p:spPr>
          <a:xfrm>
            <a:off x="8951747" y="2048256"/>
            <a:ext cx="2526715"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9" name="TextBox 28"/>
          <p:cNvSpPr txBox="1"/>
          <p:nvPr/>
        </p:nvSpPr>
        <p:spPr>
          <a:xfrm>
            <a:off x="9189491" y="2322576"/>
            <a:ext cx="2051227" cy="365760"/>
          </a:xfrm>
          <a:prstGeom prst="rect">
            <a:avLst/>
          </a:prstGeom>
          <a:noFill/>
        </p:spPr>
        <p:txBody>
          <a:bodyPr wrap="square" lIns="0" rIns="0" tIns="0" bIns="0" anchor="t">
            <a:spAutoFit/>
          </a:bodyPr>
          <a:lstStyle/>
          <a:p>
            <a:pPr algn="l">
              <a:lnSpc>
                <a:spcPct val="122000"/>
              </a:lnSpc>
              <a:spcBef>
                <a:spcPts val="0"/>
              </a:spcBef>
              <a:spcAft>
                <a:spcPts val="0"/>
              </a:spcAft>
            </a:pPr>
            <a:r>
              <a:rPr sz="1450" b="1" i="0">
                <a:solidFill>
                  <a:srgbClr val="182533"/>
                </a:solidFill>
                <a:latin typeface="Arial"/>
                <a:ea typeface="Microsoft YaHei"/>
                <a:cs typeface="Arial"/>
              </a:rPr>
              <a:t>Current meds</a:t>
            </a:r>
          </a:p>
        </p:txBody>
      </p:sp>
      <p:sp>
        <p:nvSpPr>
          <p:cNvPr id="30" name="TextBox 29"/>
          <p:cNvSpPr txBox="1"/>
          <p:nvPr/>
        </p:nvSpPr>
        <p:spPr>
          <a:xfrm>
            <a:off x="9189491" y="2834640"/>
            <a:ext cx="2051227" cy="1097280"/>
          </a:xfrm>
          <a:prstGeom prst="rect">
            <a:avLst/>
          </a:prstGeom>
          <a:noFill/>
        </p:spPr>
        <p:txBody>
          <a:bodyPr wrap="square" lIns="0" rIns="0" tIns="0" bIns="0" anchor="t">
            <a:spAutoFit/>
          </a:bodyPr>
          <a:lstStyle/>
          <a:p>
            <a:pPr algn="l">
              <a:lnSpc>
                <a:spcPct val="132000"/>
              </a:lnSpc>
              <a:spcBef>
                <a:spcPts val="0"/>
              </a:spcBef>
              <a:spcAft>
                <a:spcPts val="200"/>
              </a:spcAft>
            </a:pPr>
            <a:r>
              <a:rPr sz="1300" b="1" i="0">
                <a:solidFill>
                  <a:srgbClr val="094F63"/>
                </a:solidFill>
                <a:latin typeface="Arial"/>
                <a:ea typeface="Microsoft YaHei"/>
                <a:cs typeface="Arial"/>
              </a:rPr>
              <a:t>Already on amlodipine</a:t>
            </a:r>
          </a:p>
        </p:txBody>
      </p:sp>
      <p:sp>
        <p:nvSpPr>
          <p:cNvPr id="31" name="Rectangle 30"/>
          <p:cNvSpPr/>
          <p:nvPr/>
        </p:nvSpPr>
        <p:spPr>
          <a:xfrm>
            <a:off x="9189491" y="3904487"/>
            <a:ext cx="2051227" cy="18288"/>
          </a:xfrm>
          <a:prstGeom prst="rect">
            <a:avLst/>
          </a:prstGeom>
          <a:solidFill>
            <a:srgbClr val="D3D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2" name="TextBox 31"/>
          <p:cNvSpPr txBox="1"/>
          <p:nvPr/>
        </p:nvSpPr>
        <p:spPr>
          <a:xfrm>
            <a:off x="9189491" y="4050791"/>
            <a:ext cx="2051227" cy="658368"/>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B45309"/>
                </a:solidFill>
                <a:latin typeface="Arial"/>
                <a:ea typeface="Microsoft YaHei"/>
                <a:cs typeface="Arial"/>
              </a:rPr>
              <a:t>Missed → 'initiate' instead of 'intensify'</a:t>
            </a:r>
          </a:p>
        </p:txBody>
      </p:sp>
      <p:sp>
        <p:nvSpPr>
          <p:cNvPr id="33" name="TextBox 32"/>
          <p:cNvSpPr txBox="1"/>
          <p:nvPr/>
        </p:nvSpPr>
        <p:spPr>
          <a:xfrm>
            <a:off x="713232" y="5111496"/>
            <a:ext cx="10765231" cy="548640"/>
          </a:xfrm>
          <a:prstGeom prst="rect">
            <a:avLst/>
          </a:prstGeom>
          <a:noFill/>
        </p:spPr>
        <p:txBody>
          <a:bodyPr wrap="square" lIns="0" rIns="0" tIns="0" bIns="0" anchor="t">
            <a:spAutoFit/>
          </a:bodyPr>
          <a:lstStyle/>
          <a:p>
            <a:pPr algn="l">
              <a:lnSpc>
                <a:spcPct val="135000"/>
              </a:lnSpc>
              <a:spcBef>
                <a:spcPts val="0"/>
              </a:spcBef>
              <a:spcAft>
                <a:spcPts val="0"/>
              </a:spcAft>
            </a:pPr>
            <a:r>
              <a:rPr sz="1250" b="0" i="0">
                <a:solidFill>
                  <a:srgbClr val="748694"/>
                </a:solidFill>
                <a:latin typeface="Arial"/>
                <a:ea typeface="Microsoft YaHei"/>
                <a:cs typeface="Arial"/>
              </a:rPr>
              <a:t>So this is not knowledge recall. It is multi-constraint decision making, and published work already shows model performance degrades as comorbidity load rises.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THE GAP</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What is missing is not another score — it is a reference reasoning path</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4</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TextBox 7"/>
          <p:cNvSpPr txBox="1"/>
          <p:nvPr/>
        </p:nvSpPr>
        <p:spPr>
          <a:xfrm>
            <a:off x="713232" y="1572768"/>
            <a:ext cx="6297660" cy="330835"/>
          </a:xfrm>
          <a:prstGeom prst="rect">
            <a:avLst/>
          </a:prstGeom>
          <a:noFill/>
        </p:spPr>
        <p:txBody>
          <a:bodyPr wrap="square" lIns="0" rIns="0" tIns="0" bIns="0" anchor="t">
            <a:spAutoFit/>
          </a:bodyPr>
          <a:lstStyle/>
          <a:p>
            <a:pPr algn="l">
              <a:lnSpc>
                <a:spcPct val="130000"/>
              </a:lnSpc>
              <a:spcBef>
                <a:spcPts val="0"/>
              </a:spcBef>
              <a:spcAft>
                <a:spcPts val="0"/>
              </a:spcAft>
            </a:pPr>
            <a:r>
              <a:rPr sz="1450" b="1" i="0">
                <a:solidFill>
                  <a:srgbClr val="182533"/>
                </a:solidFill>
                <a:latin typeface="Arial"/>
                <a:ea typeface="Microsoft YaHei"/>
                <a:cs typeface="Arial"/>
              </a:rPr>
              <a:t>Medical LLM benchmarks are largely multiple choice.</a:t>
            </a:r>
          </a:p>
        </p:txBody>
      </p:sp>
      <p:sp>
        <p:nvSpPr>
          <p:cNvPr id="9" name="TextBox 8"/>
          <p:cNvSpPr txBox="1"/>
          <p:nvPr/>
        </p:nvSpPr>
        <p:spPr>
          <a:xfrm>
            <a:off x="1024128" y="1848739"/>
            <a:ext cx="5986764" cy="297815"/>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748694"/>
                </a:solidFill>
                <a:latin typeface="Arial"/>
                <a:ea typeface="Microsoft YaHei"/>
                <a:cs typeface="Arial"/>
              </a:rPr>
              <a:t>The output is a single number, say 85%.</a:t>
            </a:r>
          </a:p>
        </p:txBody>
      </p:sp>
      <p:sp>
        <p:nvSpPr>
          <p:cNvPr id="10" name="TextBox 9"/>
          <p:cNvSpPr txBox="1"/>
          <p:nvPr/>
        </p:nvSpPr>
        <p:spPr>
          <a:xfrm>
            <a:off x="713232" y="2183130"/>
            <a:ext cx="6297660" cy="330835"/>
          </a:xfrm>
          <a:prstGeom prst="rect">
            <a:avLst/>
          </a:prstGeom>
          <a:noFill/>
        </p:spPr>
        <p:txBody>
          <a:bodyPr wrap="square" lIns="0" rIns="0" tIns="0" bIns="0" anchor="t">
            <a:spAutoFit/>
          </a:bodyPr>
          <a:lstStyle/>
          <a:p>
            <a:pPr algn="l">
              <a:lnSpc>
                <a:spcPct val="130000"/>
              </a:lnSpc>
              <a:spcBef>
                <a:spcPts val="0"/>
              </a:spcBef>
              <a:spcAft>
                <a:spcPts val="0"/>
              </a:spcAft>
            </a:pPr>
            <a:r>
              <a:rPr sz="1450" b="1" i="0">
                <a:solidFill>
                  <a:srgbClr val="182533"/>
                </a:solidFill>
                <a:latin typeface="Arial"/>
                <a:ea typeface="Microsoft YaHei"/>
                <a:cs typeface="Arial"/>
              </a:rPr>
              <a:t>85% answers none of these three questions:</a:t>
            </a:r>
          </a:p>
        </p:txBody>
      </p:sp>
      <p:sp>
        <p:nvSpPr>
          <p:cNvPr id="11" name="TextBox 10"/>
          <p:cNvSpPr txBox="1"/>
          <p:nvPr/>
        </p:nvSpPr>
        <p:spPr>
          <a:xfrm>
            <a:off x="1024128" y="2513965"/>
            <a:ext cx="5986764" cy="330835"/>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182533"/>
                </a:solidFill>
                <a:latin typeface="Arial"/>
                <a:ea typeface="Microsoft YaHei"/>
                <a:cs typeface="Arial"/>
              </a:rPr>
              <a:t>· Did it misread the chart, or read it and reason wrongly?</a:t>
            </a:r>
          </a:p>
        </p:txBody>
      </p:sp>
      <p:sp>
        <p:nvSpPr>
          <p:cNvPr id="12" name="Oval 11"/>
          <p:cNvSpPr/>
          <p:nvPr/>
        </p:nvSpPr>
        <p:spPr>
          <a:xfrm>
            <a:off x="804672" y="2596261"/>
            <a:ext cx="54864" cy="5486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3" name="TextBox 12"/>
          <p:cNvSpPr txBox="1"/>
          <p:nvPr/>
        </p:nvSpPr>
        <p:spPr>
          <a:xfrm>
            <a:off x="1024128" y="2789936"/>
            <a:ext cx="5986764" cy="297815"/>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748694"/>
                </a:solidFill>
                <a:latin typeface="Arial"/>
                <a:ea typeface="Microsoft YaHei"/>
                <a:cs typeface="Arial"/>
              </a:rPr>
              <a:t>The two failures need entirely different fixes.</a:t>
            </a:r>
          </a:p>
        </p:txBody>
      </p:sp>
      <p:sp>
        <p:nvSpPr>
          <p:cNvPr id="14" name="TextBox 13"/>
          <p:cNvSpPr txBox="1"/>
          <p:nvPr/>
        </p:nvSpPr>
        <p:spPr>
          <a:xfrm>
            <a:off x="1024128" y="3124327"/>
            <a:ext cx="5986764" cy="330835"/>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182533"/>
                </a:solidFill>
                <a:latin typeface="Arial"/>
                <a:ea typeface="Microsoft YaHei"/>
                <a:cs typeface="Arial"/>
              </a:rPr>
              <a:t>· Of the items it got right, did it take the right path?</a:t>
            </a:r>
          </a:p>
        </p:txBody>
      </p:sp>
      <p:sp>
        <p:nvSpPr>
          <p:cNvPr id="15" name="Oval 14"/>
          <p:cNvSpPr/>
          <p:nvPr/>
        </p:nvSpPr>
        <p:spPr>
          <a:xfrm>
            <a:off x="804672" y="3206623"/>
            <a:ext cx="54864" cy="5486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6" name="TextBox 15"/>
          <p:cNvSpPr txBox="1"/>
          <p:nvPr/>
        </p:nvSpPr>
        <p:spPr>
          <a:xfrm>
            <a:off x="1024128" y="3400298"/>
            <a:ext cx="5986764" cy="297815"/>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748694"/>
                </a:solidFill>
                <a:latin typeface="Arial"/>
                <a:ea typeface="Microsoft YaHei"/>
                <a:cs typeface="Arial"/>
              </a:rPr>
              <a:t>The benchmark stores the correct option, not the correct steps.</a:t>
            </a:r>
          </a:p>
        </p:txBody>
      </p:sp>
      <p:sp>
        <p:nvSpPr>
          <p:cNvPr id="17" name="TextBox 16"/>
          <p:cNvSpPr txBox="1"/>
          <p:nvPr/>
        </p:nvSpPr>
        <p:spPr>
          <a:xfrm>
            <a:off x="1024128" y="3734689"/>
            <a:ext cx="5986764" cy="330835"/>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182533"/>
                </a:solidFill>
                <a:latin typeface="Arial"/>
                <a:ea typeface="Microsoft YaHei"/>
                <a:cs typeface="Arial"/>
              </a:rPr>
              <a:t>· How often does it recommend a contraindicated drug?</a:t>
            </a:r>
          </a:p>
        </p:txBody>
      </p:sp>
      <p:sp>
        <p:nvSpPr>
          <p:cNvPr id="18" name="Oval 17"/>
          <p:cNvSpPr/>
          <p:nvPr/>
        </p:nvSpPr>
        <p:spPr>
          <a:xfrm>
            <a:off x="804672" y="3816985"/>
            <a:ext cx="54864" cy="5486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9" name="TextBox 18"/>
          <p:cNvSpPr txBox="1"/>
          <p:nvPr/>
        </p:nvSpPr>
        <p:spPr>
          <a:xfrm>
            <a:off x="1024128" y="4010660"/>
            <a:ext cx="5986764" cy="297815"/>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748694"/>
                </a:solidFill>
                <a:latin typeface="Arial"/>
                <a:ea typeface="Microsoft YaHei"/>
                <a:cs typeface="Arial"/>
              </a:rPr>
              <a:t>Unsafe errors get averaged into the headline and disappear.</a:t>
            </a:r>
          </a:p>
        </p:txBody>
      </p:sp>
      <p:sp>
        <p:nvSpPr>
          <p:cNvPr id="20" name="Rectangle 19"/>
          <p:cNvSpPr/>
          <p:nvPr/>
        </p:nvSpPr>
        <p:spPr>
          <a:xfrm>
            <a:off x="7394940" y="1984248"/>
            <a:ext cx="4083522" cy="2377821"/>
          </a:xfrm>
          <a:prstGeom prst="rect">
            <a:avLst/>
          </a:prstGeom>
          <a:solidFill>
            <a:srgbClr val="094F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1" name="TextBox 20"/>
          <p:cNvSpPr txBox="1"/>
          <p:nvPr/>
        </p:nvSpPr>
        <p:spPr>
          <a:xfrm>
            <a:off x="7724124" y="2295144"/>
            <a:ext cx="3425154" cy="292608"/>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8ED6E4"/>
                </a:solidFill>
                <a:latin typeface="Arial"/>
                <a:ea typeface="Microsoft YaHei"/>
                <a:cs typeface="Arial"/>
              </a:rPr>
              <a:t>The gap in one sentence</a:t>
            </a:r>
          </a:p>
        </p:txBody>
      </p:sp>
      <p:sp>
        <p:nvSpPr>
          <p:cNvPr id="22" name="TextBox 21"/>
          <p:cNvSpPr txBox="1"/>
          <p:nvPr/>
        </p:nvSpPr>
        <p:spPr>
          <a:xfrm>
            <a:off x="7724124" y="2734056"/>
            <a:ext cx="3425154" cy="1371981"/>
          </a:xfrm>
          <a:prstGeom prst="rect">
            <a:avLst/>
          </a:prstGeom>
          <a:noFill/>
        </p:spPr>
        <p:txBody>
          <a:bodyPr wrap="square" lIns="0" rIns="0" tIns="0" bIns="0" anchor="t">
            <a:spAutoFit/>
          </a:bodyPr>
          <a:lstStyle/>
          <a:p>
            <a:pPr algn="l">
              <a:lnSpc>
                <a:spcPct val="145000"/>
              </a:lnSpc>
              <a:spcBef>
                <a:spcPts val="0"/>
              </a:spcBef>
              <a:spcAft>
                <a:spcPts val="0"/>
              </a:spcAft>
            </a:pPr>
            <a:r>
              <a:rPr sz="1500" b="1" i="0">
                <a:solidFill>
                  <a:srgbClr val="FFFFFF"/>
                </a:solidFill>
                <a:latin typeface="Arial"/>
                <a:ea typeface="Microsoft YaHei"/>
                <a:cs typeface="Arial"/>
              </a:rPr>
              <a:t>Existing benchmarks have no reference reasoning path, so errors cannot be localized. You learn that the model fails; you do not learn what to fix.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POSITIONING</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What is already done, and where we differ</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5</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527048"/>
            <a:ext cx="10765231" cy="66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9" name="Connector 8"/>
          <p:cNvCxnSpPr/>
          <p:nvPr/>
        </p:nvCxnSpPr>
        <p:spPr>
          <a:xfrm>
            <a:off x="713232" y="1527048"/>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9536" y="1645920"/>
            <a:ext cx="2372053" cy="477520"/>
          </a:xfrm>
          <a:prstGeom prst="rect">
            <a:avLst/>
          </a:prstGeom>
          <a:noFill/>
        </p:spPr>
        <p:txBody>
          <a:bodyPr wrap="square" lIns="0" rIns="0" tIns="0" bIns="0" anchor="t">
            <a:spAutoFit/>
          </a:bodyPr>
          <a:lstStyle/>
          <a:p>
            <a:pPr algn="l">
              <a:lnSpc>
                <a:spcPct val="128000"/>
              </a:lnSpc>
              <a:spcBef>
                <a:spcPts val="0"/>
              </a:spcBef>
              <a:spcAft>
                <a:spcPts val="0"/>
              </a:spcAft>
            </a:pPr>
            <a:r>
              <a:rPr sz="1300" b="1" i="0">
                <a:solidFill>
                  <a:srgbClr val="182533"/>
                </a:solidFill>
                <a:latin typeface="Arial"/>
                <a:ea typeface="Microsoft YaHei"/>
                <a:cs typeface="Arial"/>
              </a:rPr>
              <a:t>Turning guidelines into executable structure</a:t>
            </a:r>
          </a:p>
        </p:txBody>
      </p:sp>
      <p:sp>
        <p:nvSpPr>
          <p:cNvPr id="11" name="TextBox 10"/>
          <p:cNvSpPr txBox="1"/>
          <p:nvPr/>
        </p:nvSpPr>
        <p:spPr>
          <a:xfrm>
            <a:off x="3524197" y="1645920"/>
            <a:ext cx="3970849" cy="47752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Four 2026 papers already do this (CPGPrompt, MedGuideX, GuideSkill, Guideline2Graph)</a:t>
            </a:r>
          </a:p>
        </p:txBody>
      </p:sp>
      <p:sp>
        <p:nvSpPr>
          <p:cNvPr id="12" name="TextBox 11"/>
          <p:cNvSpPr txBox="1"/>
          <p:nvPr/>
        </p:nvSpPr>
        <p:spPr>
          <a:xfrm>
            <a:off x="7787655" y="1645920"/>
            <a:ext cx="3544504" cy="47752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Occupied · we cite it, we do not claim it</a:t>
            </a:r>
          </a:p>
        </p:txBody>
      </p:sp>
      <p:sp>
        <p:nvSpPr>
          <p:cNvPr id="13" name="Rectangle 12"/>
          <p:cNvSpPr/>
          <p:nvPr/>
        </p:nvSpPr>
        <p:spPr>
          <a:xfrm>
            <a:off x="713232" y="2187448"/>
            <a:ext cx="10765231" cy="66040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14" name="Connector 13"/>
          <p:cNvCxnSpPr/>
          <p:nvPr/>
        </p:nvCxnSpPr>
        <p:spPr>
          <a:xfrm>
            <a:off x="713232" y="2187448"/>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9536" y="2306320"/>
            <a:ext cx="2372053" cy="477520"/>
          </a:xfrm>
          <a:prstGeom prst="rect">
            <a:avLst/>
          </a:prstGeom>
          <a:noFill/>
        </p:spPr>
        <p:txBody>
          <a:bodyPr wrap="square" lIns="0" rIns="0" tIns="0" bIns="0" anchor="t">
            <a:spAutoFit/>
          </a:bodyPr>
          <a:lstStyle/>
          <a:p>
            <a:pPr algn="l">
              <a:lnSpc>
                <a:spcPct val="128000"/>
              </a:lnSpc>
              <a:spcBef>
                <a:spcPts val="0"/>
              </a:spcBef>
              <a:spcAft>
                <a:spcPts val="0"/>
              </a:spcAft>
            </a:pPr>
            <a:r>
              <a:rPr sz="1300" b="1" i="0">
                <a:solidFill>
                  <a:srgbClr val="182533"/>
                </a:solidFill>
                <a:latin typeface="Arial"/>
                <a:ea typeface="Microsoft YaHei"/>
                <a:cs typeface="Arial"/>
              </a:rPr>
              <a:t>What the guideline program is for</a:t>
            </a:r>
          </a:p>
        </p:txBody>
      </p:sp>
      <p:sp>
        <p:nvSpPr>
          <p:cNvPr id="16" name="TextBox 15"/>
          <p:cNvSpPr txBox="1"/>
          <p:nvPr/>
        </p:nvSpPr>
        <p:spPr>
          <a:xfrm>
            <a:off x="3524197" y="2306320"/>
            <a:ext cx="3970849" cy="47752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Others: a tree the model walks / a training signal / a text verifier</a:t>
            </a:r>
          </a:p>
        </p:txBody>
      </p:sp>
      <p:sp>
        <p:nvSpPr>
          <p:cNvPr id="17" name="TextBox 16"/>
          <p:cNvSpPr txBox="1"/>
          <p:nvPr/>
        </p:nvSpPr>
        <p:spPr>
          <a:xfrm>
            <a:off x="7787655" y="2306320"/>
            <a:ext cx="3544504" cy="47752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Ours: the examiner's answer key, and it emits reasoning steps</a:t>
            </a:r>
          </a:p>
        </p:txBody>
      </p:sp>
      <p:sp>
        <p:nvSpPr>
          <p:cNvPr id="18" name="Rectangle 17"/>
          <p:cNvSpPr/>
          <p:nvPr/>
        </p:nvSpPr>
        <p:spPr>
          <a:xfrm>
            <a:off x="713232" y="2847848"/>
            <a:ext cx="10765231" cy="6441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19" name="Connector 18"/>
          <p:cNvCxnSpPr/>
          <p:nvPr/>
        </p:nvCxnSpPr>
        <p:spPr>
          <a:xfrm>
            <a:off x="713232" y="2847848"/>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59536" y="2966720"/>
            <a:ext cx="2372053" cy="461264"/>
          </a:xfrm>
          <a:prstGeom prst="rect">
            <a:avLst/>
          </a:prstGeom>
          <a:noFill/>
        </p:spPr>
        <p:txBody>
          <a:bodyPr wrap="square" lIns="0" rIns="0" tIns="0" bIns="0" anchor="t">
            <a:spAutoFit/>
          </a:bodyPr>
          <a:lstStyle/>
          <a:p>
            <a:pPr algn="l">
              <a:lnSpc>
                <a:spcPct val="128000"/>
              </a:lnSpc>
              <a:spcBef>
                <a:spcPts val="0"/>
              </a:spcBef>
              <a:spcAft>
                <a:spcPts val="0"/>
              </a:spcAft>
            </a:pPr>
            <a:r>
              <a:rPr sz="1300" b="1" i="0">
                <a:solidFill>
                  <a:srgbClr val="182533"/>
                </a:solidFill>
                <a:latin typeface="Arial"/>
                <a:ea typeface="Microsoft YaHei"/>
                <a:cs typeface="Arial"/>
              </a:rPr>
              <a:t>Task type</a:t>
            </a:r>
          </a:p>
        </p:txBody>
      </p:sp>
      <p:sp>
        <p:nvSpPr>
          <p:cNvPr id="21" name="TextBox 20"/>
          <p:cNvSpPr txBox="1"/>
          <p:nvPr/>
        </p:nvSpPr>
        <p:spPr>
          <a:xfrm>
            <a:off x="3524197" y="2966720"/>
            <a:ext cx="3970849"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Mostly diagnosis (produce an ICD code)</a:t>
            </a:r>
          </a:p>
        </p:txBody>
      </p:sp>
      <p:sp>
        <p:nvSpPr>
          <p:cNvPr id="22" name="TextBox 21"/>
          <p:cNvSpPr txBox="1"/>
          <p:nvPr/>
        </p:nvSpPr>
        <p:spPr>
          <a:xfrm>
            <a:off x="7787655" y="2966720"/>
            <a:ext cx="3544504"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Treatment initiation and intensification (drug or no drug, which class)</a:t>
            </a:r>
          </a:p>
        </p:txBody>
      </p:sp>
      <p:sp>
        <p:nvSpPr>
          <p:cNvPr id="23" name="Rectangle 22"/>
          <p:cNvSpPr/>
          <p:nvPr/>
        </p:nvSpPr>
        <p:spPr>
          <a:xfrm>
            <a:off x="713232" y="3491992"/>
            <a:ext cx="10765231" cy="6441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24" name="Connector 23"/>
          <p:cNvCxnSpPr/>
          <p:nvPr/>
        </p:nvCxnSpPr>
        <p:spPr>
          <a:xfrm>
            <a:off x="713232" y="3491992"/>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59536" y="3610864"/>
            <a:ext cx="2372053" cy="461264"/>
          </a:xfrm>
          <a:prstGeom prst="rect">
            <a:avLst/>
          </a:prstGeom>
          <a:noFill/>
        </p:spPr>
        <p:txBody>
          <a:bodyPr wrap="square" lIns="0" rIns="0" tIns="0" bIns="0" anchor="t">
            <a:spAutoFit/>
          </a:bodyPr>
          <a:lstStyle/>
          <a:p>
            <a:pPr algn="l">
              <a:lnSpc>
                <a:spcPct val="128000"/>
              </a:lnSpc>
              <a:spcBef>
                <a:spcPts val="0"/>
              </a:spcBef>
              <a:spcAft>
                <a:spcPts val="0"/>
              </a:spcAft>
            </a:pPr>
            <a:r>
              <a:rPr sz="1300" b="1" i="0">
                <a:solidFill>
                  <a:srgbClr val="182533"/>
                </a:solidFill>
                <a:latin typeface="Arial"/>
                <a:ea typeface="Microsoft YaHei"/>
                <a:cs typeface="Arial"/>
              </a:rPr>
              <a:t>Difficulty design</a:t>
            </a:r>
          </a:p>
        </p:txBody>
      </p:sp>
      <p:sp>
        <p:nvSpPr>
          <p:cNvPr id="26" name="TextBox 25"/>
          <p:cNvSpPr txBox="1"/>
          <p:nvPr/>
        </p:nvSpPr>
        <p:spPr>
          <a:xfrm>
            <a:off x="3524197" y="3610864"/>
            <a:ext cx="3970849"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Raising difficulty also changes how much information is given</a:t>
            </a:r>
          </a:p>
        </p:txBody>
      </p:sp>
      <p:sp>
        <p:nvSpPr>
          <p:cNvPr id="27" name="TextBox 26"/>
          <p:cNvSpPr txBox="1"/>
          <p:nvPr/>
        </p:nvSpPr>
        <p:spPr>
          <a:xfrm>
            <a:off x="7787655" y="3610864"/>
            <a:ext cx="3544504"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A test enforces it: presentation changes, information does not</a:t>
            </a:r>
          </a:p>
        </p:txBody>
      </p:sp>
      <p:sp>
        <p:nvSpPr>
          <p:cNvPr id="28" name="Rectangle 27"/>
          <p:cNvSpPr/>
          <p:nvPr/>
        </p:nvSpPr>
        <p:spPr>
          <a:xfrm>
            <a:off x="713232" y="4136136"/>
            <a:ext cx="10765231" cy="6441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29" name="Connector 28"/>
          <p:cNvCxnSpPr/>
          <p:nvPr/>
        </p:nvCxnSpPr>
        <p:spPr>
          <a:xfrm>
            <a:off x="713232" y="4136136"/>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9536" y="4255008"/>
            <a:ext cx="2372053" cy="461264"/>
          </a:xfrm>
          <a:prstGeom prst="rect">
            <a:avLst/>
          </a:prstGeom>
          <a:noFill/>
        </p:spPr>
        <p:txBody>
          <a:bodyPr wrap="square" lIns="0" rIns="0" tIns="0" bIns="0" anchor="t">
            <a:spAutoFit/>
          </a:bodyPr>
          <a:lstStyle/>
          <a:p>
            <a:pPr algn="l">
              <a:lnSpc>
                <a:spcPct val="128000"/>
              </a:lnSpc>
              <a:spcBef>
                <a:spcPts val="0"/>
              </a:spcBef>
              <a:spcAft>
                <a:spcPts val="0"/>
              </a:spcAft>
            </a:pPr>
            <a:r>
              <a:rPr sz="1300" b="1" i="0">
                <a:solidFill>
                  <a:srgbClr val="182533"/>
                </a:solidFill>
                <a:latin typeface="Arial"/>
                <a:ea typeface="Microsoft YaHei"/>
                <a:cs typeface="Arial"/>
              </a:rPr>
              <a:t>Who checks the encoding</a:t>
            </a:r>
          </a:p>
        </p:txBody>
      </p:sp>
      <p:sp>
        <p:nvSpPr>
          <p:cNvPr id="31" name="TextBox 30"/>
          <p:cNvSpPr txBox="1"/>
          <p:nvPr/>
        </p:nvSpPr>
        <p:spPr>
          <a:xfrm>
            <a:off x="3524197" y="4255008"/>
            <a:ext cx="3970849"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GuideSkill's own stated limitation: no physician verification</a:t>
            </a:r>
          </a:p>
        </p:txBody>
      </p:sp>
      <p:sp>
        <p:nvSpPr>
          <p:cNvPr id="32" name="TextBox 31"/>
          <p:cNvSpPr txBox="1"/>
          <p:nvPr/>
        </p:nvSpPr>
        <p:spPr>
          <a:xfrm>
            <a:off x="7787655" y="4255008"/>
            <a:ext cx="3544504"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Blinded clinician adjudication is a required deliverable</a:t>
            </a:r>
          </a:p>
        </p:txBody>
      </p:sp>
      <p:cxnSp>
        <p:nvCxnSpPr>
          <p:cNvPr id="33" name="Connector 32"/>
          <p:cNvCxnSpPr/>
          <p:nvPr/>
        </p:nvCxnSpPr>
        <p:spPr>
          <a:xfrm>
            <a:off x="713232" y="4780280"/>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CORE IDEA</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Write the guideline as a program and let it be the answer key</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6</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527048"/>
            <a:ext cx="3063240" cy="1937512"/>
          </a:xfrm>
          <a:prstGeom prst="rect">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TextBox 8"/>
          <p:cNvSpPr txBox="1"/>
          <p:nvPr/>
        </p:nvSpPr>
        <p:spPr>
          <a:xfrm>
            <a:off x="950976" y="1746504"/>
            <a:ext cx="2587752" cy="274320"/>
          </a:xfrm>
          <a:prstGeom prst="rect">
            <a:avLst/>
          </a:prstGeom>
          <a:noFill/>
        </p:spPr>
        <p:txBody>
          <a:bodyPr wrap="square" lIns="0" rIns="0" tIns="0" bIns="0" anchor="t">
            <a:spAutoFit/>
          </a:bodyPr>
          <a:lstStyle/>
          <a:p>
            <a:pPr algn="l">
              <a:lnSpc>
                <a:spcPct val="122000"/>
              </a:lnSpc>
              <a:spcBef>
                <a:spcPts val="0"/>
              </a:spcBef>
              <a:spcAft>
                <a:spcPts val="0"/>
              </a:spcAft>
            </a:pPr>
            <a:r>
              <a:rPr sz="1100" b="1" i="0">
                <a:solidFill>
                  <a:srgbClr val="094F63"/>
                </a:solidFill>
                <a:latin typeface="Arial"/>
                <a:ea typeface="Microsoft YaHei"/>
                <a:cs typeface="Arial"/>
              </a:rPr>
              <a:t>Input</a:t>
            </a:r>
          </a:p>
        </p:txBody>
      </p:sp>
      <p:sp>
        <p:nvSpPr>
          <p:cNvPr id="10" name="TextBox 9"/>
          <p:cNvSpPr txBox="1"/>
          <p:nvPr/>
        </p:nvSpPr>
        <p:spPr>
          <a:xfrm>
            <a:off x="950976" y="2130552"/>
            <a:ext cx="2587752" cy="1114552"/>
          </a:xfrm>
          <a:prstGeom prst="rect">
            <a:avLst/>
          </a:prstGeom>
          <a:noFill/>
        </p:spPr>
        <p:txBody>
          <a:bodyPr wrap="square" lIns="0" rIns="0" tIns="0" bIns="0" anchor="t">
            <a:spAutoFit/>
          </a:bodyPr>
          <a:lstStyle/>
          <a:p>
            <a:pPr algn="l">
              <a:lnSpc>
                <a:spcPct val="132000"/>
              </a:lnSpc>
              <a:spcBef>
                <a:spcPts val="0"/>
              </a:spcBef>
              <a:spcAft>
                <a:spcPts val="300"/>
              </a:spcAft>
            </a:pPr>
            <a:r>
              <a:rPr sz="1300" b="0" i="0">
                <a:solidFill>
                  <a:srgbClr val="182533"/>
                </a:solidFill>
                <a:latin typeface="Arial"/>
                <a:ea typeface="Microsoft YaHei"/>
                <a:cs typeface="Arial"/>
              </a:rPr>
              <a:t>One structured patient record</a:t>
            </a:r>
          </a:p>
          <a:p>
            <a:pPr>
              <a:lnSpc>
                <a:spcPct val="132000"/>
              </a:lnSpc>
              <a:spcBef>
                <a:spcPts val="0"/>
              </a:spcBef>
              <a:spcAft>
                <a:spcPts val="300"/>
              </a:spcAft>
            </a:pPr>
            <a:r>
              <a:rPr sz="1300" b="0" i="0">
                <a:solidFill>
                  <a:srgbClr val="182533"/>
                </a:solidFill>
                <a:latin typeface="Arial"/>
                <a:ea typeface="Microsoft YaHei"/>
                <a:cs typeface="Arial"/>
              </a:rPr>
              <a:t>(age, BP, labs, comorbidities, current medication)</a:t>
            </a:r>
          </a:p>
        </p:txBody>
      </p:sp>
      <p:sp>
        <p:nvSpPr>
          <p:cNvPr id="11" name="Right Arrow 10"/>
          <p:cNvSpPr/>
          <p:nvPr/>
        </p:nvSpPr>
        <p:spPr>
          <a:xfrm>
            <a:off x="3995928" y="2349500"/>
            <a:ext cx="512064" cy="292608"/>
          </a:xfrm>
          <a:prstGeom prst="right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00600" y="1527048"/>
            <a:ext cx="6677863" cy="1937512"/>
          </a:xfrm>
          <a:prstGeom prst="rect">
            <a:avLst/>
          </a:prstGeom>
          <a:solidFill>
            <a:srgbClr val="FFFFFF"/>
          </a:solidFill>
          <a:ln w="2032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3" name="TextBox 12"/>
          <p:cNvSpPr txBox="1"/>
          <p:nvPr/>
        </p:nvSpPr>
        <p:spPr>
          <a:xfrm>
            <a:off x="5056632" y="1728216"/>
            <a:ext cx="6165799" cy="274320"/>
          </a:xfrm>
          <a:prstGeom prst="rect">
            <a:avLst/>
          </a:prstGeom>
          <a:noFill/>
        </p:spPr>
        <p:txBody>
          <a:bodyPr wrap="square" lIns="0" rIns="0" tIns="0" bIns="0" anchor="t">
            <a:spAutoFit/>
          </a:bodyPr>
          <a:lstStyle/>
          <a:p>
            <a:pPr algn="l">
              <a:lnSpc>
                <a:spcPct val="122000"/>
              </a:lnSpc>
              <a:spcBef>
                <a:spcPts val="0"/>
              </a:spcBef>
              <a:spcAft>
                <a:spcPts val="0"/>
              </a:spcAft>
            </a:pPr>
            <a:r>
              <a:rPr sz="1100" b="1" i="0">
                <a:solidFill>
                  <a:srgbClr val="094F63"/>
                </a:solidFill>
                <a:latin typeface="Arial"/>
                <a:ea typeface="Microsoft YaHei"/>
                <a:cs typeface="Arial"/>
              </a:rPr>
              <a:t>Output</a:t>
            </a:r>
          </a:p>
        </p:txBody>
      </p:sp>
      <p:sp>
        <p:nvSpPr>
          <p:cNvPr id="14" name="Oval 13"/>
          <p:cNvSpPr/>
          <p:nvPr/>
        </p:nvSpPr>
        <p:spPr>
          <a:xfrm>
            <a:off x="5074920" y="2176272"/>
            <a:ext cx="50292" cy="502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5" name="TextBox 14"/>
          <p:cNvSpPr txBox="1"/>
          <p:nvPr/>
        </p:nvSpPr>
        <p:spPr>
          <a:xfrm>
            <a:off x="5276088" y="2093976"/>
            <a:ext cx="5854903" cy="52070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The action: lifestyle only / initiate / intensify / at goal / abstain when undecidable</a:t>
            </a:r>
          </a:p>
        </p:txBody>
      </p:sp>
      <p:sp>
        <p:nvSpPr>
          <p:cNvPr id="16" name="Oval 15"/>
          <p:cNvSpPr/>
          <p:nvPr/>
        </p:nvSpPr>
        <p:spPr>
          <a:xfrm>
            <a:off x="5074920" y="2696972"/>
            <a:ext cx="50292" cy="502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7" name="TextBox 16"/>
          <p:cNvSpPr txBox="1"/>
          <p:nvPr/>
        </p:nvSpPr>
        <p:spPr>
          <a:xfrm>
            <a:off x="5276088" y="2614676"/>
            <a:ext cx="5854903" cy="30607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The guideline passage behind each step (citation anchor)</a:t>
            </a:r>
          </a:p>
        </p:txBody>
      </p:sp>
      <p:sp>
        <p:nvSpPr>
          <p:cNvPr id="18" name="Oval 17"/>
          <p:cNvSpPr/>
          <p:nvPr/>
        </p:nvSpPr>
        <p:spPr>
          <a:xfrm>
            <a:off x="5074920" y="3003042"/>
            <a:ext cx="50292" cy="502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9" name="TextBox 18"/>
          <p:cNvSpPr txBox="1"/>
          <p:nvPr/>
        </p:nvSpPr>
        <p:spPr>
          <a:xfrm>
            <a:off x="5276088" y="2920746"/>
            <a:ext cx="5854903" cy="30607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The full reasoning trace, comparable step by step</a:t>
            </a:r>
          </a:p>
        </p:txBody>
      </p:sp>
      <p:sp>
        <p:nvSpPr>
          <p:cNvPr id="20" name="Rectangle 19"/>
          <p:cNvSpPr/>
          <p:nvPr/>
        </p:nvSpPr>
        <p:spPr>
          <a:xfrm>
            <a:off x="713232" y="3848608"/>
            <a:ext cx="3429914" cy="238760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1" name="Rectangle 20"/>
          <p:cNvSpPr/>
          <p:nvPr/>
        </p:nvSpPr>
        <p:spPr>
          <a:xfrm>
            <a:off x="713232" y="3848608"/>
            <a:ext cx="3429914" cy="4114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2" name="TextBox 21"/>
          <p:cNvSpPr txBox="1"/>
          <p:nvPr/>
        </p:nvSpPr>
        <p:spPr>
          <a:xfrm>
            <a:off x="950976" y="4122927"/>
            <a:ext cx="2954426" cy="402336"/>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182533"/>
                </a:solidFill>
                <a:latin typeface="Arial"/>
                <a:ea typeface="Microsoft YaHei"/>
                <a:cs typeface="Arial"/>
              </a:rPr>
              <a:t>The rules are hand-written by me</a:t>
            </a:r>
          </a:p>
        </p:txBody>
      </p:sp>
      <p:sp>
        <p:nvSpPr>
          <p:cNvPr id="23" name="TextBox 22"/>
          <p:cNvSpPr txBox="1"/>
          <p:nvPr/>
        </p:nvSpPr>
        <p:spPr>
          <a:xfrm>
            <a:off x="950976" y="4519168"/>
            <a:ext cx="2954426" cy="1534160"/>
          </a:xfrm>
          <a:prstGeom prst="rect">
            <a:avLst/>
          </a:prstGeom>
          <a:noFill/>
        </p:spPr>
        <p:txBody>
          <a:bodyPr wrap="square" lIns="0" rIns="0" tIns="0" bIns="0" anchor="t">
            <a:spAutoFit/>
          </a:bodyPr>
          <a:lstStyle/>
          <a:p>
            <a:pPr algn="l">
              <a:lnSpc>
                <a:spcPct val="138000"/>
              </a:lnSpc>
              <a:spcBef>
                <a:spcPts val="0"/>
              </a:spcBef>
              <a:spcAft>
                <a:spcPts val="0"/>
              </a:spcAft>
            </a:pPr>
            <a:r>
              <a:rPr sz="1200" b="0" i="0">
                <a:solidFill>
                  <a:srgbClr val="475A6B"/>
                </a:solidFill>
                <a:latin typeface="Arial"/>
                <a:ea typeface="Microsoft YaHei"/>
                <a:cs typeface="Arial"/>
              </a:rPr>
              <a:t>Transcribed clause by clause, each with a unit test and a citation. Only the engineering scaffolding is delegated.</a:t>
            </a:r>
          </a:p>
        </p:txBody>
      </p:sp>
      <p:sp>
        <p:nvSpPr>
          <p:cNvPr id="24" name="Rectangle 23"/>
          <p:cNvSpPr/>
          <p:nvPr/>
        </p:nvSpPr>
        <p:spPr>
          <a:xfrm>
            <a:off x="4380890" y="3848608"/>
            <a:ext cx="3429914" cy="238760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5" name="Rectangle 24"/>
          <p:cNvSpPr/>
          <p:nvPr/>
        </p:nvSpPr>
        <p:spPr>
          <a:xfrm>
            <a:off x="4380890" y="3848608"/>
            <a:ext cx="3429914"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6" name="TextBox 25"/>
          <p:cNvSpPr txBox="1"/>
          <p:nvPr/>
        </p:nvSpPr>
        <p:spPr>
          <a:xfrm>
            <a:off x="4618634" y="4122927"/>
            <a:ext cx="2954426" cy="402336"/>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182533"/>
                </a:solidFill>
                <a:latin typeface="Arial"/>
                <a:ea typeface="Microsoft YaHei"/>
                <a:cs typeface="Arial"/>
              </a:rPr>
              <a:t>No answer when uncertain</a:t>
            </a:r>
          </a:p>
        </p:txBody>
      </p:sp>
      <p:sp>
        <p:nvSpPr>
          <p:cNvPr id="27" name="TextBox 26"/>
          <p:cNvSpPr txBox="1"/>
          <p:nvPr/>
        </p:nvSpPr>
        <p:spPr>
          <a:xfrm>
            <a:off x="4618634" y="4519168"/>
            <a:ext cx="2954426" cy="1534160"/>
          </a:xfrm>
          <a:prstGeom prst="rect">
            <a:avLst/>
          </a:prstGeom>
          <a:noFill/>
        </p:spPr>
        <p:txBody>
          <a:bodyPr wrap="square" lIns="0" rIns="0" tIns="0" bIns="0" anchor="t">
            <a:spAutoFit/>
          </a:bodyPr>
          <a:lstStyle/>
          <a:p>
            <a:pPr algn="l">
              <a:lnSpc>
                <a:spcPct val="138000"/>
              </a:lnSpc>
              <a:spcBef>
                <a:spcPts val="0"/>
              </a:spcBef>
              <a:spcAft>
                <a:spcPts val="0"/>
              </a:spcAft>
            </a:pPr>
            <a:r>
              <a:rPr sz="1200" b="0" i="0">
                <a:solidFill>
                  <a:srgbClr val="475A6B"/>
                </a:solidFill>
                <a:latin typeface="Arial"/>
                <a:ea typeface="Microsoft YaHei"/>
                <a:cs typeface="Arial"/>
              </a:rPr>
              <a:t>Insufficient information, or outside the encoded scope, returns ABSTAIN. It never guesses.</a:t>
            </a:r>
          </a:p>
        </p:txBody>
      </p:sp>
      <p:sp>
        <p:nvSpPr>
          <p:cNvPr id="28" name="Rectangle 27"/>
          <p:cNvSpPr/>
          <p:nvPr/>
        </p:nvSpPr>
        <p:spPr>
          <a:xfrm>
            <a:off x="8048548" y="3848608"/>
            <a:ext cx="3429914" cy="238760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9" name="Rectangle 28"/>
          <p:cNvSpPr/>
          <p:nvPr/>
        </p:nvSpPr>
        <p:spPr>
          <a:xfrm>
            <a:off x="8048548" y="3848608"/>
            <a:ext cx="3429914" cy="41148"/>
          </a:xfrm>
          <a:prstGeom prst="rect">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0" name="TextBox 29"/>
          <p:cNvSpPr txBox="1"/>
          <p:nvPr/>
        </p:nvSpPr>
        <p:spPr>
          <a:xfrm>
            <a:off x="8286292" y="4122927"/>
            <a:ext cx="2954426" cy="402336"/>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182533"/>
                </a:solidFill>
                <a:latin typeface="Arial"/>
                <a:ea typeface="Microsoft YaHei"/>
                <a:cs typeface="Arial"/>
              </a:rPr>
              <a:t>It is not a contestant</a:t>
            </a:r>
          </a:p>
        </p:txBody>
      </p:sp>
      <p:sp>
        <p:nvSpPr>
          <p:cNvPr id="31" name="TextBox 30"/>
          <p:cNvSpPr txBox="1"/>
          <p:nvPr/>
        </p:nvSpPr>
        <p:spPr>
          <a:xfrm>
            <a:off x="8286292" y="4519168"/>
            <a:ext cx="2954426" cy="1534160"/>
          </a:xfrm>
          <a:prstGeom prst="rect">
            <a:avLst/>
          </a:prstGeom>
          <a:noFill/>
        </p:spPr>
        <p:txBody>
          <a:bodyPr wrap="square" lIns="0" rIns="0" tIns="0" bIns="0" anchor="t">
            <a:spAutoFit/>
          </a:bodyPr>
          <a:lstStyle/>
          <a:p>
            <a:pPr algn="l">
              <a:lnSpc>
                <a:spcPct val="138000"/>
              </a:lnSpc>
              <a:spcBef>
                <a:spcPts val="0"/>
              </a:spcBef>
              <a:spcAft>
                <a:spcPts val="0"/>
              </a:spcAft>
            </a:pPr>
            <a:r>
              <a:rPr sz="1200" b="0" i="0">
                <a:solidFill>
                  <a:srgbClr val="475A6B"/>
                </a:solidFill>
                <a:latin typeface="Arial"/>
                <a:ea typeface="Microsoft YaHei"/>
                <a:cs typeface="Arial"/>
              </a:rPr>
              <a:t>The engine does not compete with the model; it is the source of ground truth. 'The engine beat the LLM' must never appear in the paper.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KEY DESIGN</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The headline result is one subtraction</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7</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99616"/>
            <a:ext cx="5227167" cy="1874519"/>
          </a:xfrm>
          <a:prstGeom prst="rect">
            <a:avLst/>
          </a:prstGeom>
          <a:solidFill>
            <a:srgbClr val="FFFFFF"/>
          </a:solidFill>
          <a:ln w="2032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Rectangle 8"/>
          <p:cNvSpPr/>
          <p:nvPr/>
        </p:nvSpPr>
        <p:spPr>
          <a:xfrm>
            <a:off x="713232" y="1499616"/>
            <a:ext cx="5227167" cy="31089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0" name="TextBox 9"/>
          <p:cNvSpPr txBox="1"/>
          <p:nvPr/>
        </p:nvSpPr>
        <p:spPr>
          <a:xfrm>
            <a:off x="932688" y="1554480"/>
            <a:ext cx="4788255" cy="219456"/>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FFFFFF"/>
                </a:solidFill>
                <a:latin typeface="Arial"/>
                <a:ea typeface="Microsoft YaHei"/>
                <a:cs typeface="Arial"/>
              </a:rPr>
              <a:t>Sheet A · structured</a:t>
            </a:r>
          </a:p>
        </p:txBody>
      </p:sp>
      <p:sp>
        <p:nvSpPr>
          <p:cNvPr id="11" name="TextBox 10"/>
          <p:cNvSpPr txBox="1"/>
          <p:nvPr/>
        </p:nvSpPr>
        <p:spPr>
          <a:xfrm>
            <a:off x="950976" y="1975104"/>
            <a:ext cx="4751679" cy="914399"/>
          </a:xfrm>
          <a:prstGeom prst="rect">
            <a:avLst/>
          </a:prstGeom>
          <a:noFill/>
        </p:spPr>
        <p:txBody>
          <a:bodyPr wrap="square" lIns="0" rIns="0" tIns="0" bIns="0" anchor="t">
            <a:spAutoFit/>
          </a:bodyPr>
          <a:lstStyle/>
          <a:p>
            <a:pPr algn="l">
              <a:lnSpc>
                <a:spcPct val="136000"/>
              </a:lnSpc>
              <a:spcBef>
                <a:spcPts val="0"/>
              </a:spcBef>
              <a:spcAft>
                <a:spcPts val="200"/>
              </a:spcAft>
            </a:pPr>
            <a:r>
              <a:rPr sz="1200" b="0" i="0">
                <a:solidFill>
                  <a:srgbClr val="182533"/>
                </a:solidFill>
                <a:latin typeface="Arial"/>
                <a:ea typeface="Microsoft YaHei"/>
                <a:cs typeface="Arial"/>
              </a:rPr>
              <a:t>58, male, SBP 145, DBP 92,</a:t>
            </a:r>
          </a:p>
          <a:p>
            <a:pPr>
              <a:lnSpc>
                <a:spcPct val="136000"/>
              </a:lnSpc>
              <a:spcBef>
                <a:spcPts val="0"/>
              </a:spcBef>
              <a:spcAft>
                <a:spcPts val="200"/>
              </a:spcAft>
            </a:pPr>
            <a:r>
              <a:rPr sz="1200" b="0" i="0">
                <a:solidFill>
                  <a:srgbClr val="182533"/>
                </a:solidFill>
                <a:latin typeface="Arial"/>
                <a:ea typeface="Microsoft YaHei"/>
                <a:cs typeface="Arial"/>
              </a:rPr>
              <a:t>diabetes=yes, eGFR 52,</a:t>
            </a:r>
          </a:p>
          <a:p>
            <a:pPr>
              <a:lnSpc>
                <a:spcPct val="136000"/>
              </a:lnSpc>
              <a:spcBef>
                <a:spcPts val="0"/>
              </a:spcBef>
              <a:spcAft>
                <a:spcPts val="200"/>
              </a:spcAft>
            </a:pPr>
            <a:r>
              <a:rPr sz="1200" b="0" i="0">
                <a:solidFill>
                  <a:srgbClr val="182533"/>
                </a:solidFill>
                <a:latin typeface="Arial"/>
                <a:ea typeface="Microsoft YaHei"/>
                <a:cs typeface="Arial"/>
              </a:rPr>
              <a:t>current=[amlodipine]</a:t>
            </a:r>
          </a:p>
        </p:txBody>
      </p:sp>
      <p:cxnSp>
        <p:nvCxnSpPr>
          <p:cNvPr id="12" name="Connector 11"/>
          <p:cNvCxnSpPr/>
          <p:nvPr/>
        </p:nvCxnSpPr>
        <p:spPr>
          <a:xfrm>
            <a:off x="950976" y="2971800"/>
            <a:ext cx="4751679"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50976" y="3044952"/>
            <a:ext cx="4751679" cy="256032"/>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0E7490"/>
                </a:solidFill>
                <a:latin typeface="Arial"/>
                <a:ea typeface="Microsoft YaHei"/>
                <a:cs typeface="Arial"/>
              </a:rPr>
              <a:t>Zero reading burden — pure reasoning</a:t>
            </a:r>
          </a:p>
        </p:txBody>
      </p:sp>
      <p:sp>
        <p:nvSpPr>
          <p:cNvPr id="14" name="Rectangle 13"/>
          <p:cNvSpPr/>
          <p:nvPr/>
        </p:nvSpPr>
        <p:spPr>
          <a:xfrm>
            <a:off x="6251295" y="1499616"/>
            <a:ext cx="5227167" cy="1874519"/>
          </a:xfrm>
          <a:prstGeom prst="rect">
            <a:avLst/>
          </a:prstGeom>
          <a:solidFill>
            <a:srgbClr val="FFFFFF"/>
          </a:solidFill>
          <a:ln w="2032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5" name="Rectangle 14"/>
          <p:cNvSpPr/>
          <p:nvPr/>
        </p:nvSpPr>
        <p:spPr>
          <a:xfrm>
            <a:off x="6251295" y="1499616"/>
            <a:ext cx="5227167" cy="3108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6" name="TextBox 15"/>
          <p:cNvSpPr txBox="1"/>
          <p:nvPr/>
        </p:nvSpPr>
        <p:spPr>
          <a:xfrm>
            <a:off x="6470751" y="1554480"/>
            <a:ext cx="4788255" cy="219456"/>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FFFFFF"/>
                </a:solidFill>
                <a:latin typeface="Arial"/>
                <a:ea typeface="Microsoft YaHei"/>
                <a:cs typeface="Arial"/>
              </a:rPr>
              <a:t>Sheet B · clinical narrative</a:t>
            </a:r>
          </a:p>
        </p:txBody>
      </p:sp>
      <p:sp>
        <p:nvSpPr>
          <p:cNvPr id="17" name="TextBox 16"/>
          <p:cNvSpPr txBox="1"/>
          <p:nvPr/>
        </p:nvSpPr>
        <p:spPr>
          <a:xfrm>
            <a:off x="6489039" y="1975104"/>
            <a:ext cx="4751679" cy="914399"/>
          </a:xfrm>
          <a:prstGeom prst="rect">
            <a:avLst/>
          </a:prstGeom>
          <a:noFill/>
        </p:spPr>
        <p:txBody>
          <a:bodyPr wrap="square" lIns="0" rIns="0" tIns="0" bIns="0" anchor="t">
            <a:spAutoFit/>
          </a:bodyPr>
          <a:lstStyle/>
          <a:p>
            <a:pPr algn="l">
              <a:lnSpc>
                <a:spcPct val="136000"/>
              </a:lnSpc>
              <a:spcBef>
                <a:spcPts val="0"/>
              </a:spcBef>
              <a:spcAft>
                <a:spcPts val="200"/>
              </a:spcAft>
            </a:pPr>
            <a:r>
              <a:rPr sz="1200" b="0" i="0">
                <a:solidFill>
                  <a:srgbClr val="182533"/>
                </a:solidFill>
                <a:latin typeface="Arial"/>
                <a:ea typeface="Microsoft YaHei"/>
                <a:cs typeface="Arial"/>
              </a:rPr>
              <a:t>"A 58-year-old man returns for follow-up of elevated blood pressure.</a:t>
            </a:r>
          </a:p>
          <a:p>
            <a:pPr>
              <a:lnSpc>
                <a:spcPct val="136000"/>
              </a:lnSpc>
              <a:spcBef>
                <a:spcPts val="0"/>
              </a:spcBef>
              <a:spcAft>
                <a:spcPts val="200"/>
              </a:spcAft>
            </a:pPr>
            <a:r>
              <a:rPr sz="1200" b="0" i="0">
                <a:solidFill>
                  <a:srgbClr val="182533"/>
                </a:solidFill>
                <a:latin typeface="Arial"/>
                <a:ea typeface="Microsoft YaHei"/>
                <a:cs typeface="Arial"/>
              </a:rPr>
              <a:t>He has been on one antihypertensive for six months. Long-standing</a:t>
            </a:r>
          </a:p>
          <a:p>
            <a:pPr>
              <a:lnSpc>
                <a:spcPct val="136000"/>
              </a:lnSpc>
              <a:spcBef>
                <a:spcPts val="0"/>
              </a:spcBef>
              <a:spcAft>
                <a:spcPts val="200"/>
              </a:spcAft>
            </a:pPr>
            <a:r>
              <a:rPr sz="1200" b="0" i="0">
                <a:solidFill>
                  <a:srgbClr val="182533"/>
                </a:solidFill>
                <a:latin typeface="Arial"/>
                <a:ea typeface="Microsoft YaHei"/>
                <a:cs typeface="Arial"/>
              </a:rPr>
              <a:t>diabetes; recent labs show a mildly raised creatinine..."</a:t>
            </a:r>
          </a:p>
        </p:txBody>
      </p:sp>
      <p:cxnSp>
        <p:nvCxnSpPr>
          <p:cNvPr id="18" name="Connector 17"/>
          <p:cNvCxnSpPr/>
          <p:nvPr/>
        </p:nvCxnSpPr>
        <p:spPr>
          <a:xfrm>
            <a:off x="6489039" y="2971800"/>
            <a:ext cx="4751680"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89039" y="3044952"/>
            <a:ext cx="4751679" cy="256032"/>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B45309"/>
                </a:solidFill>
                <a:latin typeface="Arial"/>
                <a:ea typeface="Microsoft YaHei"/>
                <a:cs typeface="Arial"/>
              </a:rPr>
              <a:t>Read first, then reason</a:t>
            </a:r>
          </a:p>
        </p:txBody>
      </p:sp>
      <p:sp>
        <p:nvSpPr>
          <p:cNvPr id="20" name="Rectangle 19"/>
          <p:cNvSpPr/>
          <p:nvPr/>
        </p:nvSpPr>
        <p:spPr>
          <a:xfrm>
            <a:off x="713232" y="3685032"/>
            <a:ext cx="10765231" cy="713232"/>
          </a:xfrm>
          <a:prstGeom prst="rect">
            <a:avLst/>
          </a:prstGeom>
          <a:solidFill>
            <a:srgbClr val="1825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1" name="TextBox 20"/>
          <p:cNvSpPr txBox="1"/>
          <p:nvPr/>
        </p:nvSpPr>
        <p:spPr>
          <a:xfrm>
            <a:off x="713232" y="3867912"/>
            <a:ext cx="10765231" cy="384048"/>
          </a:xfrm>
          <a:prstGeom prst="rect">
            <a:avLst/>
          </a:prstGeom>
          <a:noFill/>
        </p:spPr>
        <p:txBody>
          <a:bodyPr wrap="square" lIns="0" rIns="0" tIns="0" bIns="0" anchor="t">
            <a:spAutoFit/>
          </a:bodyPr>
          <a:lstStyle/>
          <a:p>
            <a:pPr algn="ctr">
              <a:lnSpc>
                <a:spcPct val="122000"/>
              </a:lnSpc>
              <a:spcBef>
                <a:spcPts val="0"/>
              </a:spcBef>
              <a:spcAft>
                <a:spcPts val="0"/>
              </a:spcAft>
            </a:pPr>
            <a:r>
              <a:rPr sz="1700" b="1" i="0">
                <a:solidFill>
                  <a:srgbClr val="FFFFFF"/>
                </a:solidFill>
                <a:latin typeface="Arial"/>
                <a:ea typeface="Microsoft YaHei"/>
                <a:cs typeface="Arial"/>
              </a:rPr>
              <a:t>score on Sheet A  −  score on Sheet B  =  the cost of not reading the chart</a:t>
            </a:r>
          </a:p>
        </p:txBody>
      </p:sp>
      <p:sp>
        <p:nvSpPr>
          <p:cNvPr id="22" name="Oval 21"/>
          <p:cNvSpPr/>
          <p:nvPr/>
        </p:nvSpPr>
        <p:spPr>
          <a:xfrm>
            <a:off x="731520" y="4782312"/>
            <a:ext cx="54864" cy="5486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3" name="TextBox 22"/>
          <p:cNvSpPr txBox="1"/>
          <p:nvPr/>
        </p:nvSpPr>
        <p:spPr>
          <a:xfrm>
            <a:off x="987552" y="4690872"/>
            <a:ext cx="10490911" cy="533908"/>
          </a:xfrm>
          <a:prstGeom prst="rect">
            <a:avLst/>
          </a:prstGeom>
          <a:noFill/>
        </p:spPr>
        <p:txBody>
          <a:bodyPr wrap="square" lIns="0" rIns="0" tIns="0" bIns="0" anchor="t">
            <a:spAutoFit/>
          </a:bodyPr>
          <a:lstStyle/>
          <a:p>
            <a:pPr algn="l">
              <a:lnSpc>
                <a:spcPct val="134000"/>
              </a:lnSpc>
              <a:spcBef>
                <a:spcPts val="0"/>
              </a:spcBef>
              <a:spcAft>
                <a:spcPts val="0"/>
              </a:spcAft>
            </a:pPr>
            <a:r>
              <a:rPr sz="1300" b="0" i="0">
                <a:solidFill>
                  <a:srgbClr val="475A6B"/>
                </a:solidFill>
                <a:latin typeface="Arial"/>
                <a:ea typeface="Microsoft YaHei"/>
                <a:cs typeface="Arial"/>
              </a:rPr>
              <a:t>Both sheets carry exactly the same decision-relevant facts and differ only in wording — enforced by a test, not by a promise in the methods section.</a:t>
            </a:r>
          </a:p>
        </p:txBody>
      </p:sp>
      <p:sp>
        <p:nvSpPr>
          <p:cNvPr id="24" name="Oval 23"/>
          <p:cNvSpPr/>
          <p:nvPr/>
        </p:nvSpPr>
        <p:spPr>
          <a:xfrm>
            <a:off x="731520" y="5343652"/>
            <a:ext cx="54864" cy="5486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5" name="TextBox 24"/>
          <p:cNvSpPr txBox="1"/>
          <p:nvPr/>
        </p:nvSpPr>
        <p:spPr>
          <a:xfrm>
            <a:off x="987552" y="5252212"/>
            <a:ext cx="10490911" cy="312674"/>
          </a:xfrm>
          <a:prstGeom prst="rect">
            <a:avLst/>
          </a:prstGeom>
          <a:noFill/>
        </p:spPr>
        <p:txBody>
          <a:bodyPr wrap="square" lIns="0" rIns="0" tIns="0" bIns="0" anchor="t">
            <a:spAutoFit/>
          </a:bodyPr>
          <a:lstStyle/>
          <a:p>
            <a:pPr algn="l">
              <a:lnSpc>
                <a:spcPct val="134000"/>
              </a:lnSpc>
              <a:spcBef>
                <a:spcPts val="0"/>
              </a:spcBef>
              <a:spcAft>
                <a:spcPts val="0"/>
              </a:spcAft>
            </a:pPr>
            <a:r>
              <a:rPr sz="1300" b="0" i="0">
                <a:solidFill>
                  <a:srgbClr val="475A6B"/>
                </a:solidFill>
                <a:latin typeface="Arial"/>
                <a:ea typeface="Microsoft YaHei"/>
                <a:cs typeface="Arial"/>
              </a:rPr>
              <a:t>So a drop across levels can only be attributed to reading. It cannot be a fact that was quietly withheld.</a:t>
            </a:r>
          </a:p>
        </p:txBody>
      </p:sp>
      <p:sp>
        <p:nvSpPr>
          <p:cNvPr id="26" name="Oval 25"/>
          <p:cNvSpPr/>
          <p:nvPr/>
        </p:nvSpPr>
        <p:spPr>
          <a:xfrm>
            <a:off x="731520" y="5683758"/>
            <a:ext cx="54864" cy="5486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7" name="TextBox 26"/>
          <p:cNvSpPr txBox="1"/>
          <p:nvPr/>
        </p:nvSpPr>
        <p:spPr>
          <a:xfrm>
            <a:off x="987552" y="5592318"/>
            <a:ext cx="10490911" cy="533908"/>
          </a:xfrm>
          <a:prstGeom prst="rect">
            <a:avLst/>
          </a:prstGeom>
          <a:noFill/>
        </p:spPr>
        <p:txBody>
          <a:bodyPr wrap="square" lIns="0" rIns="0" tIns="0" bIns="0" anchor="t">
            <a:spAutoFit/>
          </a:bodyPr>
          <a:lstStyle/>
          <a:p>
            <a:pPr algn="l">
              <a:lnSpc>
                <a:spcPct val="134000"/>
              </a:lnSpc>
              <a:spcBef>
                <a:spcPts val="0"/>
              </a:spcBef>
              <a:spcAft>
                <a:spcPts val="0"/>
              </a:spcAft>
            </a:pPr>
            <a:r>
              <a:rPr sz="1300" b="0" i="0">
                <a:solidFill>
                  <a:srgbClr val="475A6B"/>
                </a:solidFill>
                <a:latin typeface="Arial"/>
                <a:ea typeface="Microsoft YaHei"/>
                <a:cs typeface="Arial"/>
              </a:rPr>
              <a:t>The closest prior result did this on 80 patients with manually written summaries. We can do it on 4,806 with a deterministic renderer.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ARCHITECTURE</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Five components, one pipeline</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8</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63040"/>
            <a:ext cx="3289706" cy="603504"/>
          </a:xfrm>
          <a:prstGeom prst="rect">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TextBox 8"/>
          <p:cNvSpPr txBox="1"/>
          <p:nvPr/>
        </p:nvSpPr>
        <p:spPr>
          <a:xfrm>
            <a:off x="877824" y="1563624"/>
            <a:ext cx="2960522" cy="438912"/>
          </a:xfrm>
          <a:prstGeom prst="rect">
            <a:avLst/>
          </a:prstGeom>
          <a:noFill/>
        </p:spPr>
        <p:txBody>
          <a:bodyPr wrap="square" lIns="0" rIns="0" tIns="0" bIns="0" anchor="t">
            <a:spAutoFit/>
          </a:bodyPr>
          <a:lstStyle/>
          <a:p>
            <a:pPr algn="ctr">
              <a:lnSpc>
                <a:spcPct val="120000"/>
              </a:lnSpc>
              <a:spcBef>
                <a:spcPts val="0"/>
              </a:spcBef>
              <a:spcAft>
                <a:spcPts val="0"/>
              </a:spcAft>
            </a:pPr>
            <a:r>
              <a:rPr sz="1200" b="1" i="0">
                <a:solidFill>
                  <a:srgbClr val="182533"/>
                </a:solidFill>
                <a:latin typeface="Arial"/>
                <a:ea typeface="Microsoft YaHei"/>
                <a:cs typeface="Arial"/>
              </a:rPr>
              <a:t>NHANES 2017–18</a:t>
            </a:r>
          </a:p>
          <a:p>
            <a:pPr algn="ctr">
              <a:lnSpc>
                <a:spcPct val="120000"/>
              </a:lnSpc>
              <a:spcBef>
                <a:spcPts val="0"/>
              </a:spcBef>
              <a:spcAft>
                <a:spcPts val="0"/>
              </a:spcAft>
            </a:pPr>
            <a:r>
              <a:rPr sz="1050" b="0" i="0">
                <a:solidFill>
                  <a:srgbClr val="748694"/>
                </a:solidFill>
                <a:latin typeface="Arial"/>
                <a:ea typeface="Microsoft YaHei"/>
                <a:cs typeface="Arial"/>
              </a:rPr>
              <a:t>US national survey</a:t>
            </a:r>
          </a:p>
        </p:txBody>
      </p:sp>
      <p:sp>
        <p:nvSpPr>
          <p:cNvPr id="10" name="Rectangle 9"/>
          <p:cNvSpPr/>
          <p:nvPr/>
        </p:nvSpPr>
        <p:spPr>
          <a:xfrm>
            <a:off x="4450994" y="1463040"/>
            <a:ext cx="3289706" cy="603504"/>
          </a:xfrm>
          <a:prstGeom prst="rect">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1" name="TextBox 10"/>
          <p:cNvSpPr txBox="1"/>
          <p:nvPr/>
        </p:nvSpPr>
        <p:spPr>
          <a:xfrm>
            <a:off x="4615586" y="1563624"/>
            <a:ext cx="2960522" cy="438912"/>
          </a:xfrm>
          <a:prstGeom prst="rect">
            <a:avLst/>
          </a:prstGeom>
          <a:noFill/>
        </p:spPr>
        <p:txBody>
          <a:bodyPr wrap="square" lIns="0" rIns="0" tIns="0" bIns="0" anchor="t">
            <a:spAutoFit/>
          </a:bodyPr>
          <a:lstStyle/>
          <a:p>
            <a:pPr algn="ctr">
              <a:lnSpc>
                <a:spcPct val="120000"/>
              </a:lnSpc>
              <a:spcBef>
                <a:spcPts val="0"/>
              </a:spcBef>
              <a:spcAft>
                <a:spcPts val="0"/>
              </a:spcAft>
            </a:pPr>
            <a:r>
              <a:rPr sz="1200" b="1" i="0">
                <a:solidFill>
                  <a:srgbClr val="182533"/>
                </a:solidFill>
                <a:latin typeface="Arial"/>
                <a:ea typeface="Microsoft YaHei"/>
                <a:cs typeface="Arial"/>
              </a:rPr>
              <a:t>MIMIC-IV</a:t>
            </a:r>
          </a:p>
          <a:p>
            <a:pPr algn="ctr">
              <a:lnSpc>
                <a:spcPct val="120000"/>
              </a:lnSpc>
              <a:spcBef>
                <a:spcPts val="0"/>
              </a:spcBef>
              <a:spcAft>
                <a:spcPts val="0"/>
              </a:spcAft>
            </a:pPr>
            <a:r>
              <a:rPr sz="1050" b="0" i="0">
                <a:solidFill>
                  <a:srgbClr val="748694"/>
                </a:solidFill>
                <a:latin typeface="Arial"/>
                <a:ea typeface="Microsoft YaHei"/>
                <a:cs typeface="Arial"/>
              </a:rPr>
              <a:t>real inpatient records</a:t>
            </a:r>
          </a:p>
        </p:txBody>
      </p:sp>
      <p:sp>
        <p:nvSpPr>
          <p:cNvPr id="12" name="Rectangle 11"/>
          <p:cNvSpPr/>
          <p:nvPr/>
        </p:nvSpPr>
        <p:spPr>
          <a:xfrm>
            <a:off x="8188756" y="1463040"/>
            <a:ext cx="3289706" cy="603504"/>
          </a:xfrm>
          <a:prstGeom prst="rect">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3" name="TextBox 12"/>
          <p:cNvSpPr txBox="1"/>
          <p:nvPr/>
        </p:nvSpPr>
        <p:spPr>
          <a:xfrm>
            <a:off x="8353348" y="1563624"/>
            <a:ext cx="2960522" cy="438912"/>
          </a:xfrm>
          <a:prstGeom prst="rect">
            <a:avLst/>
          </a:prstGeom>
          <a:noFill/>
        </p:spPr>
        <p:txBody>
          <a:bodyPr wrap="square" lIns="0" rIns="0" tIns="0" bIns="0" anchor="t">
            <a:spAutoFit/>
          </a:bodyPr>
          <a:lstStyle/>
          <a:p>
            <a:pPr algn="ctr">
              <a:lnSpc>
                <a:spcPct val="120000"/>
              </a:lnSpc>
              <a:spcBef>
                <a:spcPts val="0"/>
              </a:spcBef>
              <a:spcAft>
                <a:spcPts val="0"/>
              </a:spcAft>
            </a:pPr>
            <a:r>
              <a:rPr sz="1200" b="1" i="0">
                <a:solidFill>
                  <a:srgbClr val="182533"/>
                </a:solidFill>
                <a:latin typeface="Arial"/>
                <a:ea typeface="Microsoft YaHei"/>
                <a:cs typeface="Arial"/>
              </a:rPr>
              <a:t>MIMIC-IV-ED</a:t>
            </a:r>
          </a:p>
          <a:p>
            <a:pPr algn="ctr">
              <a:lnSpc>
                <a:spcPct val="120000"/>
              </a:lnSpc>
              <a:spcBef>
                <a:spcPts val="0"/>
              </a:spcBef>
              <a:spcAft>
                <a:spcPts val="0"/>
              </a:spcAft>
            </a:pPr>
            <a:r>
              <a:rPr sz="1050" b="0" i="0">
                <a:solidFill>
                  <a:srgbClr val="748694"/>
                </a:solidFill>
                <a:latin typeface="Arial"/>
                <a:ea typeface="Microsoft YaHei"/>
                <a:cs typeface="Arial"/>
              </a:rPr>
              <a:t>medication reconciliation</a:t>
            </a:r>
          </a:p>
        </p:txBody>
      </p:sp>
      <p:sp>
        <p:nvSpPr>
          <p:cNvPr id="14" name="Down Arrow 13"/>
          <p:cNvSpPr/>
          <p:nvPr/>
        </p:nvSpPr>
        <p:spPr>
          <a:xfrm>
            <a:off x="5949543" y="2121408"/>
            <a:ext cx="292608" cy="274320"/>
          </a:xfrm>
          <a:prstGeom prst="down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2450592"/>
            <a:ext cx="10765231" cy="658368"/>
          </a:xfrm>
          <a:prstGeom prst="rect">
            <a:avLst/>
          </a:prstGeom>
          <a:solidFill>
            <a:srgbClr val="094F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6" name="TextBox 15"/>
          <p:cNvSpPr txBox="1"/>
          <p:nvPr/>
        </p:nvSpPr>
        <p:spPr>
          <a:xfrm>
            <a:off x="713232" y="2551176"/>
            <a:ext cx="10765231" cy="475488"/>
          </a:xfrm>
          <a:prstGeom prst="rect">
            <a:avLst/>
          </a:prstGeom>
          <a:noFill/>
        </p:spPr>
        <p:txBody>
          <a:bodyPr wrap="square" lIns="0" rIns="0" tIns="0" bIns="0" anchor="t">
            <a:spAutoFit/>
          </a:bodyPr>
          <a:lstStyle/>
          <a:p>
            <a:pPr algn="ctr">
              <a:lnSpc>
                <a:spcPct val="122000"/>
              </a:lnSpc>
              <a:spcBef>
                <a:spcPts val="0"/>
              </a:spcBef>
              <a:spcAft>
                <a:spcPts val="100"/>
              </a:spcAft>
            </a:pPr>
            <a:r>
              <a:rPr sz="1400" b="1" i="0">
                <a:solidFill>
                  <a:srgbClr val="FFFFFF"/>
                </a:solidFill>
                <a:latin typeface="Arial"/>
                <a:ea typeface="Microsoft YaHei"/>
                <a:cs typeface="Arial"/>
              </a:rPr>
              <a:t>Canonical PatientProfile</a:t>
            </a:r>
          </a:p>
          <a:p>
            <a:pPr algn="ctr">
              <a:lnSpc>
                <a:spcPct val="120000"/>
              </a:lnSpc>
              <a:spcBef>
                <a:spcPts val="0"/>
              </a:spcBef>
              <a:spcAft>
                <a:spcPts val="0"/>
              </a:spcAft>
            </a:pPr>
            <a:r>
              <a:rPr sz="1050" b="0" i="0">
                <a:solidFill>
                  <a:srgbClr val="A8D8E4"/>
                </a:solidFill>
                <a:latin typeface="Arial"/>
                <a:ea typeface="Microsoft YaHei"/>
                <a:cs typeface="Arial"/>
              </a:rPr>
              <a:t>every source collapses to one table; downstream code never branches on provenance</a:t>
            </a:r>
          </a:p>
        </p:txBody>
      </p:sp>
      <p:sp>
        <p:nvSpPr>
          <p:cNvPr id="17" name="Down Arrow 16"/>
          <p:cNvSpPr/>
          <p:nvPr/>
        </p:nvSpPr>
        <p:spPr>
          <a:xfrm>
            <a:off x="3146221" y="3145536"/>
            <a:ext cx="256032" cy="237744"/>
          </a:xfrm>
          <a:prstGeom prst="down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17"/>
          <p:cNvSpPr/>
          <p:nvPr/>
        </p:nvSpPr>
        <p:spPr>
          <a:xfrm>
            <a:off x="8789441" y="3145536"/>
            <a:ext cx="256032" cy="237744"/>
          </a:xfrm>
          <a:prstGeom prst="downArrow">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3419856"/>
            <a:ext cx="5122011" cy="566928"/>
          </a:xfrm>
          <a:prstGeom prst="rect">
            <a:avLst/>
          </a:prstGeom>
          <a:solidFill>
            <a:srgbClr val="FFFFFF"/>
          </a:solidFill>
          <a:ln w="2032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0" name="TextBox 19"/>
          <p:cNvSpPr txBox="1"/>
          <p:nvPr/>
        </p:nvSpPr>
        <p:spPr>
          <a:xfrm>
            <a:off x="896112" y="3502152"/>
            <a:ext cx="4756251" cy="420624"/>
          </a:xfrm>
          <a:prstGeom prst="rect">
            <a:avLst/>
          </a:prstGeom>
          <a:noFill/>
        </p:spPr>
        <p:txBody>
          <a:bodyPr wrap="square" lIns="0" rIns="0" tIns="0" bIns="0" anchor="t">
            <a:spAutoFit/>
          </a:bodyPr>
          <a:lstStyle/>
          <a:p>
            <a:pPr algn="ctr">
              <a:lnSpc>
                <a:spcPct val="120000"/>
              </a:lnSpc>
              <a:spcBef>
                <a:spcPts val="0"/>
              </a:spcBef>
              <a:spcAft>
                <a:spcPts val="0"/>
              </a:spcAft>
            </a:pPr>
            <a:r>
              <a:rPr sz="1350" b="1" i="0">
                <a:solidFill>
                  <a:srgbClr val="182533"/>
                </a:solidFill>
                <a:latin typeface="Arial"/>
                <a:ea typeface="Microsoft YaHei"/>
                <a:cs typeface="Arial"/>
              </a:rPr>
              <a:t>Guideline engine</a:t>
            </a:r>
          </a:p>
          <a:p>
            <a:pPr algn="ctr">
              <a:lnSpc>
                <a:spcPct val="120000"/>
              </a:lnSpc>
              <a:spcBef>
                <a:spcPts val="0"/>
              </a:spcBef>
              <a:spcAft>
                <a:spcPts val="0"/>
              </a:spcAft>
            </a:pPr>
            <a:r>
              <a:rPr sz="1050" b="0" i="0">
                <a:solidFill>
                  <a:srgbClr val="748694"/>
                </a:solidFill>
                <a:latin typeface="Arial"/>
                <a:ea typeface="Microsoft YaHei"/>
                <a:cs typeface="Arial"/>
              </a:rPr>
              <a:t>(the answer key)</a:t>
            </a:r>
          </a:p>
        </p:txBody>
      </p:sp>
      <p:sp>
        <p:nvSpPr>
          <p:cNvPr id="21" name="Down Arrow 20"/>
          <p:cNvSpPr/>
          <p:nvPr/>
        </p:nvSpPr>
        <p:spPr>
          <a:xfrm>
            <a:off x="3146221" y="4023360"/>
            <a:ext cx="256032" cy="219456"/>
          </a:xfrm>
          <a:prstGeom prst="down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 y="4279392"/>
            <a:ext cx="5122011" cy="60350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3" name="TextBox 22"/>
          <p:cNvSpPr txBox="1"/>
          <p:nvPr/>
        </p:nvSpPr>
        <p:spPr>
          <a:xfrm>
            <a:off x="896112" y="4379976"/>
            <a:ext cx="4756251" cy="457200"/>
          </a:xfrm>
          <a:prstGeom prst="rect">
            <a:avLst/>
          </a:prstGeom>
          <a:noFill/>
        </p:spPr>
        <p:txBody>
          <a:bodyPr wrap="square" lIns="0" rIns="0" tIns="0" bIns="0" anchor="t">
            <a:spAutoFit/>
          </a:bodyPr>
          <a:lstStyle/>
          <a:p>
            <a:pPr algn="ctr">
              <a:lnSpc>
                <a:spcPct val="120000"/>
              </a:lnSpc>
              <a:spcBef>
                <a:spcPts val="0"/>
              </a:spcBef>
              <a:spcAft>
                <a:spcPts val="0"/>
              </a:spcAft>
            </a:pPr>
            <a:r>
              <a:rPr sz="1250" b="1" i="0">
                <a:solidFill>
                  <a:srgbClr val="182533"/>
                </a:solidFill>
                <a:latin typeface="Arial"/>
                <a:ea typeface="Microsoft YaHei"/>
                <a:cs typeface="Arial"/>
              </a:rPr>
              <a:t>decision + citations + reasoning trace</a:t>
            </a:r>
          </a:p>
          <a:p>
            <a:pPr algn="ctr">
              <a:lnSpc>
                <a:spcPct val="120000"/>
              </a:lnSpc>
              <a:spcBef>
                <a:spcPts val="0"/>
              </a:spcBef>
              <a:spcAft>
                <a:spcPts val="0"/>
              </a:spcAft>
            </a:pPr>
            <a:r>
              <a:rPr sz="1050" b="1" i="0">
                <a:solidFill>
                  <a:srgbClr val="0E7490"/>
                </a:solidFill>
                <a:latin typeface="Arial"/>
                <a:ea typeface="Microsoft YaHei"/>
                <a:cs typeface="Arial"/>
              </a:rPr>
              <a:t>[hidden from the model throughout]</a:t>
            </a:r>
          </a:p>
        </p:txBody>
      </p:sp>
      <p:sp>
        <p:nvSpPr>
          <p:cNvPr id="24" name="Rectangle 23"/>
          <p:cNvSpPr/>
          <p:nvPr/>
        </p:nvSpPr>
        <p:spPr>
          <a:xfrm>
            <a:off x="6356451" y="3419856"/>
            <a:ext cx="5122011" cy="566928"/>
          </a:xfrm>
          <a:prstGeom prst="rect">
            <a:avLst/>
          </a:prstGeom>
          <a:solidFill>
            <a:srgbClr val="FFFFFF"/>
          </a:solidFill>
          <a:ln w="2032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5" name="TextBox 24"/>
          <p:cNvSpPr txBox="1"/>
          <p:nvPr/>
        </p:nvSpPr>
        <p:spPr>
          <a:xfrm>
            <a:off x="6539331" y="3502152"/>
            <a:ext cx="4756251" cy="420624"/>
          </a:xfrm>
          <a:prstGeom prst="rect">
            <a:avLst/>
          </a:prstGeom>
          <a:noFill/>
        </p:spPr>
        <p:txBody>
          <a:bodyPr wrap="square" lIns="0" rIns="0" tIns="0" bIns="0" anchor="t">
            <a:spAutoFit/>
          </a:bodyPr>
          <a:lstStyle/>
          <a:p>
            <a:pPr algn="ctr">
              <a:lnSpc>
                <a:spcPct val="120000"/>
              </a:lnSpc>
              <a:spcBef>
                <a:spcPts val="0"/>
              </a:spcBef>
              <a:spcAft>
                <a:spcPts val="0"/>
              </a:spcAft>
            </a:pPr>
            <a:r>
              <a:rPr sz="1350" b="1" i="0">
                <a:solidFill>
                  <a:srgbClr val="182533"/>
                </a:solidFill>
                <a:latin typeface="Arial"/>
                <a:ea typeface="Microsoft YaHei"/>
                <a:cs typeface="Arial"/>
              </a:rPr>
              <a:t>Vignette renderer</a:t>
            </a:r>
          </a:p>
          <a:p>
            <a:pPr algn="ctr">
              <a:lnSpc>
                <a:spcPct val="120000"/>
              </a:lnSpc>
              <a:spcBef>
                <a:spcPts val="0"/>
              </a:spcBef>
              <a:spcAft>
                <a:spcPts val="0"/>
              </a:spcAft>
            </a:pPr>
            <a:r>
              <a:rPr sz="1050" b="0" i="0">
                <a:solidFill>
                  <a:srgbClr val="748694"/>
                </a:solidFill>
                <a:latin typeface="Arial"/>
                <a:ea typeface="Microsoft YaHei"/>
                <a:cs typeface="Arial"/>
              </a:rPr>
              <a:t>(three difficulty levels)</a:t>
            </a:r>
          </a:p>
        </p:txBody>
      </p:sp>
      <p:sp>
        <p:nvSpPr>
          <p:cNvPr id="26" name="Down Arrow 25"/>
          <p:cNvSpPr/>
          <p:nvPr/>
        </p:nvSpPr>
        <p:spPr>
          <a:xfrm>
            <a:off x="8789441" y="4023360"/>
            <a:ext cx="256032" cy="219456"/>
          </a:xfrm>
          <a:prstGeom prst="downArrow">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6451" y="4279392"/>
            <a:ext cx="5122011" cy="60350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8" name="TextBox 27"/>
          <p:cNvSpPr txBox="1"/>
          <p:nvPr/>
        </p:nvSpPr>
        <p:spPr>
          <a:xfrm>
            <a:off x="6539331" y="4379976"/>
            <a:ext cx="4756251" cy="457200"/>
          </a:xfrm>
          <a:prstGeom prst="rect">
            <a:avLst/>
          </a:prstGeom>
          <a:noFill/>
        </p:spPr>
        <p:txBody>
          <a:bodyPr wrap="square" lIns="0" rIns="0" tIns="0" bIns="0" anchor="t">
            <a:spAutoFit/>
          </a:bodyPr>
          <a:lstStyle/>
          <a:p>
            <a:pPr algn="ctr">
              <a:lnSpc>
                <a:spcPct val="120000"/>
              </a:lnSpc>
              <a:spcBef>
                <a:spcPts val="0"/>
              </a:spcBef>
              <a:spcAft>
                <a:spcPts val="0"/>
              </a:spcAft>
            </a:pPr>
            <a:r>
              <a:rPr sz="1250" b="1" i="0">
                <a:solidFill>
                  <a:srgbClr val="182533"/>
                </a:solidFill>
                <a:latin typeface="Arial"/>
                <a:ea typeface="Microsoft YaHei"/>
                <a:cs typeface="Arial"/>
              </a:rPr>
              <a:t>LLM</a:t>
            </a:r>
          </a:p>
          <a:p>
            <a:pPr algn="ctr">
              <a:lnSpc>
                <a:spcPct val="120000"/>
              </a:lnSpc>
              <a:spcBef>
                <a:spcPts val="0"/>
              </a:spcBef>
              <a:spcAft>
                <a:spcPts val="0"/>
              </a:spcAft>
            </a:pPr>
            <a:r>
              <a:rPr sz="1050" b="1" i="0">
                <a:solidFill>
                  <a:srgbClr val="B45309"/>
                </a:solidFill>
                <a:latin typeface="Arial"/>
                <a:ea typeface="Microsoft YaHei"/>
                <a:cs typeface="Arial"/>
              </a:rPr>
              <a:t>(structured output)</a:t>
            </a:r>
          </a:p>
        </p:txBody>
      </p:sp>
      <p:sp>
        <p:nvSpPr>
          <p:cNvPr id="29" name="Down Arrow 28"/>
          <p:cNvSpPr/>
          <p:nvPr/>
        </p:nvSpPr>
        <p:spPr>
          <a:xfrm>
            <a:off x="3146221" y="4901183"/>
            <a:ext cx="256032" cy="219456"/>
          </a:xfrm>
          <a:prstGeom prst="downArrow">
            <a:avLst/>
          </a:prstGeom>
          <a:solidFill>
            <a:srgbClr val="47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own Arrow 29"/>
          <p:cNvSpPr/>
          <p:nvPr/>
        </p:nvSpPr>
        <p:spPr>
          <a:xfrm>
            <a:off x="8789441" y="4901183"/>
            <a:ext cx="256032" cy="219456"/>
          </a:xfrm>
          <a:prstGeom prst="downArrow">
            <a:avLst/>
          </a:prstGeom>
          <a:solidFill>
            <a:srgbClr val="47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 y="5157216"/>
            <a:ext cx="10765231" cy="512064"/>
          </a:xfrm>
          <a:prstGeom prst="rect">
            <a:avLst/>
          </a:prstGeom>
          <a:solidFill>
            <a:srgbClr val="1825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2" name="TextBox 31"/>
          <p:cNvSpPr txBox="1"/>
          <p:nvPr/>
        </p:nvSpPr>
        <p:spPr>
          <a:xfrm>
            <a:off x="713232" y="5285231"/>
            <a:ext cx="10765231" cy="310896"/>
          </a:xfrm>
          <a:prstGeom prst="rect">
            <a:avLst/>
          </a:prstGeom>
          <a:noFill/>
        </p:spPr>
        <p:txBody>
          <a:bodyPr wrap="square" lIns="0" rIns="0" tIns="0" bIns="0" anchor="t">
            <a:spAutoFit/>
          </a:bodyPr>
          <a:lstStyle/>
          <a:p>
            <a:pPr algn="ctr">
              <a:lnSpc>
                <a:spcPct val="122000"/>
              </a:lnSpc>
              <a:spcBef>
                <a:spcPts val="0"/>
              </a:spcBef>
              <a:spcAft>
                <a:spcPts val="0"/>
              </a:spcAft>
            </a:pPr>
            <a:r>
              <a:rPr sz="1350" b="1" i="0">
                <a:solidFill>
                  <a:srgbClr val="FFFFFF"/>
                </a:solidFill>
                <a:latin typeface="Arial"/>
                <a:ea typeface="Microsoft YaHei"/>
                <a:cs typeface="Arial"/>
              </a:rPr>
              <a:t>Evaluator → nine metrics + failure-mode attribution report</a:t>
            </a:r>
          </a:p>
        </p:txBody>
      </p:sp>
      <p:sp>
        <p:nvSpPr>
          <p:cNvPr id="33" name="TextBox 32"/>
          <p:cNvSpPr txBox="1"/>
          <p:nvPr/>
        </p:nvSpPr>
        <p:spPr>
          <a:xfrm>
            <a:off x="713232" y="5797296"/>
            <a:ext cx="10765231" cy="45720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748694"/>
                </a:solidFill>
                <a:latin typeface="Arial"/>
                <a:ea typeface="Microsoft YaHei"/>
                <a:cs typeface="Arial"/>
              </a:rPr>
              <a:t>Leakage gate: question files and answer files are physically separate, joined only on case_id. A vignette containing an answer-bearing token is never written.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SCOPE</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Say plainly what is out of scope</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9</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99616"/>
            <a:ext cx="5227167" cy="324612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Rectangle 8"/>
          <p:cNvSpPr/>
          <p:nvPr/>
        </p:nvSpPr>
        <p:spPr>
          <a:xfrm>
            <a:off x="713232" y="1499616"/>
            <a:ext cx="5227167" cy="384048"/>
          </a:xfrm>
          <a:prstGeom prst="rect">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0" name="TextBox 9"/>
          <p:cNvSpPr txBox="1"/>
          <p:nvPr/>
        </p:nvSpPr>
        <p:spPr>
          <a:xfrm>
            <a:off x="950976" y="1591056"/>
            <a:ext cx="4751679" cy="274320"/>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FFFFFF"/>
                </a:solidFill>
                <a:latin typeface="Arial"/>
                <a:ea typeface="Microsoft YaHei"/>
                <a:cs typeface="Arial"/>
              </a:rPr>
              <a:t>In scope (locked)</a:t>
            </a:r>
          </a:p>
        </p:txBody>
      </p:sp>
      <p:sp>
        <p:nvSpPr>
          <p:cNvPr id="11" name="TextBox 10"/>
          <p:cNvSpPr txBox="1"/>
          <p:nvPr/>
        </p:nvSpPr>
        <p:spPr>
          <a:xfrm>
            <a:off x="987552" y="2103120"/>
            <a:ext cx="21945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57F5C"/>
                </a:solidFill>
                <a:latin typeface="Arial"/>
                <a:ea typeface="Microsoft YaHei"/>
                <a:cs typeface="Arial"/>
              </a:rPr>
              <a:t>✓</a:t>
            </a:r>
          </a:p>
        </p:txBody>
      </p:sp>
      <p:sp>
        <p:nvSpPr>
          <p:cNvPr id="12" name="TextBox 11"/>
          <p:cNvSpPr txBox="1"/>
          <p:nvPr/>
        </p:nvSpPr>
        <p:spPr>
          <a:xfrm>
            <a:off x="1261872" y="2103120"/>
            <a:ext cx="4404207" cy="30607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Adult primary hypertension</a:t>
            </a:r>
          </a:p>
        </p:txBody>
      </p:sp>
      <p:sp>
        <p:nvSpPr>
          <p:cNvPr id="13" name="TextBox 12"/>
          <p:cNvSpPr txBox="1"/>
          <p:nvPr/>
        </p:nvSpPr>
        <p:spPr>
          <a:xfrm>
            <a:off x="987552" y="2482342"/>
            <a:ext cx="21945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57F5C"/>
                </a:solidFill>
                <a:latin typeface="Arial"/>
                <a:ea typeface="Microsoft YaHei"/>
                <a:cs typeface="Arial"/>
              </a:rPr>
              <a:t>✓</a:t>
            </a:r>
          </a:p>
        </p:txBody>
      </p:sp>
      <p:sp>
        <p:nvSpPr>
          <p:cNvPr id="14" name="TextBox 13"/>
          <p:cNvSpPr txBox="1"/>
          <p:nvPr/>
        </p:nvSpPr>
        <p:spPr>
          <a:xfrm>
            <a:off x="1261872" y="2482342"/>
            <a:ext cx="4404207" cy="30607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Two decisions: initiate and intensify</a:t>
            </a:r>
          </a:p>
        </p:txBody>
      </p:sp>
      <p:sp>
        <p:nvSpPr>
          <p:cNvPr id="15" name="TextBox 14"/>
          <p:cNvSpPr txBox="1"/>
          <p:nvPr/>
        </p:nvSpPr>
        <p:spPr>
          <a:xfrm>
            <a:off x="987552" y="2861564"/>
            <a:ext cx="21945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57F5C"/>
                </a:solidFill>
                <a:latin typeface="Arial"/>
                <a:ea typeface="Microsoft YaHei"/>
                <a:cs typeface="Arial"/>
              </a:rPr>
              <a:t>✓</a:t>
            </a:r>
          </a:p>
        </p:txBody>
      </p:sp>
      <p:sp>
        <p:nvSpPr>
          <p:cNvPr id="16" name="TextBox 15"/>
          <p:cNvSpPr txBox="1"/>
          <p:nvPr/>
        </p:nvSpPr>
        <p:spPr>
          <a:xfrm>
            <a:off x="1261872" y="2861564"/>
            <a:ext cx="4404207" cy="52070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Three high-value contraindications: pregnancy, prior angioedema, K ≥ 5.5</a:t>
            </a:r>
          </a:p>
        </p:txBody>
      </p:sp>
      <p:sp>
        <p:nvSpPr>
          <p:cNvPr id="17" name="TextBox 16"/>
          <p:cNvSpPr txBox="1"/>
          <p:nvPr/>
        </p:nvSpPr>
        <p:spPr>
          <a:xfrm>
            <a:off x="987552" y="3455416"/>
            <a:ext cx="21945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57F5C"/>
                </a:solidFill>
                <a:latin typeface="Arial"/>
                <a:ea typeface="Microsoft YaHei"/>
                <a:cs typeface="Arial"/>
              </a:rPr>
              <a:t>✓</a:t>
            </a:r>
          </a:p>
        </p:txBody>
      </p:sp>
      <p:sp>
        <p:nvSpPr>
          <p:cNvPr id="18" name="TextBox 17"/>
          <p:cNvSpPr txBox="1"/>
          <p:nvPr/>
        </p:nvSpPr>
        <p:spPr>
          <a:xfrm>
            <a:off x="1261872" y="3455416"/>
            <a:ext cx="4404207" cy="52070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Drug class level (thiazide / ACEi / ARB / dihydropyridine CCB)</a:t>
            </a:r>
          </a:p>
        </p:txBody>
      </p:sp>
      <p:sp>
        <p:nvSpPr>
          <p:cNvPr id="19" name="Rectangle 18"/>
          <p:cNvSpPr/>
          <p:nvPr/>
        </p:nvSpPr>
        <p:spPr>
          <a:xfrm>
            <a:off x="6251295" y="1499616"/>
            <a:ext cx="5227167" cy="324612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0" name="Rectangle 19"/>
          <p:cNvSpPr/>
          <p:nvPr/>
        </p:nvSpPr>
        <p:spPr>
          <a:xfrm>
            <a:off x="6251295" y="1499616"/>
            <a:ext cx="5227167" cy="3840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1" name="TextBox 20"/>
          <p:cNvSpPr txBox="1"/>
          <p:nvPr/>
        </p:nvSpPr>
        <p:spPr>
          <a:xfrm>
            <a:off x="6489039" y="1591056"/>
            <a:ext cx="4751679" cy="274320"/>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FFFFFF"/>
                </a:solidFill>
                <a:latin typeface="Arial"/>
                <a:ea typeface="Microsoft YaHei"/>
                <a:cs typeface="Arial"/>
              </a:rPr>
              <a:t>Out of scope (the engine abstains)</a:t>
            </a:r>
          </a:p>
        </p:txBody>
      </p:sp>
      <p:sp>
        <p:nvSpPr>
          <p:cNvPr id="22" name="TextBox 21"/>
          <p:cNvSpPr txBox="1"/>
          <p:nvPr/>
        </p:nvSpPr>
        <p:spPr>
          <a:xfrm>
            <a:off x="6525615" y="2103120"/>
            <a:ext cx="21945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B45309"/>
                </a:solidFill>
                <a:latin typeface="Arial"/>
                <a:ea typeface="Microsoft YaHei"/>
                <a:cs typeface="Arial"/>
              </a:rPr>
              <a:t>✕</a:t>
            </a:r>
          </a:p>
        </p:txBody>
      </p:sp>
      <p:sp>
        <p:nvSpPr>
          <p:cNvPr id="23" name="TextBox 22"/>
          <p:cNvSpPr txBox="1"/>
          <p:nvPr/>
        </p:nvSpPr>
        <p:spPr>
          <a:xfrm>
            <a:off x="6799935" y="2103120"/>
            <a:ext cx="4404207" cy="30607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Management of hypertension in pregnancy</a:t>
            </a:r>
          </a:p>
        </p:txBody>
      </p:sp>
      <p:sp>
        <p:nvSpPr>
          <p:cNvPr id="24" name="TextBox 23"/>
          <p:cNvSpPr txBox="1"/>
          <p:nvPr/>
        </p:nvSpPr>
        <p:spPr>
          <a:xfrm>
            <a:off x="6525615" y="2482342"/>
            <a:ext cx="21945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B45309"/>
                </a:solidFill>
                <a:latin typeface="Arial"/>
                <a:ea typeface="Microsoft YaHei"/>
                <a:cs typeface="Arial"/>
              </a:rPr>
              <a:t>✕</a:t>
            </a:r>
          </a:p>
        </p:txBody>
      </p:sp>
      <p:sp>
        <p:nvSpPr>
          <p:cNvPr id="25" name="TextBox 24"/>
          <p:cNvSpPr txBox="1"/>
          <p:nvPr/>
        </p:nvSpPr>
        <p:spPr>
          <a:xfrm>
            <a:off x="6799935" y="2482342"/>
            <a:ext cx="4404207" cy="30607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Secondary and resistant hypertension</a:t>
            </a:r>
          </a:p>
        </p:txBody>
      </p:sp>
      <p:sp>
        <p:nvSpPr>
          <p:cNvPr id="26" name="TextBox 25"/>
          <p:cNvSpPr txBox="1"/>
          <p:nvPr/>
        </p:nvSpPr>
        <p:spPr>
          <a:xfrm>
            <a:off x="6525615" y="2861564"/>
            <a:ext cx="21945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B45309"/>
                </a:solidFill>
                <a:latin typeface="Arial"/>
                <a:ea typeface="Microsoft YaHei"/>
                <a:cs typeface="Arial"/>
              </a:rPr>
              <a:t>✕</a:t>
            </a:r>
          </a:p>
        </p:txBody>
      </p:sp>
      <p:sp>
        <p:nvSpPr>
          <p:cNvPr id="27" name="TextBox 26"/>
          <p:cNvSpPr txBox="1"/>
          <p:nvPr/>
        </p:nvSpPr>
        <p:spPr>
          <a:xfrm>
            <a:off x="6799935" y="2861564"/>
            <a:ext cx="4404207" cy="30607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Hypertensive emergency, end-stage renal disease</a:t>
            </a:r>
          </a:p>
        </p:txBody>
      </p:sp>
      <p:sp>
        <p:nvSpPr>
          <p:cNvPr id="28" name="TextBox 27"/>
          <p:cNvSpPr txBox="1"/>
          <p:nvPr/>
        </p:nvSpPr>
        <p:spPr>
          <a:xfrm>
            <a:off x="6525615" y="3240786"/>
            <a:ext cx="21945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B45309"/>
                </a:solidFill>
                <a:latin typeface="Arial"/>
                <a:ea typeface="Microsoft YaHei"/>
                <a:cs typeface="Arial"/>
              </a:rPr>
              <a:t>✕</a:t>
            </a:r>
          </a:p>
        </p:txBody>
      </p:sp>
      <p:sp>
        <p:nvSpPr>
          <p:cNvPr id="29" name="TextBox 28"/>
          <p:cNvSpPr txBox="1"/>
          <p:nvPr/>
        </p:nvSpPr>
        <p:spPr>
          <a:xfrm>
            <a:off x="6799935" y="3240786"/>
            <a:ext cx="4404207" cy="30607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Specific agents, doses, titration schedules</a:t>
            </a:r>
          </a:p>
        </p:txBody>
      </p:sp>
      <p:sp>
        <p:nvSpPr>
          <p:cNvPr id="30" name="TextBox 29"/>
          <p:cNvSpPr txBox="1"/>
          <p:nvPr/>
        </p:nvSpPr>
        <p:spPr>
          <a:xfrm>
            <a:off x="6525615" y="3620008"/>
            <a:ext cx="21945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B45309"/>
                </a:solidFill>
                <a:latin typeface="Arial"/>
                <a:ea typeface="Microsoft YaHei"/>
                <a:cs typeface="Arial"/>
              </a:rPr>
              <a:t>✕</a:t>
            </a:r>
          </a:p>
        </p:txBody>
      </p:sp>
      <p:sp>
        <p:nvSpPr>
          <p:cNvPr id="31" name="TextBox 30"/>
          <p:cNvSpPr txBox="1"/>
          <p:nvPr/>
        </p:nvSpPr>
        <p:spPr>
          <a:xfrm>
            <a:off x="6799935" y="3620008"/>
            <a:ext cx="4404207" cy="30607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182533"/>
                </a:solidFill>
                <a:latin typeface="Arial"/>
                <a:ea typeface="Microsoft YaHei"/>
                <a:cs typeface="Arial"/>
              </a:rPr>
              <a:t>Clinical deployment or decision support</a:t>
            </a:r>
          </a:p>
        </p:txBody>
      </p:sp>
      <p:sp>
        <p:nvSpPr>
          <p:cNvPr id="32" name="TextBox 31"/>
          <p:cNvSpPr txBox="1"/>
          <p:nvPr/>
        </p:nvSpPr>
        <p:spPr>
          <a:xfrm>
            <a:off x="713232" y="5038344"/>
            <a:ext cx="10765231" cy="640080"/>
          </a:xfrm>
          <a:prstGeom prst="rect">
            <a:avLst/>
          </a:prstGeom>
          <a:noFill/>
        </p:spPr>
        <p:txBody>
          <a:bodyPr wrap="square" lIns="0" rIns="0" tIns="0" bIns="0" anchor="t">
            <a:spAutoFit/>
          </a:bodyPr>
          <a:lstStyle/>
          <a:p>
            <a:pPr algn="l">
              <a:lnSpc>
                <a:spcPct val="138000"/>
              </a:lnSpc>
              <a:spcBef>
                <a:spcPts val="0"/>
              </a:spcBef>
              <a:spcAft>
                <a:spcPts val="0"/>
              </a:spcAft>
            </a:pPr>
            <a:r>
              <a:rPr sz="1250" b="0" i="0">
                <a:solidFill>
                  <a:srgbClr val="475A6B"/>
                </a:solidFill>
                <a:latin typeface="Arial"/>
                <a:ea typeface="Microsoft YaHei"/>
                <a:cs typeface="Arial"/>
              </a:rPr>
              <a:t>The boundary is not avoidance, it is part of the defence: abstaining with a stated reason is safer than answering confidently from rules that were never encoded — and it writes up better.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DATA</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Two real sources, one pipeline</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10</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99616"/>
            <a:ext cx="5227167" cy="3246120"/>
          </a:xfrm>
          <a:prstGeom prst="rect">
            <a:avLst/>
          </a:prstGeom>
          <a:solidFill>
            <a:srgbClr val="FFFFFF"/>
          </a:solidFill>
          <a:ln w="15240">
            <a:solidFill>
              <a:srgbClr val="D3DF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Rectangle 8"/>
          <p:cNvSpPr/>
          <p:nvPr/>
        </p:nvSpPr>
        <p:spPr>
          <a:xfrm>
            <a:off x="713232" y="1499616"/>
            <a:ext cx="5227167" cy="5029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0" name="TextBox 9"/>
          <p:cNvSpPr txBox="1"/>
          <p:nvPr/>
        </p:nvSpPr>
        <p:spPr>
          <a:xfrm>
            <a:off x="969264" y="1773936"/>
            <a:ext cx="4715103" cy="329184"/>
          </a:xfrm>
          <a:prstGeom prst="rect">
            <a:avLst/>
          </a:prstGeom>
          <a:noFill/>
        </p:spPr>
        <p:txBody>
          <a:bodyPr wrap="square" lIns="0" rIns="0" tIns="0" bIns="0" anchor="t">
            <a:spAutoFit/>
          </a:bodyPr>
          <a:lstStyle/>
          <a:p>
            <a:pPr algn="l">
              <a:lnSpc>
                <a:spcPct val="122000"/>
              </a:lnSpc>
              <a:spcBef>
                <a:spcPts val="0"/>
              </a:spcBef>
              <a:spcAft>
                <a:spcPts val="0"/>
              </a:spcAft>
            </a:pPr>
            <a:r>
              <a:rPr sz="1700" b="1" i="0">
                <a:solidFill>
                  <a:srgbClr val="182533"/>
                </a:solidFill>
                <a:latin typeface="Arial"/>
                <a:ea typeface="Microsoft YaHei"/>
                <a:cs typeface="Arial"/>
              </a:rPr>
              <a:t>NHANES 2017–18</a:t>
            </a:r>
          </a:p>
        </p:txBody>
      </p:sp>
      <p:sp>
        <p:nvSpPr>
          <p:cNvPr id="11" name="Rounded Rectangle 10"/>
          <p:cNvSpPr/>
          <p:nvPr/>
        </p:nvSpPr>
        <p:spPr>
          <a:xfrm>
            <a:off x="3665508" y="1792224"/>
            <a:ext cx="2018859" cy="274320"/>
          </a:xfrm>
          <a:prstGeom prst="roundRect">
            <a:avLst>
              <a:gd name="adj" fmla="val 50000"/>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050" b="1" i="0">
                <a:solidFill>
                  <a:srgbClr val="094F63"/>
                </a:solidFill>
                <a:latin typeface="Arial"/>
                <a:ea typeface="Microsoft YaHei"/>
                <a:cs typeface="Arial"/>
              </a:rPr>
              <a:t>Primary substrate · built</a:t>
            </a:r>
          </a:p>
        </p:txBody>
      </p:sp>
      <p:sp>
        <p:nvSpPr>
          <p:cNvPr id="12" name="Oval 11"/>
          <p:cNvSpPr/>
          <p:nvPr/>
        </p:nvSpPr>
        <p:spPr>
          <a:xfrm>
            <a:off x="1005840" y="2368296"/>
            <a:ext cx="50292" cy="502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3" name="TextBox 12"/>
          <p:cNvSpPr txBox="1"/>
          <p:nvPr/>
        </p:nvSpPr>
        <p:spPr>
          <a:xfrm>
            <a:off x="1225296" y="2286000"/>
            <a:ext cx="4440783" cy="309372"/>
          </a:xfrm>
          <a:prstGeom prst="rect">
            <a:avLst/>
          </a:prstGeom>
          <a:noFill/>
        </p:spPr>
        <p:txBody>
          <a:bodyPr wrap="square" lIns="0" rIns="0" tIns="0" bIns="0" anchor="t">
            <a:spAutoFit/>
          </a:bodyPr>
          <a:lstStyle/>
          <a:p>
            <a:pPr algn="l">
              <a:lnSpc>
                <a:spcPct val="132000"/>
              </a:lnSpc>
              <a:spcBef>
                <a:spcPts val="0"/>
              </a:spcBef>
              <a:spcAft>
                <a:spcPts val="0"/>
              </a:spcAft>
            </a:pPr>
            <a:r>
              <a:rPr sz="1300" b="0" i="0">
                <a:solidFill>
                  <a:srgbClr val="475A6B"/>
                </a:solidFill>
                <a:latin typeface="Arial"/>
                <a:ea typeface="Microsoft YaHei"/>
                <a:cs typeface="Arial"/>
              </a:rPr>
              <a:t>9,254 respondents → 4,806 adult profiles</a:t>
            </a:r>
          </a:p>
        </p:txBody>
      </p:sp>
      <p:sp>
        <p:nvSpPr>
          <p:cNvPr id="14" name="Oval 13"/>
          <p:cNvSpPr/>
          <p:nvPr/>
        </p:nvSpPr>
        <p:spPr>
          <a:xfrm>
            <a:off x="1005840" y="2732532"/>
            <a:ext cx="50292" cy="502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5" name="TextBox 14"/>
          <p:cNvSpPr txBox="1"/>
          <p:nvPr/>
        </p:nvSpPr>
        <p:spPr>
          <a:xfrm>
            <a:off x="1225296" y="2650236"/>
            <a:ext cx="4440783" cy="309372"/>
          </a:xfrm>
          <a:prstGeom prst="rect">
            <a:avLst/>
          </a:prstGeom>
          <a:noFill/>
        </p:spPr>
        <p:txBody>
          <a:bodyPr wrap="square" lIns="0" rIns="0" tIns="0" bIns="0" anchor="t">
            <a:spAutoFit/>
          </a:bodyPr>
          <a:lstStyle/>
          <a:p>
            <a:pPr algn="l">
              <a:lnSpc>
                <a:spcPct val="132000"/>
              </a:lnSpc>
              <a:spcBef>
                <a:spcPts val="0"/>
              </a:spcBef>
              <a:spcAft>
                <a:spcPts val="0"/>
              </a:spcAft>
            </a:pPr>
            <a:r>
              <a:rPr sz="1300" b="0" i="0">
                <a:solidFill>
                  <a:srgbClr val="475A6B"/>
                </a:solidFill>
                <a:latin typeface="Arial"/>
                <a:ea typeface="Microsoft YaHei"/>
                <a:cs typeface="Arial"/>
              </a:rPr>
              <a:t>14,418 narrative cases built (3 difficulty levels)</a:t>
            </a:r>
          </a:p>
        </p:txBody>
      </p:sp>
      <p:sp>
        <p:nvSpPr>
          <p:cNvPr id="16" name="Oval 15"/>
          <p:cNvSpPr/>
          <p:nvPr/>
        </p:nvSpPr>
        <p:spPr>
          <a:xfrm>
            <a:off x="1005840" y="3096768"/>
            <a:ext cx="50292" cy="502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7" name="TextBox 16"/>
          <p:cNvSpPr txBox="1"/>
          <p:nvPr/>
        </p:nvSpPr>
        <p:spPr>
          <a:xfrm>
            <a:off x="1225296" y="3014472"/>
            <a:ext cx="4440783" cy="527304"/>
          </a:xfrm>
          <a:prstGeom prst="rect">
            <a:avLst/>
          </a:prstGeom>
          <a:noFill/>
        </p:spPr>
        <p:txBody>
          <a:bodyPr wrap="square" lIns="0" rIns="0" tIns="0" bIns="0" anchor="t">
            <a:spAutoFit/>
          </a:bodyPr>
          <a:lstStyle/>
          <a:p>
            <a:pPr algn="l">
              <a:lnSpc>
                <a:spcPct val="132000"/>
              </a:lnSpc>
              <a:spcBef>
                <a:spcPts val="0"/>
              </a:spcBef>
              <a:spcAft>
                <a:spcPts val="0"/>
              </a:spcAft>
            </a:pPr>
            <a:r>
              <a:rPr sz="1300" b="0" i="0">
                <a:solidFill>
                  <a:srgbClr val="475A6B"/>
                </a:solidFill>
                <a:latin typeface="Arial"/>
                <a:ea typeface="Microsoft YaHei"/>
                <a:cs typeface="Arial"/>
              </a:rPr>
              <a:t>Split by patient, not by case: 2,914 train / 940 dev / 952 test</a:t>
            </a:r>
          </a:p>
        </p:txBody>
      </p:sp>
      <p:sp>
        <p:nvSpPr>
          <p:cNvPr id="18" name="Oval 17"/>
          <p:cNvSpPr/>
          <p:nvPr/>
        </p:nvSpPr>
        <p:spPr>
          <a:xfrm>
            <a:off x="1005840" y="3678936"/>
            <a:ext cx="50292" cy="502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9" name="TextBox 18"/>
          <p:cNvSpPr txBox="1"/>
          <p:nvPr/>
        </p:nvSpPr>
        <p:spPr>
          <a:xfrm>
            <a:off x="1225296" y="3596640"/>
            <a:ext cx="4440783" cy="309372"/>
          </a:xfrm>
          <a:prstGeom prst="rect">
            <a:avLst/>
          </a:prstGeom>
          <a:noFill/>
        </p:spPr>
        <p:txBody>
          <a:bodyPr wrap="square" lIns="0" rIns="0" tIns="0" bIns="0" anchor="t">
            <a:spAutoFit/>
          </a:bodyPr>
          <a:lstStyle/>
          <a:p>
            <a:pPr algn="l">
              <a:lnSpc>
                <a:spcPct val="132000"/>
              </a:lnSpc>
              <a:spcBef>
                <a:spcPts val="0"/>
              </a:spcBef>
              <a:spcAft>
                <a:spcPts val="0"/>
              </a:spcAft>
            </a:pPr>
            <a:r>
              <a:rPr sz="1300" b="0" i="0">
                <a:solidFill>
                  <a:srgbClr val="475A6B"/>
                </a:solidFill>
                <a:latin typeface="Arial"/>
                <a:ea typeface="Microsoft YaHei"/>
                <a:cs typeface="Arial"/>
              </a:rPr>
              <a:t>Leakage audit: zero hits</a:t>
            </a:r>
          </a:p>
        </p:txBody>
      </p:sp>
      <p:sp>
        <p:nvSpPr>
          <p:cNvPr id="20" name="Rectangle 19"/>
          <p:cNvSpPr/>
          <p:nvPr/>
        </p:nvSpPr>
        <p:spPr>
          <a:xfrm>
            <a:off x="6251295" y="1499616"/>
            <a:ext cx="5227167" cy="3246120"/>
          </a:xfrm>
          <a:prstGeom prst="rect">
            <a:avLst/>
          </a:prstGeom>
          <a:solidFill>
            <a:srgbClr val="FFFFFF"/>
          </a:solidFill>
          <a:ln w="15240">
            <a:solidFill>
              <a:srgbClr val="D3DF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1" name="Rectangle 20"/>
          <p:cNvSpPr/>
          <p:nvPr/>
        </p:nvSpPr>
        <p:spPr>
          <a:xfrm>
            <a:off x="6251295" y="1499616"/>
            <a:ext cx="5227167"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2" name="TextBox 21"/>
          <p:cNvSpPr txBox="1"/>
          <p:nvPr/>
        </p:nvSpPr>
        <p:spPr>
          <a:xfrm>
            <a:off x="6507327" y="1773936"/>
            <a:ext cx="4715103" cy="329184"/>
          </a:xfrm>
          <a:prstGeom prst="rect">
            <a:avLst/>
          </a:prstGeom>
          <a:noFill/>
        </p:spPr>
        <p:txBody>
          <a:bodyPr wrap="square" lIns="0" rIns="0" tIns="0" bIns="0" anchor="t">
            <a:spAutoFit/>
          </a:bodyPr>
          <a:lstStyle/>
          <a:p>
            <a:pPr algn="l">
              <a:lnSpc>
                <a:spcPct val="122000"/>
              </a:lnSpc>
              <a:spcBef>
                <a:spcPts val="0"/>
              </a:spcBef>
              <a:spcAft>
                <a:spcPts val="0"/>
              </a:spcAft>
            </a:pPr>
            <a:r>
              <a:rPr sz="1700" b="1" i="0">
                <a:solidFill>
                  <a:srgbClr val="182533"/>
                </a:solidFill>
                <a:latin typeface="Arial"/>
                <a:ea typeface="Microsoft YaHei"/>
                <a:cs typeface="Arial"/>
              </a:rPr>
              <a:t>MIMIC-IV 3.1 + ED</a:t>
            </a:r>
          </a:p>
        </p:txBody>
      </p:sp>
      <p:sp>
        <p:nvSpPr>
          <p:cNvPr id="23" name="Rounded Rectangle 22"/>
          <p:cNvSpPr/>
          <p:nvPr/>
        </p:nvSpPr>
        <p:spPr>
          <a:xfrm>
            <a:off x="9600315" y="1792224"/>
            <a:ext cx="1622115" cy="274320"/>
          </a:xfrm>
          <a:prstGeom prst="roundRect">
            <a:avLst>
              <a:gd name="adj" fmla="val 50000"/>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050" b="1" i="0">
                <a:solidFill>
                  <a:srgbClr val="094F63"/>
                </a:solidFill>
                <a:latin typeface="Arial"/>
                <a:ea typeface="Microsoft YaHei"/>
                <a:cs typeface="Arial"/>
              </a:rPr>
              <a:t>Real EHR · to build</a:t>
            </a:r>
          </a:p>
        </p:txBody>
      </p:sp>
      <p:sp>
        <p:nvSpPr>
          <p:cNvPr id="24" name="Oval 23"/>
          <p:cNvSpPr/>
          <p:nvPr/>
        </p:nvSpPr>
        <p:spPr>
          <a:xfrm>
            <a:off x="6543903" y="2368296"/>
            <a:ext cx="50292" cy="502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5" name="TextBox 24"/>
          <p:cNvSpPr txBox="1"/>
          <p:nvPr/>
        </p:nvSpPr>
        <p:spPr>
          <a:xfrm>
            <a:off x="6763359" y="2286000"/>
            <a:ext cx="4440783" cy="527304"/>
          </a:xfrm>
          <a:prstGeom prst="rect">
            <a:avLst/>
          </a:prstGeom>
          <a:noFill/>
        </p:spPr>
        <p:txBody>
          <a:bodyPr wrap="square" lIns="0" rIns="0" tIns="0" bIns="0" anchor="t">
            <a:spAutoFit/>
          </a:bodyPr>
          <a:lstStyle/>
          <a:p>
            <a:pPr algn="l">
              <a:lnSpc>
                <a:spcPct val="132000"/>
              </a:lnSpc>
              <a:spcBef>
                <a:spcPts val="0"/>
              </a:spcBef>
              <a:spcAft>
                <a:spcPts val="0"/>
              </a:spcAft>
            </a:pPr>
            <a:r>
              <a:rPr sz="1300" b="0" i="0">
                <a:solidFill>
                  <a:srgbClr val="475A6B"/>
                </a:solidFill>
                <a:latin typeface="Arial"/>
                <a:ea typeface="Microsoft YaHei"/>
                <a:cs typeface="Arial"/>
              </a:rPr>
              <a:t>ICD anchors select patients; staging uses only pre-admission outpatient readings</a:t>
            </a:r>
          </a:p>
        </p:txBody>
      </p:sp>
      <p:sp>
        <p:nvSpPr>
          <p:cNvPr id="26" name="Oval 25"/>
          <p:cNvSpPr/>
          <p:nvPr/>
        </p:nvSpPr>
        <p:spPr>
          <a:xfrm>
            <a:off x="6543903" y="2950464"/>
            <a:ext cx="50292" cy="502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7" name="TextBox 26"/>
          <p:cNvSpPr txBox="1"/>
          <p:nvPr/>
        </p:nvSpPr>
        <p:spPr>
          <a:xfrm>
            <a:off x="6763359" y="2868168"/>
            <a:ext cx="4440783" cy="309372"/>
          </a:xfrm>
          <a:prstGeom prst="rect">
            <a:avLst/>
          </a:prstGeom>
          <a:noFill/>
        </p:spPr>
        <p:txBody>
          <a:bodyPr wrap="square" lIns="0" rIns="0" tIns="0" bIns="0" anchor="t">
            <a:spAutoFit/>
          </a:bodyPr>
          <a:lstStyle/>
          <a:p>
            <a:pPr algn="l">
              <a:lnSpc>
                <a:spcPct val="132000"/>
              </a:lnSpc>
              <a:spcBef>
                <a:spcPts val="0"/>
              </a:spcBef>
              <a:spcAft>
                <a:spcPts val="0"/>
              </a:spcAft>
            </a:pPr>
            <a:r>
              <a:rPr sz="1300" b="0" i="0">
                <a:solidFill>
                  <a:srgbClr val="475A6B"/>
                </a:solidFill>
                <a:latin typeface="Arial"/>
                <a:ea typeface="Microsoft YaHei"/>
                <a:cs typeface="Arial"/>
              </a:rPr>
              <a:t>28,530 patients can be staged</a:t>
            </a:r>
          </a:p>
        </p:txBody>
      </p:sp>
      <p:sp>
        <p:nvSpPr>
          <p:cNvPr id="28" name="Oval 27"/>
          <p:cNvSpPr/>
          <p:nvPr/>
        </p:nvSpPr>
        <p:spPr>
          <a:xfrm>
            <a:off x="6543903" y="3314700"/>
            <a:ext cx="50292" cy="502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9" name="TextBox 28"/>
          <p:cNvSpPr txBox="1"/>
          <p:nvPr/>
        </p:nvSpPr>
        <p:spPr>
          <a:xfrm>
            <a:off x="6763359" y="3232404"/>
            <a:ext cx="4440783" cy="527304"/>
          </a:xfrm>
          <a:prstGeom prst="rect">
            <a:avLst/>
          </a:prstGeom>
          <a:noFill/>
        </p:spPr>
        <p:txBody>
          <a:bodyPr wrap="square" lIns="0" rIns="0" tIns="0" bIns="0" anchor="t">
            <a:spAutoFit/>
          </a:bodyPr>
          <a:lstStyle/>
          <a:p>
            <a:pPr algn="l">
              <a:lnSpc>
                <a:spcPct val="132000"/>
              </a:lnSpc>
              <a:spcBef>
                <a:spcPts val="0"/>
              </a:spcBef>
              <a:spcAft>
                <a:spcPts val="0"/>
              </a:spcAft>
            </a:pPr>
            <a:r>
              <a:rPr sz="1300" b="0" i="0">
                <a:solidFill>
                  <a:srgbClr val="475A6B"/>
                </a:solidFill>
                <a:latin typeface="Arial"/>
                <a:ea typeface="Microsoft YaHei"/>
                <a:cs typeface="Arial"/>
              </a:rPr>
              <a:t>~8,921 can carry a decision label (needs pre-admission med reconciliation)</a:t>
            </a:r>
          </a:p>
        </p:txBody>
      </p:sp>
      <p:sp>
        <p:nvSpPr>
          <p:cNvPr id="30" name="Oval 29"/>
          <p:cNvSpPr/>
          <p:nvPr/>
        </p:nvSpPr>
        <p:spPr>
          <a:xfrm>
            <a:off x="6543903" y="3896868"/>
            <a:ext cx="50292" cy="502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1" name="TextBox 30"/>
          <p:cNvSpPr txBox="1"/>
          <p:nvPr/>
        </p:nvSpPr>
        <p:spPr>
          <a:xfrm>
            <a:off x="6763359" y="3814572"/>
            <a:ext cx="4440783" cy="309372"/>
          </a:xfrm>
          <a:prstGeom prst="rect">
            <a:avLst/>
          </a:prstGeom>
          <a:noFill/>
        </p:spPr>
        <p:txBody>
          <a:bodyPr wrap="square" lIns="0" rIns="0" tIns="0" bIns="0" anchor="t">
            <a:spAutoFit/>
          </a:bodyPr>
          <a:lstStyle/>
          <a:p>
            <a:pPr algn="l">
              <a:lnSpc>
                <a:spcPct val="132000"/>
              </a:lnSpc>
              <a:spcBef>
                <a:spcPts val="0"/>
              </a:spcBef>
              <a:spcAft>
                <a:spcPts val="0"/>
              </a:spcAft>
            </a:pPr>
            <a:r>
              <a:rPr sz="1300" b="0" i="0">
                <a:solidFill>
                  <a:srgbClr val="475A6B"/>
                </a:solidFill>
                <a:latin typeface="Arial"/>
                <a:ea typeface="Microsoft YaHei"/>
                <a:cs typeface="Arial"/>
              </a:rPr>
              <a:t>Discharge summaries feed the real-text task</a:t>
            </a:r>
          </a:p>
        </p:txBody>
      </p:sp>
      <p:sp>
        <p:nvSpPr>
          <p:cNvPr id="32" name="TextBox 31"/>
          <p:cNvSpPr txBox="1"/>
          <p:nvPr/>
        </p:nvSpPr>
        <p:spPr>
          <a:xfrm>
            <a:off x="713232" y="5038344"/>
            <a:ext cx="10765231" cy="548640"/>
          </a:xfrm>
          <a:prstGeom prst="rect">
            <a:avLst/>
          </a:prstGeom>
          <a:noFill/>
        </p:spPr>
        <p:txBody>
          <a:bodyPr wrap="square" lIns="0" rIns="0" tIns="0" bIns="0" anchor="t">
            <a:spAutoFit/>
          </a:bodyPr>
          <a:lstStyle/>
          <a:p>
            <a:pPr algn="l">
              <a:lnSpc>
                <a:spcPct val="138000"/>
              </a:lnSpc>
              <a:spcBef>
                <a:spcPts val="0"/>
              </a:spcBef>
              <a:spcAft>
                <a:spcPts val="0"/>
              </a:spcAft>
            </a:pPr>
            <a:r>
              <a:rPr sz="1250" b="0" i="0">
                <a:solidFill>
                  <a:srgbClr val="475A6B"/>
                </a:solidFill>
                <a:latin typeface="Arial"/>
                <a:ea typeface="Microsoft YaHei"/>
                <a:cs typeface="Arial"/>
              </a:rPr>
              <a:t>One rule is already fixed: current medication comes from pre-admission home meds, never from discharge meds — discharge meds leak the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METHOD · TASKS</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Four tasks, closing in on reality</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11</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591056"/>
            <a:ext cx="10765231" cy="4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9" name="Connector 8"/>
          <p:cNvCxnSpPr/>
          <p:nvPr/>
        </p:nvCxnSpPr>
        <p:spPr>
          <a:xfrm>
            <a:off x="713232" y="1591056"/>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41248" y="1665224"/>
            <a:ext cx="392552"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A</a:t>
            </a:r>
          </a:p>
        </p:txBody>
      </p:sp>
      <p:sp>
        <p:nvSpPr>
          <p:cNvPr id="11" name="TextBox 10"/>
          <p:cNvSpPr txBox="1"/>
          <p:nvPr/>
        </p:nvSpPr>
        <p:spPr>
          <a:xfrm>
            <a:off x="1526408" y="1709928"/>
            <a:ext cx="1803277"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Structured control</a:t>
            </a:r>
          </a:p>
        </p:txBody>
      </p:sp>
      <p:sp>
        <p:nvSpPr>
          <p:cNvPr id="12" name="TextBox 11"/>
          <p:cNvSpPr txBox="1"/>
          <p:nvPr/>
        </p:nvSpPr>
        <p:spPr>
          <a:xfrm>
            <a:off x="3622294" y="1709928"/>
            <a:ext cx="3041755"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Clean profile in, engine label out</a:t>
            </a:r>
          </a:p>
        </p:txBody>
      </p:sp>
      <p:sp>
        <p:nvSpPr>
          <p:cNvPr id="13" name="TextBox 12"/>
          <p:cNvSpPr txBox="1"/>
          <p:nvPr/>
        </p:nvSpPr>
        <p:spPr>
          <a:xfrm>
            <a:off x="6956658" y="1709928"/>
            <a:ext cx="313702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Ceiling: reasoning with perfect reading</a:t>
            </a:r>
          </a:p>
        </p:txBody>
      </p:sp>
      <p:sp>
        <p:nvSpPr>
          <p:cNvPr id="14" name="TextBox 13"/>
          <p:cNvSpPr txBox="1"/>
          <p:nvPr/>
        </p:nvSpPr>
        <p:spPr>
          <a:xfrm>
            <a:off x="10386289" y="1709928"/>
            <a:ext cx="945869"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B45309"/>
                </a:solidFill>
                <a:latin typeface="Arial"/>
                <a:ea typeface="Microsoft YaHei"/>
                <a:cs typeface="Arial"/>
              </a:rPr>
              <a:t>To build</a:t>
            </a:r>
          </a:p>
        </p:txBody>
      </p:sp>
      <p:sp>
        <p:nvSpPr>
          <p:cNvPr id="15" name="Rectangle 14"/>
          <p:cNvSpPr/>
          <p:nvPr/>
        </p:nvSpPr>
        <p:spPr>
          <a:xfrm>
            <a:off x="713232" y="2032000"/>
            <a:ext cx="10765231" cy="6441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16" name="Connector 15"/>
          <p:cNvCxnSpPr/>
          <p:nvPr/>
        </p:nvCxnSpPr>
        <p:spPr>
          <a:xfrm>
            <a:off x="713232" y="2032000"/>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41248" y="2207768"/>
            <a:ext cx="392552"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B</a:t>
            </a:r>
          </a:p>
        </p:txBody>
      </p:sp>
      <p:sp>
        <p:nvSpPr>
          <p:cNvPr id="18" name="TextBox 17"/>
          <p:cNvSpPr txBox="1"/>
          <p:nvPr/>
        </p:nvSpPr>
        <p:spPr>
          <a:xfrm>
            <a:off x="1526408" y="2150872"/>
            <a:ext cx="1803277"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Narrative vignette (headline)</a:t>
            </a:r>
          </a:p>
        </p:txBody>
      </p:sp>
      <p:sp>
        <p:nvSpPr>
          <p:cNvPr id="19" name="TextBox 18"/>
          <p:cNvSpPr txBox="1"/>
          <p:nvPr/>
        </p:nvSpPr>
        <p:spPr>
          <a:xfrm>
            <a:off x="3622294" y="2150872"/>
            <a:ext cx="3041755"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Rendered as prose, raw facts only, no conclusion words</a:t>
            </a:r>
          </a:p>
        </p:txBody>
      </p:sp>
      <p:sp>
        <p:nvSpPr>
          <p:cNvPr id="20" name="TextBox 19"/>
          <p:cNvSpPr txBox="1"/>
          <p:nvPr/>
        </p:nvSpPr>
        <p:spPr>
          <a:xfrm>
            <a:off x="6956658" y="2150872"/>
            <a:ext cx="3137023"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Main results; minus A gives the reading burden</a:t>
            </a:r>
          </a:p>
        </p:txBody>
      </p:sp>
      <p:sp>
        <p:nvSpPr>
          <p:cNvPr id="21" name="TextBox 20"/>
          <p:cNvSpPr txBox="1"/>
          <p:nvPr/>
        </p:nvSpPr>
        <p:spPr>
          <a:xfrm>
            <a:off x="10386289" y="2150872"/>
            <a:ext cx="945869"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B45309"/>
                </a:solidFill>
                <a:latin typeface="Arial"/>
                <a:ea typeface="Microsoft YaHei"/>
                <a:cs typeface="Arial"/>
              </a:rPr>
              <a:t>Built</a:t>
            </a:r>
          </a:p>
        </p:txBody>
      </p:sp>
      <p:sp>
        <p:nvSpPr>
          <p:cNvPr id="22" name="Rectangle 21"/>
          <p:cNvSpPr/>
          <p:nvPr/>
        </p:nvSpPr>
        <p:spPr>
          <a:xfrm>
            <a:off x="713232" y="2676144"/>
            <a:ext cx="10765231" cy="6441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23" name="Connector 22"/>
          <p:cNvCxnSpPr/>
          <p:nvPr/>
        </p:nvCxnSpPr>
        <p:spPr>
          <a:xfrm>
            <a:off x="713232" y="2676144"/>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41248" y="2851912"/>
            <a:ext cx="392552"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C</a:t>
            </a:r>
          </a:p>
        </p:txBody>
      </p:sp>
      <p:sp>
        <p:nvSpPr>
          <p:cNvPr id="25" name="TextBox 24"/>
          <p:cNvSpPr txBox="1"/>
          <p:nvPr/>
        </p:nvSpPr>
        <p:spPr>
          <a:xfrm>
            <a:off x="1526408" y="2795016"/>
            <a:ext cx="1803277"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Real clinical text</a:t>
            </a:r>
          </a:p>
        </p:txBody>
      </p:sp>
      <p:sp>
        <p:nvSpPr>
          <p:cNvPr id="26" name="TextBox 25"/>
          <p:cNvSpPr txBox="1"/>
          <p:nvPr/>
        </p:nvSpPr>
        <p:spPr>
          <a:xfrm>
            <a:off x="3622294" y="2795016"/>
            <a:ext cx="3041755"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MIMIC discharge summaries in; extract, then reason</a:t>
            </a:r>
          </a:p>
        </p:txBody>
      </p:sp>
      <p:sp>
        <p:nvSpPr>
          <p:cNvPr id="27" name="TextBox 26"/>
          <p:cNvSpPr txBox="1"/>
          <p:nvPr/>
        </p:nvSpPr>
        <p:spPr>
          <a:xfrm>
            <a:off x="6956658" y="2795016"/>
            <a:ext cx="3137023"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External validity: how far synthetic findings carry</a:t>
            </a:r>
          </a:p>
        </p:txBody>
      </p:sp>
      <p:sp>
        <p:nvSpPr>
          <p:cNvPr id="28" name="TextBox 27"/>
          <p:cNvSpPr txBox="1"/>
          <p:nvPr/>
        </p:nvSpPr>
        <p:spPr>
          <a:xfrm>
            <a:off x="10386289" y="2795016"/>
            <a:ext cx="945869"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B45309"/>
                </a:solidFill>
                <a:latin typeface="Arial"/>
                <a:ea typeface="Microsoft YaHei"/>
                <a:cs typeface="Arial"/>
              </a:rPr>
              <a:t>To build</a:t>
            </a:r>
          </a:p>
        </p:txBody>
      </p:sp>
      <p:sp>
        <p:nvSpPr>
          <p:cNvPr id="29" name="Rectangle 28"/>
          <p:cNvSpPr/>
          <p:nvPr/>
        </p:nvSpPr>
        <p:spPr>
          <a:xfrm>
            <a:off x="713232" y="3320288"/>
            <a:ext cx="10765231" cy="6441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30" name="Connector 29"/>
          <p:cNvCxnSpPr/>
          <p:nvPr/>
        </p:nvCxnSpPr>
        <p:spPr>
          <a:xfrm>
            <a:off x="713232" y="3320288"/>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41248" y="3496056"/>
            <a:ext cx="392552"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D</a:t>
            </a:r>
          </a:p>
        </p:txBody>
      </p:sp>
      <p:sp>
        <p:nvSpPr>
          <p:cNvPr id="32" name="TextBox 31"/>
          <p:cNvSpPr txBox="1"/>
          <p:nvPr/>
        </p:nvSpPr>
        <p:spPr>
          <a:xfrm>
            <a:off x="1526408" y="3439160"/>
            <a:ext cx="1803277"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External plausibility</a:t>
            </a:r>
          </a:p>
        </p:txBody>
      </p:sp>
      <p:sp>
        <p:nvSpPr>
          <p:cNvPr id="33" name="TextBox 32"/>
          <p:cNvSpPr txBox="1"/>
          <p:nvPr/>
        </p:nvSpPr>
        <p:spPr>
          <a:xfrm>
            <a:off x="3622294" y="3439160"/>
            <a:ext cx="3041755"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Concordance against linked mortality</a:t>
            </a:r>
          </a:p>
        </p:txBody>
      </p:sp>
      <p:sp>
        <p:nvSpPr>
          <p:cNvPr id="34" name="TextBox 33"/>
          <p:cNvSpPr txBox="1"/>
          <p:nvPr/>
        </p:nvSpPr>
        <p:spPr>
          <a:xfrm>
            <a:off x="6956658" y="3439160"/>
            <a:ext cx="3137023"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Plausibility only, never efficacy (confounding by indication)</a:t>
            </a:r>
          </a:p>
        </p:txBody>
      </p:sp>
      <p:sp>
        <p:nvSpPr>
          <p:cNvPr id="35" name="TextBox 34"/>
          <p:cNvSpPr txBox="1"/>
          <p:nvPr/>
        </p:nvSpPr>
        <p:spPr>
          <a:xfrm>
            <a:off x="10386289" y="3439160"/>
            <a:ext cx="945869"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B45309"/>
                </a:solidFill>
                <a:latin typeface="Arial"/>
                <a:ea typeface="Microsoft YaHei"/>
                <a:cs typeface="Arial"/>
              </a:rPr>
              <a:t>To build</a:t>
            </a:r>
          </a:p>
        </p:txBody>
      </p:sp>
      <p:cxnSp>
        <p:nvCxnSpPr>
          <p:cNvPr id="36" name="Connector 35"/>
          <p:cNvCxnSpPr/>
          <p:nvPr/>
        </p:nvCxnSpPr>
        <p:spPr>
          <a:xfrm>
            <a:off x="713232" y="3964432"/>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METHOD · ABLATION</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Change one thing at a time, read the differences</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12</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536192"/>
            <a:ext cx="10765231" cy="4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9" name="Connector 8"/>
          <p:cNvCxnSpPr/>
          <p:nvPr/>
        </p:nvCxnSpPr>
        <p:spPr>
          <a:xfrm>
            <a:off x="713232" y="1536192"/>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41248" y="1610360"/>
            <a:ext cx="521140"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C0</a:t>
            </a:r>
          </a:p>
        </p:txBody>
      </p:sp>
      <p:sp>
        <p:nvSpPr>
          <p:cNvPr id="11" name="TextBox 10"/>
          <p:cNvSpPr txBox="1"/>
          <p:nvPr/>
        </p:nvSpPr>
        <p:spPr>
          <a:xfrm>
            <a:off x="1654996" y="1655064"/>
            <a:ext cx="384378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Structured input, model's own knowledge</a:t>
            </a:r>
          </a:p>
        </p:txBody>
      </p:sp>
      <p:sp>
        <p:nvSpPr>
          <p:cNvPr id="12" name="TextBox 11"/>
          <p:cNvSpPr txBox="1"/>
          <p:nvPr/>
        </p:nvSpPr>
        <p:spPr>
          <a:xfrm>
            <a:off x="5791390" y="1655064"/>
            <a:ext cx="235892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baseline</a:t>
            </a:r>
          </a:p>
        </p:txBody>
      </p:sp>
      <p:sp>
        <p:nvSpPr>
          <p:cNvPr id="13" name="TextBox 12"/>
          <p:cNvSpPr txBox="1"/>
          <p:nvPr/>
        </p:nvSpPr>
        <p:spPr>
          <a:xfrm>
            <a:off x="8442925" y="1655064"/>
            <a:ext cx="288923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Reasoning ceiling</a:t>
            </a:r>
          </a:p>
        </p:txBody>
      </p:sp>
      <p:sp>
        <p:nvSpPr>
          <p:cNvPr id="14" name="Rectangle 13"/>
          <p:cNvSpPr/>
          <p:nvPr/>
        </p:nvSpPr>
        <p:spPr>
          <a:xfrm>
            <a:off x="713232" y="1977136"/>
            <a:ext cx="10765231" cy="4409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15" name="Connector 14"/>
          <p:cNvCxnSpPr/>
          <p:nvPr/>
        </p:nvCxnSpPr>
        <p:spPr>
          <a:xfrm>
            <a:off x="713232" y="1977136"/>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41248" y="2051303"/>
            <a:ext cx="521140"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C1</a:t>
            </a:r>
          </a:p>
        </p:txBody>
      </p:sp>
      <p:sp>
        <p:nvSpPr>
          <p:cNvPr id="17" name="TextBox 16"/>
          <p:cNvSpPr txBox="1"/>
          <p:nvPr/>
        </p:nvSpPr>
        <p:spPr>
          <a:xfrm>
            <a:off x="1654996" y="2096008"/>
            <a:ext cx="384378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Switch to a narrative vignette</a:t>
            </a:r>
          </a:p>
        </p:txBody>
      </p:sp>
      <p:sp>
        <p:nvSpPr>
          <p:cNvPr id="18" name="TextBox 17"/>
          <p:cNvSpPr txBox="1"/>
          <p:nvPr/>
        </p:nvSpPr>
        <p:spPr>
          <a:xfrm>
            <a:off x="5791390" y="2096008"/>
            <a:ext cx="235892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input form only</a:t>
            </a:r>
          </a:p>
        </p:txBody>
      </p:sp>
      <p:sp>
        <p:nvSpPr>
          <p:cNvPr id="19" name="TextBox 18"/>
          <p:cNvSpPr txBox="1"/>
          <p:nvPr/>
        </p:nvSpPr>
        <p:spPr>
          <a:xfrm>
            <a:off x="8442925" y="2096008"/>
            <a:ext cx="288923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Reading burden = C0 − C1</a:t>
            </a:r>
          </a:p>
        </p:txBody>
      </p:sp>
      <p:sp>
        <p:nvSpPr>
          <p:cNvPr id="20" name="Rectangle 19"/>
          <p:cNvSpPr/>
          <p:nvPr/>
        </p:nvSpPr>
        <p:spPr>
          <a:xfrm>
            <a:off x="713232" y="2418080"/>
            <a:ext cx="10765231" cy="4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21" name="Connector 20"/>
          <p:cNvCxnSpPr/>
          <p:nvPr/>
        </p:nvCxnSpPr>
        <p:spPr>
          <a:xfrm>
            <a:off x="713232" y="2418080"/>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41248" y="2492247"/>
            <a:ext cx="521140"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C2</a:t>
            </a:r>
          </a:p>
        </p:txBody>
      </p:sp>
      <p:sp>
        <p:nvSpPr>
          <p:cNvPr id="23" name="TextBox 22"/>
          <p:cNvSpPr txBox="1"/>
          <p:nvPr/>
        </p:nvSpPr>
        <p:spPr>
          <a:xfrm>
            <a:off x="1654996" y="2536952"/>
            <a:ext cx="384378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Add guideline retrieval</a:t>
            </a:r>
          </a:p>
        </p:txBody>
      </p:sp>
      <p:sp>
        <p:nvSpPr>
          <p:cNvPr id="24" name="TextBox 23"/>
          <p:cNvSpPr txBox="1"/>
          <p:nvPr/>
        </p:nvSpPr>
        <p:spPr>
          <a:xfrm>
            <a:off x="5791390" y="2536952"/>
            <a:ext cx="235892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retrieval only</a:t>
            </a:r>
          </a:p>
        </p:txBody>
      </p:sp>
      <p:sp>
        <p:nvSpPr>
          <p:cNvPr id="25" name="TextBox 24"/>
          <p:cNvSpPr txBox="1"/>
          <p:nvPr/>
        </p:nvSpPr>
        <p:spPr>
          <a:xfrm>
            <a:off x="8442925" y="2536952"/>
            <a:ext cx="288923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Knowledge gap = C2 − C1</a:t>
            </a:r>
          </a:p>
        </p:txBody>
      </p:sp>
      <p:sp>
        <p:nvSpPr>
          <p:cNvPr id="26" name="Rectangle 25"/>
          <p:cNvSpPr/>
          <p:nvPr/>
        </p:nvSpPr>
        <p:spPr>
          <a:xfrm>
            <a:off x="713232" y="2859024"/>
            <a:ext cx="10765231" cy="4409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27" name="Connector 26"/>
          <p:cNvCxnSpPr/>
          <p:nvPr/>
        </p:nvCxnSpPr>
        <p:spPr>
          <a:xfrm>
            <a:off x="713232" y="2859024"/>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1248" y="2933191"/>
            <a:ext cx="521140"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C3</a:t>
            </a:r>
          </a:p>
        </p:txBody>
      </p:sp>
      <p:sp>
        <p:nvSpPr>
          <p:cNvPr id="29" name="TextBox 28"/>
          <p:cNvSpPr txBox="1"/>
          <p:nvPr/>
        </p:nvSpPr>
        <p:spPr>
          <a:xfrm>
            <a:off x="1654996" y="2977895"/>
            <a:ext cx="384378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Add deterministic calculation tools</a:t>
            </a:r>
          </a:p>
        </p:txBody>
      </p:sp>
      <p:sp>
        <p:nvSpPr>
          <p:cNvPr id="30" name="TextBox 29"/>
          <p:cNvSpPr txBox="1"/>
          <p:nvPr/>
        </p:nvSpPr>
        <p:spPr>
          <a:xfrm>
            <a:off x="5791390" y="2977895"/>
            <a:ext cx="235892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tools only</a:t>
            </a:r>
          </a:p>
        </p:txBody>
      </p:sp>
      <p:sp>
        <p:nvSpPr>
          <p:cNvPr id="31" name="TextBox 30"/>
          <p:cNvSpPr txBox="1"/>
          <p:nvPr/>
        </p:nvSpPr>
        <p:spPr>
          <a:xfrm>
            <a:off x="8442925" y="2977895"/>
            <a:ext cx="288923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Arithmetic error = C3 − C2</a:t>
            </a:r>
          </a:p>
        </p:txBody>
      </p:sp>
      <p:sp>
        <p:nvSpPr>
          <p:cNvPr id="32" name="Rectangle 31"/>
          <p:cNvSpPr/>
          <p:nvPr/>
        </p:nvSpPr>
        <p:spPr>
          <a:xfrm>
            <a:off x="713232" y="3299967"/>
            <a:ext cx="10765231" cy="4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33" name="Connector 32"/>
          <p:cNvCxnSpPr/>
          <p:nvPr/>
        </p:nvCxnSpPr>
        <p:spPr>
          <a:xfrm>
            <a:off x="713232" y="3299967"/>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 y="3374135"/>
            <a:ext cx="521140"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C3g</a:t>
            </a:r>
          </a:p>
        </p:txBody>
      </p:sp>
      <p:sp>
        <p:nvSpPr>
          <p:cNvPr id="35" name="TextBox 34"/>
          <p:cNvSpPr txBox="1"/>
          <p:nvPr/>
        </p:nvSpPr>
        <p:spPr>
          <a:xfrm>
            <a:off x="1654996" y="3418839"/>
            <a:ext cx="384378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Retrieval becomes a guideline graph</a:t>
            </a:r>
          </a:p>
        </p:txBody>
      </p:sp>
      <p:sp>
        <p:nvSpPr>
          <p:cNvPr id="36" name="TextBox 35"/>
          <p:cNvSpPr txBox="1"/>
          <p:nvPr/>
        </p:nvSpPr>
        <p:spPr>
          <a:xfrm>
            <a:off x="5791390" y="3418839"/>
            <a:ext cx="235892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retrieval mechanism only</a:t>
            </a:r>
          </a:p>
        </p:txBody>
      </p:sp>
      <p:sp>
        <p:nvSpPr>
          <p:cNvPr id="37" name="TextBox 36"/>
          <p:cNvSpPr txBox="1"/>
          <p:nvPr/>
        </p:nvSpPr>
        <p:spPr>
          <a:xfrm>
            <a:off x="8442925" y="3418839"/>
            <a:ext cx="288923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Marginal value of the graph</a:t>
            </a:r>
          </a:p>
        </p:txBody>
      </p:sp>
      <p:sp>
        <p:nvSpPr>
          <p:cNvPr id="38" name="Rectangle 37"/>
          <p:cNvSpPr/>
          <p:nvPr/>
        </p:nvSpPr>
        <p:spPr>
          <a:xfrm>
            <a:off x="713232" y="3740912"/>
            <a:ext cx="10765231" cy="4409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39" name="Connector 38"/>
          <p:cNvCxnSpPr/>
          <p:nvPr/>
        </p:nvCxnSpPr>
        <p:spPr>
          <a:xfrm>
            <a:off x="713232" y="3740912"/>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41248" y="3815080"/>
            <a:ext cx="521140"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C4</a:t>
            </a:r>
          </a:p>
        </p:txBody>
      </p:sp>
      <p:sp>
        <p:nvSpPr>
          <p:cNvPr id="41" name="TextBox 40"/>
          <p:cNvSpPr txBox="1"/>
          <p:nvPr/>
        </p:nvSpPr>
        <p:spPr>
          <a:xfrm>
            <a:off x="1654996" y="3859784"/>
            <a:ext cx="384378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Swap in real discharge summaries</a:t>
            </a:r>
          </a:p>
        </p:txBody>
      </p:sp>
      <p:sp>
        <p:nvSpPr>
          <p:cNvPr id="42" name="TextBox 41"/>
          <p:cNvSpPr txBox="1"/>
          <p:nvPr/>
        </p:nvSpPr>
        <p:spPr>
          <a:xfrm>
            <a:off x="5791390" y="3859784"/>
            <a:ext cx="2358926"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text provenance only</a:t>
            </a:r>
          </a:p>
        </p:txBody>
      </p:sp>
      <p:sp>
        <p:nvSpPr>
          <p:cNvPr id="43" name="TextBox 42"/>
          <p:cNvSpPr txBox="1"/>
          <p:nvPr/>
        </p:nvSpPr>
        <p:spPr>
          <a:xfrm>
            <a:off x="8442925" y="3859784"/>
            <a:ext cx="288923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Ecological validity = C4 − C3</a:t>
            </a:r>
          </a:p>
        </p:txBody>
      </p:sp>
      <p:cxnSp>
        <p:nvCxnSpPr>
          <p:cNvPr id="44" name="Connector 43"/>
          <p:cNvCxnSpPr/>
          <p:nvPr/>
        </p:nvCxnSpPr>
        <p:spPr>
          <a:xfrm>
            <a:off x="713232" y="4181856"/>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13232" y="4437888"/>
            <a:ext cx="10765231" cy="548640"/>
          </a:xfrm>
          <a:prstGeom prst="rect">
            <a:avLst/>
          </a:prstGeom>
          <a:noFill/>
        </p:spPr>
        <p:txBody>
          <a:bodyPr wrap="square" lIns="0" rIns="0" tIns="0" bIns="0" anchor="t">
            <a:spAutoFit/>
          </a:bodyPr>
          <a:lstStyle/>
          <a:p>
            <a:pPr algn="l">
              <a:lnSpc>
                <a:spcPct val="138000"/>
              </a:lnSpc>
              <a:spcBef>
                <a:spcPts val="0"/>
              </a:spcBef>
              <a:spcAft>
                <a:spcPts val="0"/>
              </a:spcAft>
            </a:pPr>
            <a:r>
              <a:rPr sz="1250" b="0" i="0">
                <a:solidFill>
                  <a:srgbClr val="475A6B"/>
                </a:solidFill>
                <a:latin typeface="Arial"/>
                <a:ea typeface="Microsoft YaHei"/>
                <a:cs typeface="Arial"/>
              </a:rPr>
              <a:t>Read the differences, not the absolute scores. An absolute score depends on corpus difficulty, which is a design choice; a difference between two conditions on the same corpus is the science.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METHOD · EVALUATION</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Not one score — nine metrics and three reporting rules</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13</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99616"/>
            <a:ext cx="4736701" cy="1119632"/>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Rectangle 8"/>
          <p:cNvSpPr/>
          <p:nvPr/>
        </p:nvSpPr>
        <p:spPr>
          <a:xfrm>
            <a:off x="713232" y="1499616"/>
            <a:ext cx="45720" cy="111963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0" name="TextBox 9"/>
          <p:cNvSpPr txBox="1"/>
          <p:nvPr/>
        </p:nvSpPr>
        <p:spPr>
          <a:xfrm>
            <a:off x="969264" y="1645920"/>
            <a:ext cx="4279501" cy="256032"/>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0E7490"/>
                </a:solidFill>
                <a:latin typeface="Arial"/>
                <a:ea typeface="Microsoft YaHei"/>
                <a:cs typeface="Arial"/>
              </a:rPr>
              <a:t>Primary outcome</a:t>
            </a:r>
          </a:p>
        </p:txBody>
      </p:sp>
      <p:sp>
        <p:nvSpPr>
          <p:cNvPr id="11" name="TextBox 10"/>
          <p:cNvSpPr txBox="1"/>
          <p:nvPr/>
        </p:nvSpPr>
        <p:spPr>
          <a:xfrm>
            <a:off x="969264" y="1975104"/>
            <a:ext cx="4224637" cy="497839"/>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 Decision concordance (exact match to the engine label)</a:t>
            </a:r>
          </a:p>
        </p:txBody>
      </p:sp>
      <p:sp>
        <p:nvSpPr>
          <p:cNvPr id="12" name="Rectangle 11"/>
          <p:cNvSpPr/>
          <p:nvPr/>
        </p:nvSpPr>
        <p:spPr>
          <a:xfrm>
            <a:off x="713232" y="2820416"/>
            <a:ext cx="4736701" cy="1119632"/>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3" name="Rectangle 12"/>
          <p:cNvSpPr/>
          <p:nvPr/>
        </p:nvSpPr>
        <p:spPr>
          <a:xfrm>
            <a:off x="713232" y="2820416"/>
            <a:ext cx="45720" cy="111963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4" name="TextBox 13"/>
          <p:cNvSpPr txBox="1"/>
          <p:nvPr/>
        </p:nvSpPr>
        <p:spPr>
          <a:xfrm>
            <a:off x="969264" y="2966720"/>
            <a:ext cx="4279501" cy="256032"/>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B45309"/>
                </a:solidFill>
                <a:latin typeface="Arial"/>
                <a:ea typeface="Microsoft YaHei"/>
                <a:cs typeface="Arial"/>
              </a:rPr>
              <a:t>Co-primary · safety</a:t>
            </a:r>
          </a:p>
        </p:txBody>
      </p:sp>
      <p:sp>
        <p:nvSpPr>
          <p:cNvPr id="15" name="TextBox 14"/>
          <p:cNvSpPr txBox="1"/>
          <p:nvPr/>
        </p:nvSpPr>
        <p:spPr>
          <a:xfrm>
            <a:off x="969264" y="3295904"/>
            <a:ext cx="4224637" cy="497839"/>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 Unsafe recommendation rate (a drug contraindicated for this patient)</a:t>
            </a:r>
          </a:p>
        </p:txBody>
      </p:sp>
      <p:sp>
        <p:nvSpPr>
          <p:cNvPr id="16" name="Rectangle 15"/>
          <p:cNvSpPr/>
          <p:nvPr/>
        </p:nvSpPr>
        <p:spPr>
          <a:xfrm>
            <a:off x="713232" y="4141216"/>
            <a:ext cx="4736701" cy="1526032"/>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7" name="Rectangle 16"/>
          <p:cNvSpPr/>
          <p:nvPr/>
        </p:nvSpPr>
        <p:spPr>
          <a:xfrm>
            <a:off x="713232" y="4141216"/>
            <a:ext cx="45720" cy="1526032"/>
          </a:xfrm>
          <a:prstGeom prst="rect">
            <a:avLst/>
          </a:prstGeom>
          <a:solidFill>
            <a:srgbClr val="47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8" name="TextBox 17"/>
          <p:cNvSpPr txBox="1"/>
          <p:nvPr/>
        </p:nvSpPr>
        <p:spPr>
          <a:xfrm>
            <a:off x="969264" y="4287520"/>
            <a:ext cx="4279501" cy="256032"/>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475A6B"/>
                </a:solidFill>
                <a:latin typeface="Arial"/>
                <a:ea typeface="Microsoft YaHei"/>
                <a:cs typeface="Arial"/>
              </a:rPr>
              <a:t>Secondary</a:t>
            </a:r>
          </a:p>
        </p:txBody>
      </p:sp>
      <p:sp>
        <p:nvSpPr>
          <p:cNvPr id="19" name="TextBox 18"/>
          <p:cNvSpPr txBox="1"/>
          <p:nvPr/>
        </p:nvSpPr>
        <p:spPr>
          <a:xfrm>
            <a:off x="969264" y="4616704"/>
            <a:ext cx="4224637" cy="904239"/>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 Staging correct · Extraction F1 · Contraindication recall · Contraindication false positive · Citation support · Trace concordance · Abstention appropriateness</a:t>
            </a:r>
          </a:p>
        </p:txBody>
      </p:sp>
      <p:sp>
        <p:nvSpPr>
          <p:cNvPr id="20" name="Rectangle 19"/>
          <p:cNvSpPr/>
          <p:nvPr/>
        </p:nvSpPr>
        <p:spPr>
          <a:xfrm>
            <a:off x="5852269" y="1499616"/>
            <a:ext cx="5626193" cy="1405636"/>
          </a:xfrm>
          <a:prstGeom prst="rect">
            <a:avLst/>
          </a:prstGeom>
          <a:solidFill>
            <a:srgbClr val="FFFFFF"/>
          </a:solidFill>
          <a:ln w="15240">
            <a:solidFill>
              <a:srgbClr val="D3DF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1" name="TextBox 20"/>
          <p:cNvSpPr txBox="1"/>
          <p:nvPr/>
        </p:nvSpPr>
        <p:spPr>
          <a:xfrm>
            <a:off x="6108301" y="1682496"/>
            <a:ext cx="274320" cy="274320"/>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0E7490"/>
                </a:solidFill>
                <a:latin typeface="Arial"/>
                <a:ea typeface="Microsoft YaHei"/>
                <a:cs typeface="Arial"/>
              </a:rPr>
              <a:t>1</a:t>
            </a:r>
          </a:p>
        </p:txBody>
      </p:sp>
      <p:sp>
        <p:nvSpPr>
          <p:cNvPr id="22" name="TextBox 21"/>
          <p:cNvSpPr txBox="1"/>
          <p:nvPr/>
        </p:nvSpPr>
        <p:spPr>
          <a:xfrm>
            <a:off x="6400909" y="1682496"/>
            <a:ext cx="4803233" cy="308356"/>
          </a:xfrm>
          <a:prstGeom prst="rect">
            <a:avLst/>
          </a:prstGeom>
          <a:noFill/>
        </p:spPr>
        <p:txBody>
          <a:bodyPr wrap="square" lIns="0" rIns="0" tIns="0" bIns="0" anchor="t">
            <a:spAutoFit/>
          </a:bodyPr>
          <a:lstStyle/>
          <a:p>
            <a:pPr algn="l">
              <a:lnSpc>
                <a:spcPct val="122000"/>
              </a:lnSpc>
              <a:spcBef>
                <a:spcPts val="0"/>
              </a:spcBef>
              <a:spcAft>
                <a:spcPts val="0"/>
              </a:spcAft>
            </a:pPr>
            <a:r>
              <a:rPr sz="1400" b="1" i="0">
                <a:solidFill>
                  <a:srgbClr val="182533"/>
                </a:solidFill>
                <a:latin typeface="Arial"/>
                <a:ea typeface="Microsoft YaHei"/>
                <a:cs typeface="Arial"/>
              </a:rPr>
              <a:t>Safety never enters the average</a:t>
            </a:r>
          </a:p>
        </p:txBody>
      </p:sp>
      <p:sp>
        <p:nvSpPr>
          <p:cNvPr id="23" name="TextBox 22"/>
          <p:cNvSpPr txBox="1"/>
          <p:nvPr/>
        </p:nvSpPr>
        <p:spPr>
          <a:xfrm>
            <a:off x="6400909" y="2009140"/>
            <a:ext cx="4803233" cy="713232"/>
          </a:xfrm>
          <a:prstGeom prst="rect">
            <a:avLst/>
          </a:prstGeom>
          <a:noFill/>
        </p:spPr>
        <p:txBody>
          <a:bodyPr wrap="square" lIns="0" rIns="0" tIns="0" bIns="0" anchor="t">
            <a:spAutoFit/>
          </a:bodyPr>
          <a:lstStyle/>
          <a:p>
            <a:pPr algn="l">
              <a:lnSpc>
                <a:spcPct val="136000"/>
              </a:lnSpc>
              <a:spcBef>
                <a:spcPts val="0"/>
              </a:spcBef>
              <a:spcAft>
                <a:spcPts val="0"/>
              </a:spcAft>
            </a:pPr>
            <a:r>
              <a:rPr sz="1200" b="0" i="0">
                <a:solidFill>
                  <a:srgbClr val="475A6B"/>
                </a:solidFill>
                <a:latin typeface="Arial"/>
                <a:ea typeface="Microsoft YaHei"/>
                <a:cs typeface="Arial"/>
              </a:rPr>
              <a:t>A missed pregnancy contraindication and an over-cautious lifestyle answer are both 'one error' to accuracy, and are not clinically equivalent.</a:t>
            </a:r>
          </a:p>
        </p:txBody>
      </p:sp>
      <p:sp>
        <p:nvSpPr>
          <p:cNvPr id="24" name="Rectangle 23"/>
          <p:cNvSpPr/>
          <p:nvPr/>
        </p:nvSpPr>
        <p:spPr>
          <a:xfrm>
            <a:off x="5852269" y="3088132"/>
            <a:ext cx="5626193" cy="1198372"/>
          </a:xfrm>
          <a:prstGeom prst="rect">
            <a:avLst/>
          </a:prstGeom>
          <a:solidFill>
            <a:srgbClr val="FFFFFF"/>
          </a:solidFill>
          <a:ln w="15240">
            <a:solidFill>
              <a:srgbClr val="D3DF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5" name="TextBox 24"/>
          <p:cNvSpPr txBox="1"/>
          <p:nvPr/>
        </p:nvSpPr>
        <p:spPr>
          <a:xfrm>
            <a:off x="6108301" y="3271012"/>
            <a:ext cx="274320" cy="274320"/>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0E7490"/>
                </a:solidFill>
                <a:latin typeface="Arial"/>
                <a:ea typeface="Microsoft YaHei"/>
                <a:cs typeface="Arial"/>
              </a:rPr>
              <a:t>2</a:t>
            </a:r>
          </a:p>
        </p:txBody>
      </p:sp>
      <p:sp>
        <p:nvSpPr>
          <p:cNvPr id="26" name="TextBox 25"/>
          <p:cNvSpPr txBox="1"/>
          <p:nvPr/>
        </p:nvSpPr>
        <p:spPr>
          <a:xfrm>
            <a:off x="6400909" y="3271012"/>
            <a:ext cx="4803233" cy="308356"/>
          </a:xfrm>
          <a:prstGeom prst="rect">
            <a:avLst/>
          </a:prstGeom>
          <a:noFill/>
        </p:spPr>
        <p:txBody>
          <a:bodyPr wrap="square" lIns="0" rIns="0" tIns="0" bIns="0" anchor="t">
            <a:spAutoFit/>
          </a:bodyPr>
          <a:lstStyle/>
          <a:p>
            <a:pPr algn="l">
              <a:lnSpc>
                <a:spcPct val="122000"/>
              </a:lnSpc>
              <a:spcBef>
                <a:spcPts val="0"/>
              </a:spcBef>
              <a:spcAft>
                <a:spcPts val="0"/>
              </a:spcAft>
            </a:pPr>
            <a:r>
              <a:rPr sz="1400" b="1" i="0">
                <a:solidFill>
                  <a:srgbClr val="182533"/>
                </a:solidFill>
                <a:latin typeface="Arial"/>
                <a:ea typeface="Microsoft YaHei"/>
                <a:cs typeface="Arial"/>
              </a:rPr>
              <a:t>Always print the baseline next to the score</a:t>
            </a:r>
          </a:p>
        </p:txBody>
      </p:sp>
      <p:sp>
        <p:nvSpPr>
          <p:cNvPr id="27" name="TextBox 26"/>
          <p:cNvSpPr txBox="1"/>
          <p:nvPr/>
        </p:nvSpPr>
        <p:spPr>
          <a:xfrm>
            <a:off x="6400909" y="3597656"/>
            <a:ext cx="4803233" cy="505968"/>
          </a:xfrm>
          <a:prstGeom prst="rect">
            <a:avLst/>
          </a:prstGeom>
          <a:noFill/>
        </p:spPr>
        <p:txBody>
          <a:bodyPr wrap="square" lIns="0" rIns="0" tIns="0" bIns="0" anchor="t">
            <a:spAutoFit/>
          </a:bodyPr>
          <a:lstStyle/>
          <a:p>
            <a:pPr algn="l">
              <a:lnSpc>
                <a:spcPct val="136000"/>
              </a:lnSpc>
              <a:spcBef>
                <a:spcPts val="0"/>
              </a:spcBef>
              <a:spcAft>
                <a:spcPts val="0"/>
              </a:spcAft>
            </a:pPr>
            <a:r>
              <a:rPr sz="1200" b="0" i="0">
                <a:solidFill>
                  <a:srgbClr val="475A6B"/>
                </a:solidFill>
                <a:latin typeface="Arial"/>
                <a:ea typeface="Microsoft YaHei"/>
                <a:cs typeface="Arial"/>
              </a:rPr>
              <a:t>The majority class in the test split is 51.5% — answering 'lifestyle only' unconditionally scores 51.5%.</a:t>
            </a:r>
          </a:p>
        </p:txBody>
      </p:sp>
      <p:sp>
        <p:nvSpPr>
          <p:cNvPr id="28" name="Rectangle 27"/>
          <p:cNvSpPr/>
          <p:nvPr/>
        </p:nvSpPr>
        <p:spPr>
          <a:xfrm>
            <a:off x="5852269" y="4469384"/>
            <a:ext cx="5626193" cy="1405636"/>
          </a:xfrm>
          <a:prstGeom prst="rect">
            <a:avLst/>
          </a:prstGeom>
          <a:solidFill>
            <a:srgbClr val="FFFFFF"/>
          </a:solidFill>
          <a:ln w="15240">
            <a:solidFill>
              <a:srgbClr val="D3DF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9" name="TextBox 28"/>
          <p:cNvSpPr txBox="1"/>
          <p:nvPr/>
        </p:nvSpPr>
        <p:spPr>
          <a:xfrm>
            <a:off x="6108301" y="4652264"/>
            <a:ext cx="274320" cy="274320"/>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0E7490"/>
                </a:solidFill>
                <a:latin typeface="Arial"/>
                <a:ea typeface="Microsoft YaHei"/>
                <a:cs typeface="Arial"/>
              </a:rPr>
              <a:t>3</a:t>
            </a:r>
          </a:p>
        </p:txBody>
      </p:sp>
      <p:sp>
        <p:nvSpPr>
          <p:cNvPr id="30" name="TextBox 29"/>
          <p:cNvSpPr txBox="1"/>
          <p:nvPr/>
        </p:nvSpPr>
        <p:spPr>
          <a:xfrm>
            <a:off x="6400909" y="4652264"/>
            <a:ext cx="4803233" cy="308356"/>
          </a:xfrm>
          <a:prstGeom prst="rect">
            <a:avLst/>
          </a:prstGeom>
          <a:noFill/>
        </p:spPr>
        <p:txBody>
          <a:bodyPr wrap="square" lIns="0" rIns="0" tIns="0" bIns="0" anchor="t">
            <a:spAutoFit/>
          </a:bodyPr>
          <a:lstStyle/>
          <a:p>
            <a:pPr algn="l">
              <a:lnSpc>
                <a:spcPct val="122000"/>
              </a:lnSpc>
              <a:spcBef>
                <a:spcPts val="0"/>
              </a:spcBef>
              <a:spcAft>
                <a:spcPts val="0"/>
              </a:spcAft>
            </a:pPr>
            <a:r>
              <a:rPr sz="1400" b="1" i="0">
                <a:solidFill>
                  <a:srgbClr val="182533"/>
                </a:solidFill>
                <a:latin typeface="Arial"/>
                <a:ea typeface="Microsoft YaHei"/>
                <a:cs typeface="Arial"/>
              </a:rPr>
              <a:t>Abstention is scored, not dropped</a:t>
            </a:r>
          </a:p>
        </p:txBody>
      </p:sp>
      <p:sp>
        <p:nvSpPr>
          <p:cNvPr id="31" name="TextBox 30"/>
          <p:cNvSpPr txBox="1"/>
          <p:nvPr/>
        </p:nvSpPr>
        <p:spPr>
          <a:xfrm>
            <a:off x="6400909" y="4978908"/>
            <a:ext cx="4803233" cy="713232"/>
          </a:xfrm>
          <a:prstGeom prst="rect">
            <a:avLst/>
          </a:prstGeom>
          <a:noFill/>
        </p:spPr>
        <p:txBody>
          <a:bodyPr wrap="square" lIns="0" rIns="0" tIns="0" bIns="0" anchor="t">
            <a:spAutoFit/>
          </a:bodyPr>
          <a:lstStyle/>
          <a:p>
            <a:pPr algn="l">
              <a:lnSpc>
                <a:spcPct val="136000"/>
              </a:lnSpc>
              <a:spcBef>
                <a:spcPts val="0"/>
              </a:spcBef>
              <a:spcAft>
                <a:spcPts val="0"/>
              </a:spcAft>
            </a:pPr>
            <a:r>
              <a:rPr sz="1200" b="0" i="0">
                <a:solidFill>
                  <a:srgbClr val="475A6B"/>
                </a:solidFill>
                <a:latin typeface="Arial"/>
                <a:ea typeface="Microsoft YaHei"/>
                <a:cs typeface="Arial"/>
              </a:rPr>
              <a:t>Abstaining when the answer is genuinely undecidable is correct behaviour. Dropping abstentions rewards guessing. Over- and under-abstention are reported as two separate rates.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EXPECTED RESULTS</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Five falsifiable predictions</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14</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536192"/>
            <a:ext cx="10765231" cy="4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9" name="Connector 8"/>
          <p:cNvCxnSpPr/>
          <p:nvPr/>
        </p:nvCxnSpPr>
        <p:spPr>
          <a:xfrm>
            <a:off x="713232" y="1536192"/>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41248" y="1610360"/>
            <a:ext cx="398506"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H1</a:t>
            </a:r>
          </a:p>
        </p:txBody>
      </p:sp>
      <p:sp>
        <p:nvSpPr>
          <p:cNvPr id="11" name="TextBox 10"/>
          <p:cNvSpPr txBox="1"/>
          <p:nvPr/>
        </p:nvSpPr>
        <p:spPr>
          <a:xfrm>
            <a:off x="1532362" y="1655064"/>
            <a:ext cx="3856491"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Structured near ceiling, narrative drops clearly</a:t>
            </a:r>
          </a:p>
        </p:txBody>
      </p:sp>
      <p:sp>
        <p:nvSpPr>
          <p:cNvPr id="12" name="TextBox 11"/>
          <p:cNvSpPr txBox="1"/>
          <p:nvPr/>
        </p:nvSpPr>
        <p:spPr>
          <a:xfrm>
            <a:off x="5681462" y="1655064"/>
            <a:ext cx="3520078"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Most errors are reading, not reasoning</a:t>
            </a:r>
          </a:p>
        </p:txBody>
      </p:sp>
      <p:sp>
        <p:nvSpPr>
          <p:cNvPr id="13" name="TextBox 12"/>
          <p:cNvSpPr txBox="1"/>
          <p:nvPr/>
        </p:nvSpPr>
        <p:spPr>
          <a:xfrm>
            <a:off x="9494148" y="1655064"/>
            <a:ext cx="1838010"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C0 − C1</a:t>
            </a:r>
          </a:p>
        </p:txBody>
      </p:sp>
      <p:sp>
        <p:nvSpPr>
          <p:cNvPr id="14" name="Rectangle 13"/>
          <p:cNvSpPr/>
          <p:nvPr/>
        </p:nvSpPr>
        <p:spPr>
          <a:xfrm>
            <a:off x="713232" y="1977136"/>
            <a:ext cx="10765231" cy="6441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15" name="Connector 14"/>
          <p:cNvCxnSpPr/>
          <p:nvPr/>
        </p:nvCxnSpPr>
        <p:spPr>
          <a:xfrm>
            <a:off x="713232" y="1977136"/>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41248" y="2152904"/>
            <a:ext cx="398506"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H2</a:t>
            </a:r>
          </a:p>
        </p:txBody>
      </p:sp>
      <p:sp>
        <p:nvSpPr>
          <p:cNvPr id="17" name="TextBox 16"/>
          <p:cNvSpPr txBox="1"/>
          <p:nvPr/>
        </p:nvSpPr>
        <p:spPr>
          <a:xfrm>
            <a:off x="1532362" y="2096008"/>
            <a:ext cx="3856491"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Staging near perfect; errors concentrate in risk stratification and contraindications</a:t>
            </a:r>
          </a:p>
        </p:txBody>
      </p:sp>
      <p:sp>
        <p:nvSpPr>
          <p:cNvPr id="18" name="TextBox 17"/>
          <p:cNvSpPr txBox="1"/>
          <p:nvPr/>
        </p:nvSpPr>
        <p:spPr>
          <a:xfrm>
            <a:off x="5681462" y="2096008"/>
            <a:ext cx="3520078"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Names the step actually worth fixing</a:t>
            </a:r>
          </a:p>
        </p:txBody>
      </p:sp>
      <p:sp>
        <p:nvSpPr>
          <p:cNvPr id="19" name="TextBox 18"/>
          <p:cNvSpPr txBox="1"/>
          <p:nvPr/>
        </p:nvSpPr>
        <p:spPr>
          <a:xfrm>
            <a:off x="9494148" y="2096008"/>
            <a:ext cx="1838010"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Failure-mode distribution</a:t>
            </a:r>
          </a:p>
        </p:txBody>
      </p:sp>
      <p:sp>
        <p:nvSpPr>
          <p:cNvPr id="20" name="Rectangle 19"/>
          <p:cNvSpPr/>
          <p:nvPr/>
        </p:nvSpPr>
        <p:spPr>
          <a:xfrm>
            <a:off x="713232" y="2621280"/>
            <a:ext cx="10765231" cy="6441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21" name="Connector 20"/>
          <p:cNvCxnSpPr/>
          <p:nvPr/>
        </p:nvCxnSpPr>
        <p:spPr>
          <a:xfrm>
            <a:off x="713232" y="2621280"/>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41248" y="2797048"/>
            <a:ext cx="398506"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H3</a:t>
            </a:r>
          </a:p>
        </p:txBody>
      </p:sp>
      <p:sp>
        <p:nvSpPr>
          <p:cNvPr id="23" name="TextBox 22"/>
          <p:cNvSpPr txBox="1"/>
          <p:nvPr/>
        </p:nvSpPr>
        <p:spPr>
          <a:xfrm>
            <a:off x="1532362" y="2740152"/>
            <a:ext cx="3856491"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Retrieval fixes knowledge errors but not arithmetic; tools do the reverse</a:t>
            </a:r>
          </a:p>
        </p:txBody>
      </p:sp>
      <p:sp>
        <p:nvSpPr>
          <p:cNvPr id="24" name="TextBox 23"/>
          <p:cNvSpPr txBox="1"/>
          <p:nvPr/>
        </p:nvSpPr>
        <p:spPr>
          <a:xfrm>
            <a:off x="5681462" y="2740152"/>
            <a:ext cx="3520078"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Interventions must match the error class</a:t>
            </a:r>
          </a:p>
        </p:txBody>
      </p:sp>
      <p:sp>
        <p:nvSpPr>
          <p:cNvPr id="25" name="TextBox 24"/>
          <p:cNvSpPr txBox="1"/>
          <p:nvPr/>
        </p:nvSpPr>
        <p:spPr>
          <a:xfrm>
            <a:off x="9494148" y="2740152"/>
            <a:ext cx="1838010"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C2 − C1 vs C3 − C2</a:t>
            </a:r>
          </a:p>
        </p:txBody>
      </p:sp>
      <p:sp>
        <p:nvSpPr>
          <p:cNvPr id="26" name="Rectangle 25"/>
          <p:cNvSpPr/>
          <p:nvPr/>
        </p:nvSpPr>
        <p:spPr>
          <a:xfrm>
            <a:off x="713232" y="3265424"/>
            <a:ext cx="10765231" cy="4409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27" name="Connector 26"/>
          <p:cNvCxnSpPr/>
          <p:nvPr/>
        </p:nvCxnSpPr>
        <p:spPr>
          <a:xfrm>
            <a:off x="713232" y="3265424"/>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1248" y="3339592"/>
            <a:ext cx="398506"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H4</a:t>
            </a:r>
          </a:p>
        </p:txBody>
      </p:sp>
      <p:sp>
        <p:nvSpPr>
          <p:cNvPr id="29" name="TextBox 28"/>
          <p:cNvSpPr txBox="1"/>
          <p:nvPr/>
        </p:nvSpPr>
        <p:spPr>
          <a:xfrm>
            <a:off x="1532362" y="3384296"/>
            <a:ext cx="3856491"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A further drop on real discharge summaries</a:t>
            </a:r>
          </a:p>
        </p:txBody>
      </p:sp>
      <p:sp>
        <p:nvSpPr>
          <p:cNvPr id="30" name="TextBox 29"/>
          <p:cNvSpPr txBox="1"/>
          <p:nvPr/>
        </p:nvSpPr>
        <p:spPr>
          <a:xfrm>
            <a:off x="5681462" y="3384296"/>
            <a:ext cx="3520078"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Bounds how far vignette findings generalize</a:t>
            </a:r>
          </a:p>
        </p:txBody>
      </p:sp>
      <p:sp>
        <p:nvSpPr>
          <p:cNvPr id="31" name="TextBox 30"/>
          <p:cNvSpPr txBox="1"/>
          <p:nvPr/>
        </p:nvSpPr>
        <p:spPr>
          <a:xfrm>
            <a:off x="9494148" y="3384296"/>
            <a:ext cx="1838010"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C4 − C3</a:t>
            </a:r>
          </a:p>
        </p:txBody>
      </p:sp>
      <p:sp>
        <p:nvSpPr>
          <p:cNvPr id="32" name="Rectangle 31"/>
          <p:cNvSpPr/>
          <p:nvPr/>
        </p:nvSpPr>
        <p:spPr>
          <a:xfrm>
            <a:off x="713232" y="3706368"/>
            <a:ext cx="10765231" cy="6441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33" name="Connector 32"/>
          <p:cNvCxnSpPr/>
          <p:nvPr/>
        </p:nvCxnSpPr>
        <p:spPr>
          <a:xfrm>
            <a:off x="713232" y="3706368"/>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 y="3882136"/>
            <a:ext cx="398506"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H5</a:t>
            </a:r>
          </a:p>
        </p:txBody>
      </p:sp>
      <p:sp>
        <p:nvSpPr>
          <p:cNvPr id="35" name="TextBox 34"/>
          <p:cNvSpPr txBox="1"/>
          <p:nvPr/>
        </p:nvSpPr>
        <p:spPr>
          <a:xfrm>
            <a:off x="1532362" y="3825240"/>
            <a:ext cx="3856491"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Models systematically overcommit and rarely abstain</a:t>
            </a:r>
          </a:p>
        </p:txBody>
      </p:sp>
      <p:sp>
        <p:nvSpPr>
          <p:cNvPr id="36" name="TextBox 35"/>
          <p:cNvSpPr txBox="1"/>
          <p:nvPr/>
        </p:nvSpPr>
        <p:spPr>
          <a:xfrm>
            <a:off x="5681462" y="3825240"/>
            <a:ext cx="3520078"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A direct safety concern for deployment</a:t>
            </a:r>
          </a:p>
        </p:txBody>
      </p:sp>
      <p:sp>
        <p:nvSpPr>
          <p:cNvPr id="37" name="TextBox 36"/>
          <p:cNvSpPr txBox="1"/>
          <p:nvPr/>
        </p:nvSpPr>
        <p:spPr>
          <a:xfrm>
            <a:off x="9494148" y="3825240"/>
            <a:ext cx="1838010"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Abstention appropriateness</a:t>
            </a:r>
          </a:p>
        </p:txBody>
      </p:sp>
      <p:cxnSp>
        <p:nvCxnSpPr>
          <p:cNvPr id="38" name="Connector 37"/>
          <p:cNvCxnSpPr/>
          <p:nvPr/>
        </p:nvCxnSpPr>
        <p:spPr>
          <a:xfrm>
            <a:off x="713232" y="4350512"/>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13232" y="4606544"/>
            <a:ext cx="10765231" cy="548640"/>
          </a:xfrm>
          <a:prstGeom prst="rect">
            <a:avLst/>
          </a:prstGeom>
          <a:noFill/>
        </p:spPr>
        <p:txBody>
          <a:bodyPr wrap="square" lIns="0" rIns="0" tIns="0" bIns="0" anchor="t">
            <a:spAutoFit/>
          </a:bodyPr>
          <a:lstStyle/>
          <a:p>
            <a:pPr algn="l">
              <a:lnSpc>
                <a:spcPct val="138000"/>
              </a:lnSpc>
              <a:spcBef>
                <a:spcPts val="0"/>
              </a:spcBef>
              <a:spcAft>
                <a:spcPts val="0"/>
              </a:spcAft>
            </a:pPr>
            <a:r>
              <a:rPr sz="1250" b="0" i="0">
                <a:solidFill>
                  <a:srgbClr val="475A6B"/>
                </a:solidFill>
                <a:latin typeface="Arial"/>
                <a:ea typeface="Microsoft YaHei"/>
                <a:cs typeface="Arial"/>
              </a:rPr>
              <a:t>Any prediction failing is itself a finding. If H1 fails and narrative input costs nothing, reading is not the bottleneck and the project pivots to reasoning — that is also a result.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CONCLUSIONS</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What the thesis can and cannot claim</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15</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99616"/>
            <a:ext cx="5227167" cy="4736592"/>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Rectangle 8"/>
          <p:cNvSpPr/>
          <p:nvPr/>
        </p:nvSpPr>
        <p:spPr>
          <a:xfrm>
            <a:off x="713232" y="1499616"/>
            <a:ext cx="5227167" cy="384048"/>
          </a:xfrm>
          <a:prstGeom prst="rect">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0" name="TextBox 9"/>
          <p:cNvSpPr txBox="1"/>
          <p:nvPr/>
        </p:nvSpPr>
        <p:spPr>
          <a:xfrm>
            <a:off x="950976" y="1591056"/>
            <a:ext cx="4751679" cy="274320"/>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FFFFFF"/>
                </a:solidFill>
                <a:latin typeface="Arial"/>
                <a:ea typeface="Microsoft YaHei"/>
                <a:cs typeface="Arial"/>
              </a:rPr>
              <a:t>Claims we can make</a:t>
            </a:r>
          </a:p>
        </p:txBody>
      </p:sp>
      <p:sp>
        <p:nvSpPr>
          <p:cNvPr id="11" name="TextBox 10"/>
          <p:cNvSpPr txBox="1"/>
          <p:nvPr/>
        </p:nvSpPr>
        <p:spPr>
          <a:xfrm>
            <a:off x="987552" y="2121408"/>
            <a:ext cx="237744"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57F5C"/>
                </a:solidFill>
                <a:latin typeface="Arial"/>
                <a:ea typeface="Microsoft YaHei"/>
                <a:cs typeface="Arial"/>
              </a:rPr>
              <a:t>✓</a:t>
            </a:r>
          </a:p>
        </p:txBody>
      </p:sp>
      <p:sp>
        <p:nvSpPr>
          <p:cNvPr id="12" name="TextBox 11"/>
          <p:cNvSpPr txBox="1"/>
          <p:nvPr/>
        </p:nvSpPr>
        <p:spPr>
          <a:xfrm>
            <a:off x="1280160" y="2121408"/>
            <a:ext cx="4385919" cy="51054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182533"/>
                </a:solidFill>
                <a:latin typeface="Arial"/>
                <a:ea typeface="Microsoft YaHei"/>
                <a:cs typeface="Arial"/>
              </a:rPr>
              <a:t>What share of LLM error in hypertension prescribing comes from failing to read the chart</a:t>
            </a:r>
          </a:p>
        </p:txBody>
      </p:sp>
      <p:sp>
        <p:nvSpPr>
          <p:cNvPr id="13" name="TextBox 12"/>
          <p:cNvSpPr txBox="1"/>
          <p:nvPr/>
        </p:nvSpPr>
        <p:spPr>
          <a:xfrm>
            <a:off x="987552" y="2723388"/>
            <a:ext cx="237744"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57F5C"/>
                </a:solidFill>
                <a:latin typeface="Arial"/>
                <a:ea typeface="Microsoft YaHei"/>
                <a:cs typeface="Arial"/>
              </a:rPr>
              <a:t>✓</a:t>
            </a:r>
          </a:p>
        </p:txBody>
      </p:sp>
      <p:sp>
        <p:nvSpPr>
          <p:cNvPr id="14" name="TextBox 13"/>
          <p:cNvSpPr txBox="1"/>
          <p:nvPr/>
        </p:nvSpPr>
        <p:spPr>
          <a:xfrm>
            <a:off x="1280160" y="2723388"/>
            <a:ext cx="4385919" cy="51054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182533"/>
                </a:solidFill>
                <a:latin typeface="Arial"/>
                <a:ea typeface="Microsoft YaHei"/>
                <a:cs typeface="Arial"/>
              </a:rPr>
              <a:t>Which step of the decision chain errors fall on, and whether they are extraction, reasoning, or citation</a:t>
            </a:r>
          </a:p>
        </p:txBody>
      </p:sp>
      <p:sp>
        <p:nvSpPr>
          <p:cNvPr id="15" name="TextBox 14"/>
          <p:cNvSpPr txBox="1"/>
          <p:nvPr/>
        </p:nvSpPr>
        <p:spPr>
          <a:xfrm>
            <a:off x="987552" y="3325368"/>
            <a:ext cx="237744"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57F5C"/>
                </a:solidFill>
                <a:latin typeface="Arial"/>
                <a:ea typeface="Microsoft YaHei"/>
                <a:cs typeface="Arial"/>
              </a:rPr>
              <a:t>✓</a:t>
            </a:r>
          </a:p>
        </p:txBody>
      </p:sp>
      <p:sp>
        <p:nvSpPr>
          <p:cNvPr id="16" name="TextBox 15"/>
          <p:cNvSpPr txBox="1"/>
          <p:nvPr/>
        </p:nvSpPr>
        <p:spPr>
          <a:xfrm>
            <a:off x="1280160" y="3325368"/>
            <a:ext cx="4385919" cy="30099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182533"/>
                </a:solidFill>
                <a:latin typeface="Arial"/>
                <a:ea typeface="Microsoft YaHei"/>
                <a:cs typeface="Arial"/>
              </a:rPr>
              <a:t>Which intervention repairs which class of error</a:t>
            </a:r>
          </a:p>
        </p:txBody>
      </p:sp>
      <p:sp>
        <p:nvSpPr>
          <p:cNvPr id="17" name="TextBox 16"/>
          <p:cNvSpPr txBox="1"/>
          <p:nvPr/>
        </p:nvSpPr>
        <p:spPr>
          <a:xfrm>
            <a:off x="987552" y="3717798"/>
            <a:ext cx="237744"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57F5C"/>
                </a:solidFill>
                <a:latin typeface="Arial"/>
                <a:ea typeface="Microsoft YaHei"/>
                <a:cs typeface="Arial"/>
              </a:rPr>
              <a:t>✓</a:t>
            </a:r>
          </a:p>
        </p:txBody>
      </p:sp>
      <p:sp>
        <p:nvSpPr>
          <p:cNvPr id="18" name="TextBox 17"/>
          <p:cNvSpPr txBox="1"/>
          <p:nvPr/>
        </p:nvSpPr>
        <p:spPr>
          <a:xfrm>
            <a:off x="1280160" y="3717798"/>
            <a:ext cx="4385919" cy="51054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182533"/>
                </a:solidFill>
                <a:latin typeface="Arial"/>
                <a:ea typeface="Microsoft YaHei"/>
                <a:cs typeface="Arial"/>
              </a:rPr>
              <a:t>How much of the synthetic-vignette finding survives on real clinical text</a:t>
            </a:r>
          </a:p>
        </p:txBody>
      </p:sp>
      <p:sp>
        <p:nvSpPr>
          <p:cNvPr id="19" name="TextBox 18"/>
          <p:cNvSpPr txBox="1"/>
          <p:nvPr/>
        </p:nvSpPr>
        <p:spPr>
          <a:xfrm>
            <a:off x="987552" y="4319778"/>
            <a:ext cx="237744"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57F5C"/>
                </a:solidFill>
                <a:latin typeface="Arial"/>
                <a:ea typeface="Microsoft YaHei"/>
                <a:cs typeface="Arial"/>
              </a:rPr>
              <a:t>✓</a:t>
            </a:r>
          </a:p>
        </p:txBody>
      </p:sp>
      <p:sp>
        <p:nvSpPr>
          <p:cNvPr id="20" name="TextBox 19"/>
          <p:cNvSpPr txBox="1"/>
          <p:nvPr/>
        </p:nvSpPr>
        <p:spPr>
          <a:xfrm>
            <a:off x="1280160" y="4319778"/>
            <a:ext cx="4385919" cy="51054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182533"/>
                </a:solidFill>
                <a:latin typeface="Arial"/>
                <a:ea typeface="Microsoft YaHei"/>
                <a:cs typeface="Arial"/>
              </a:rPr>
              <a:t>That the engine is a faithful, auditable, citation-linked transcription of a published guideline</a:t>
            </a:r>
          </a:p>
        </p:txBody>
      </p:sp>
      <p:sp>
        <p:nvSpPr>
          <p:cNvPr id="21" name="Rectangle 20"/>
          <p:cNvSpPr/>
          <p:nvPr/>
        </p:nvSpPr>
        <p:spPr>
          <a:xfrm>
            <a:off x="6251295" y="1499616"/>
            <a:ext cx="5227167" cy="4736592"/>
          </a:xfrm>
          <a:prstGeom prst="rect">
            <a:avLst/>
          </a:prstGeom>
          <a:solidFill>
            <a:srgbClr val="FFFFFF"/>
          </a:solidFill>
          <a:ln w="15240">
            <a:solidFill>
              <a:srgbClr val="D3DF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2" name="Rectangle 21"/>
          <p:cNvSpPr/>
          <p:nvPr/>
        </p:nvSpPr>
        <p:spPr>
          <a:xfrm>
            <a:off x="6251295" y="1499616"/>
            <a:ext cx="5227167" cy="3840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3" name="TextBox 22"/>
          <p:cNvSpPr txBox="1"/>
          <p:nvPr/>
        </p:nvSpPr>
        <p:spPr>
          <a:xfrm>
            <a:off x="6489039" y="1591056"/>
            <a:ext cx="4751679" cy="274320"/>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FFFFFF"/>
                </a:solidFill>
                <a:latin typeface="Arial"/>
                <a:ea typeface="Microsoft YaHei"/>
                <a:cs typeface="Arial"/>
              </a:rPr>
              <a:t>Claims we cannot make</a:t>
            </a:r>
          </a:p>
        </p:txBody>
      </p:sp>
      <p:sp>
        <p:nvSpPr>
          <p:cNvPr id="24" name="TextBox 23"/>
          <p:cNvSpPr txBox="1"/>
          <p:nvPr/>
        </p:nvSpPr>
        <p:spPr>
          <a:xfrm>
            <a:off x="6525615" y="2121408"/>
            <a:ext cx="237744"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B45309"/>
                </a:solidFill>
                <a:latin typeface="Arial"/>
                <a:ea typeface="Microsoft YaHei"/>
                <a:cs typeface="Arial"/>
              </a:rPr>
              <a:t>✕</a:t>
            </a:r>
          </a:p>
        </p:txBody>
      </p:sp>
      <p:sp>
        <p:nvSpPr>
          <p:cNvPr id="25" name="TextBox 24"/>
          <p:cNvSpPr txBox="1"/>
          <p:nvPr/>
        </p:nvSpPr>
        <p:spPr>
          <a:xfrm>
            <a:off x="6818223" y="2121408"/>
            <a:ext cx="4385919" cy="51054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182533"/>
                </a:solidFill>
                <a:latin typeface="Arial"/>
                <a:ea typeface="Microsoft YaHei"/>
                <a:cs typeface="Arial"/>
              </a:rPr>
              <a:t>'The engine outperforms the LLM' — it is the answer key, not a contestant</a:t>
            </a:r>
          </a:p>
        </p:txBody>
      </p:sp>
      <p:sp>
        <p:nvSpPr>
          <p:cNvPr id="26" name="TextBox 25"/>
          <p:cNvSpPr txBox="1"/>
          <p:nvPr/>
        </p:nvSpPr>
        <p:spPr>
          <a:xfrm>
            <a:off x="6525615" y="2723388"/>
            <a:ext cx="237744"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B45309"/>
                </a:solidFill>
                <a:latin typeface="Arial"/>
                <a:ea typeface="Microsoft YaHei"/>
                <a:cs typeface="Arial"/>
              </a:rPr>
              <a:t>✕</a:t>
            </a:r>
          </a:p>
        </p:txBody>
      </p:sp>
      <p:sp>
        <p:nvSpPr>
          <p:cNvPr id="27" name="TextBox 26"/>
          <p:cNvSpPr txBox="1"/>
          <p:nvPr/>
        </p:nvSpPr>
        <p:spPr>
          <a:xfrm>
            <a:off x="6818223" y="2723388"/>
            <a:ext cx="4385919" cy="51054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182533"/>
                </a:solidFill>
                <a:latin typeface="Arial"/>
                <a:ea typeface="Microsoft YaHei"/>
                <a:cs typeface="Arial"/>
              </a:rPr>
              <a:t>'Concordance equals clinical correctness' — it equals concordance with one guideline's formalization</a:t>
            </a:r>
          </a:p>
        </p:txBody>
      </p:sp>
      <p:sp>
        <p:nvSpPr>
          <p:cNvPr id="28" name="TextBox 27"/>
          <p:cNvSpPr txBox="1"/>
          <p:nvPr/>
        </p:nvSpPr>
        <p:spPr>
          <a:xfrm>
            <a:off x="6525615" y="3325368"/>
            <a:ext cx="237744"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B45309"/>
                </a:solidFill>
                <a:latin typeface="Arial"/>
                <a:ea typeface="Microsoft YaHei"/>
                <a:cs typeface="Arial"/>
              </a:rPr>
              <a:t>✕</a:t>
            </a:r>
          </a:p>
        </p:txBody>
      </p:sp>
      <p:sp>
        <p:nvSpPr>
          <p:cNvPr id="29" name="TextBox 28"/>
          <p:cNvSpPr txBox="1"/>
          <p:nvPr/>
        </p:nvSpPr>
        <p:spPr>
          <a:xfrm>
            <a:off x="6818223" y="3325368"/>
            <a:ext cx="4385919" cy="51054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182533"/>
                </a:solidFill>
                <a:latin typeface="Arial"/>
                <a:ea typeface="Microsoft YaHei"/>
                <a:cs typeface="Arial"/>
              </a:rPr>
              <a:t>'The model is ready for clinical use' — no humans, no deployment; this is upstream measurement research</a:t>
            </a:r>
          </a:p>
        </p:txBody>
      </p:sp>
      <p:sp>
        <p:nvSpPr>
          <p:cNvPr id="30" name="TextBox 29"/>
          <p:cNvSpPr txBox="1"/>
          <p:nvPr/>
        </p:nvSpPr>
        <p:spPr>
          <a:xfrm>
            <a:off x="6525615" y="3927348"/>
            <a:ext cx="237744"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B45309"/>
                </a:solidFill>
                <a:latin typeface="Arial"/>
                <a:ea typeface="Microsoft YaHei"/>
                <a:cs typeface="Arial"/>
              </a:rPr>
              <a:t>✕</a:t>
            </a:r>
          </a:p>
        </p:txBody>
      </p:sp>
      <p:sp>
        <p:nvSpPr>
          <p:cNvPr id="31" name="TextBox 30"/>
          <p:cNvSpPr txBox="1"/>
          <p:nvPr/>
        </p:nvSpPr>
        <p:spPr>
          <a:xfrm>
            <a:off x="6818223" y="3927348"/>
            <a:ext cx="4385919" cy="72009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182533"/>
                </a:solidFill>
                <a:latin typeface="Arial"/>
                <a:ea typeface="Microsoft YaHei"/>
                <a:cs typeface="Arial"/>
              </a:rPr>
              <a:t>'Contamination is excluded' — NHANES and the guideline are public and may sit in pretraining; another reason to read differences, not absolutes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PROGRESS</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Built, in flight, and outstanding</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16</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99616"/>
            <a:ext cx="3663161" cy="4736592"/>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Rectangle 8"/>
          <p:cNvSpPr/>
          <p:nvPr/>
        </p:nvSpPr>
        <p:spPr>
          <a:xfrm>
            <a:off x="713232" y="1499616"/>
            <a:ext cx="3663161" cy="365760"/>
          </a:xfrm>
          <a:prstGeom prst="rect">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0" name="TextBox 9"/>
          <p:cNvSpPr txBox="1"/>
          <p:nvPr/>
        </p:nvSpPr>
        <p:spPr>
          <a:xfrm>
            <a:off x="914400" y="1581912"/>
            <a:ext cx="3260825" cy="274320"/>
          </a:xfrm>
          <a:prstGeom prst="rect">
            <a:avLst/>
          </a:prstGeom>
          <a:noFill/>
        </p:spPr>
        <p:txBody>
          <a:bodyPr wrap="square" lIns="0" rIns="0" tIns="0" bIns="0" anchor="t">
            <a:spAutoFit/>
          </a:bodyPr>
          <a:lstStyle/>
          <a:p>
            <a:pPr algn="l">
              <a:lnSpc>
                <a:spcPct val="122000"/>
              </a:lnSpc>
              <a:spcBef>
                <a:spcPts val="0"/>
              </a:spcBef>
              <a:spcAft>
                <a:spcPts val="0"/>
              </a:spcAft>
            </a:pPr>
            <a:r>
              <a:rPr sz="1250" b="1" i="0">
                <a:solidFill>
                  <a:srgbClr val="FFFFFF"/>
                </a:solidFill>
                <a:latin typeface="Arial"/>
                <a:ea typeface="Microsoft YaHei"/>
                <a:cs typeface="Arial"/>
              </a:rPr>
              <a:t>Built</a:t>
            </a:r>
          </a:p>
        </p:txBody>
      </p:sp>
      <p:sp>
        <p:nvSpPr>
          <p:cNvPr id="11" name="Oval 10"/>
          <p:cNvSpPr/>
          <p:nvPr/>
        </p:nvSpPr>
        <p:spPr>
          <a:xfrm>
            <a:off x="932688" y="2144268"/>
            <a:ext cx="45720" cy="45720"/>
          </a:xfrm>
          <a:prstGeom prst="ellipse">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2" name="TextBox 11"/>
          <p:cNvSpPr txBox="1"/>
          <p:nvPr/>
        </p:nvSpPr>
        <p:spPr>
          <a:xfrm>
            <a:off x="1115568" y="2066544"/>
            <a:ext cx="3059657"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Canonical schema, controlled vocabularies, CI and a tagged baseline</a:t>
            </a:r>
          </a:p>
        </p:txBody>
      </p:sp>
      <p:sp>
        <p:nvSpPr>
          <p:cNvPr id="13" name="Oval 12"/>
          <p:cNvSpPr/>
          <p:nvPr/>
        </p:nvSpPr>
        <p:spPr>
          <a:xfrm>
            <a:off x="932688" y="2641600"/>
            <a:ext cx="45720" cy="45720"/>
          </a:xfrm>
          <a:prstGeom prst="ellipse">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4" name="TextBox 13"/>
          <p:cNvSpPr txBox="1"/>
          <p:nvPr/>
        </p:nvSpPr>
        <p:spPr>
          <a:xfrm>
            <a:off x="1115568" y="2563876"/>
            <a:ext cx="3059657"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NHANES 4,806 plus MIMIC-IV 8,919 profiles (with 7,257 summaries)</a:t>
            </a:r>
          </a:p>
        </p:txBody>
      </p:sp>
      <p:sp>
        <p:nvSpPr>
          <p:cNvPr id="15" name="Oval 14"/>
          <p:cNvSpPr/>
          <p:nvPr/>
        </p:nvSpPr>
        <p:spPr>
          <a:xfrm>
            <a:off x="932688" y="3138932"/>
            <a:ext cx="45720" cy="45720"/>
          </a:xfrm>
          <a:prstGeom prst="ellipse">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6" name="TextBox 15"/>
          <p:cNvSpPr txBox="1"/>
          <p:nvPr/>
        </p:nvSpPr>
        <p:spPr>
          <a:xfrm>
            <a:off x="1115568" y="3061208"/>
            <a:ext cx="3059657"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PREVENT 10-year risk model (reproduces the published worked example exactly)</a:t>
            </a:r>
          </a:p>
        </p:txBody>
      </p:sp>
      <p:sp>
        <p:nvSpPr>
          <p:cNvPr id="17" name="Oval 16"/>
          <p:cNvSpPr/>
          <p:nvPr/>
        </p:nvSpPr>
        <p:spPr>
          <a:xfrm>
            <a:off x="932688" y="3636264"/>
            <a:ext cx="45720" cy="45720"/>
          </a:xfrm>
          <a:prstGeom prst="ellipse">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8" name="TextBox 17"/>
          <p:cNvSpPr txBox="1"/>
          <p:nvPr/>
        </p:nvSpPr>
        <p:spPr>
          <a:xfrm>
            <a:off x="1115568" y="3558540"/>
            <a:ext cx="3059657"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Engine: BP staging, initiation/intensification, three-valued abstention</a:t>
            </a:r>
          </a:p>
        </p:txBody>
      </p:sp>
      <p:sp>
        <p:nvSpPr>
          <p:cNvPr id="19" name="Oval 18"/>
          <p:cNvSpPr/>
          <p:nvPr/>
        </p:nvSpPr>
        <p:spPr>
          <a:xfrm>
            <a:off x="932688" y="4133595"/>
            <a:ext cx="45720" cy="45720"/>
          </a:xfrm>
          <a:prstGeom prst="ellipse">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0" name="TextBox 19"/>
          <p:cNvSpPr txBox="1"/>
          <p:nvPr/>
        </p:nvSpPr>
        <p:spPr>
          <a:xfrm>
            <a:off x="1115568" y="4055871"/>
            <a:ext cx="3059657"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Vignette renderer (3 levels), 14,418-case headline corpus, leakage audit</a:t>
            </a:r>
          </a:p>
        </p:txBody>
      </p:sp>
      <p:sp>
        <p:nvSpPr>
          <p:cNvPr id="21" name="Oval 20"/>
          <p:cNvSpPr/>
          <p:nvPr/>
        </p:nvSpPr>
        <p:spPr>
          <a:xfrm>
            <a:off x="932688" y="4630927"/>
            <a:ext cx="45720" cy="45720"/>
          </a:xfrm>
          <a:prstGeom prst="ellipse">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2" name="TextBox 21"/>
          <p:cNvSpPr txBox="1"/>
          <p:nvPr/>
        </p:nvSpPr>
        <p:spPr>
          <a:xfrm>
            <a:off x="1115568" y="4553203"/>
            <a:ext cx="3059657"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Model runner plus 720 live pilot calls (GO-NARROWED, K2 fired twice)</a:t>
            </a:r>
          </a:p>
        </p:txBody>
      </p:sp>
      <p:sp>
        <p:nvSpPr>
          <p:cNvPr id="23" name="Oval 22"/>
          <p:cNvSpPr/>
          <p:nvPr/>
        </p:nvSpPr>
        <p:spPr>
          <a:xfrm>
            <a:off x="932688" y="5128259"/>
            <a:ext cx="45720" cy="45720"/>
          </a:xfrm>
          <a:prstGeom prst="ellipse">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4" name="TextBox 23"/>
          <p:cNvSpPr txBox="1"/>
          <p:nvPr/>
        </p:nvSpPr>
        <p:spPr>
          <a:xfrm>
            <a:off x="1115568" y="5050535"/>
            <a:ext cx="3059657"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Nine-metric evaluator with the audit findings enforced in code</a:t>
            </a:r>
          </a:p>
        </p:txBody>
      </p:sp>
      <p:sp>
        <p:nvSpPr>
          <p:cNvPr id="25" name="Oval 24"/>
          <p:cNvSpPr/>
          <p:nvPr/>
        </p:nvSpPr>
        <p:spPr>
          <a:xfrm>
            <a:off x="932688" y="5625591"/>
            <a:ext cx="45720" cy="45720"/>
          </a:xfrm>
          <a:prstGeom prst="ellipse">
            <a:avLst/>
          </a:prstGeom>
          <a:solidFill>
            <a:srgbClr val="15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6" name="TextBox 25"/>
          <p:cNvSpPr txBox="1"/>
          <p:nvPr/>
        </p:nvSpPr>
        <p:spPr>
          <a:xfrm>
            <a:off x="1115568" y="5547867"/>
            <a:ext cx="3059657"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Experiment design document (ablation matrix, TRIPOD-LLM mapping)</a:t>
            </a:r>
          </a:p>
        </p:txBody>
      </p:sp>
      <p:sp>
        <p:nvSpPr>
          <p:cNvPr id="27" name="Rectangle 26"/>
          <p:cNvSpPr/>
          <p:nvPr/>
        </p:nvSpPr>
        <p:spPr>
          <a:xfrm>
            <a:off x="4614137" y="1499616"/>
            <a:ext cx="2478985" cy="4736592"/>
          </a:xfrm>
          <a:prstGeom prst="rect">
            <a:avLst/>
          </a:prstGeom>
          <a:solidFill>
            <a:srgbClr val="E7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8" name="Rectangle 27"/>
          <p:cNvSpPr/>
          <p:nvPr/>
        </p:nvSpPr>
        <p:spPr>
          <a:xfrm>
            <a:off x="4614137" y="1499616"/>
            <a:ext cx="2478985" cy="3657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9" name="TextBox 28"/>
          <p:cNvSpPr txBox="1"/>
          <p:nvPr/>
        </p:nvSpPr>
        <p:spPr>
          <a:xfrm>
            <a:off x="4815305" y="1581912"/>
            <a:ext cx="2076649" cy="274320"/>
          </a:xfrm>
          <a:prstGeom prst="rect">
            <a:avLst/>
          </a:prstGeom>
          <a:noFill/>
        </p:spPr>
        <p:txBody>
          <a:bodyPr wrap="square" lIns="0" rIns="0" tIns="0" bIns="0" anchor="t">
            <a:spAutoFit/>
          </a:bodyPr>
          <a:lstStyle/>
          <a:p>
            <a:pPr algn="l">
              <a:lnSpc>
                <a:spcPct val="122000"/>
              </a:lnSpc>
              <a:spcBef>
                <a:spcPts val="0"/>
              </a:spcBef>
              <a:spcAft>
                <a:spcPts val="0"/>
              </a:spcAft>
            </a:pPr>
            <a:r>
              <a:rPr sz="1250" b="1" i="0">
                <a:solidFill>
                  <a:srgbClr val="FFFFFF"/>
                </a:solidFill>
                <a:latin typeface="Arial"/>
                <a:ea typeface="Microsoft YaHei"/>
                <a:cs typeface="Arial"/>
              </a:rPr>
              <a:t>In flight</a:t>
            </a:r>
          </a:p>
        </p:txBody>
      </p:sp>
      <p:sp>
        <p:nvSpPr>
          <p:cNvPr id="30" name="Oval 29"/>
          <p:cNvSpPr/>
          <p:nvPr/>
        </p:nvSpPr>
        <p:spPr>
          <a:xfrm>
            <a:off x="4833593" y="2144268"/>
            <a:ext cx="45720" cy="4572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1" name="TextBox 30"/>
          <p:cNvSpPr txBox="1"/>
          <p:nvPr/>
        </p:nvSpPr>
        <p:spPr>
          <a:xfrm>
            <a:off x="5016473" y="2066544"/>
            <a:ext cx="1875481" cy="652272"/>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Engine composition-layer refactor (blocks the remaining six rule modules)</a:t>
            </a:r>
          </a:p>
        </p:txBody>
      </p:sp>
      <p:sp>
        <p:nvSpPr>
          <p:cNvPr id="32" name="Oval 31"/>
          <p:cNvSpPr/>
          <p:nvPr/>
        </p:nvSpPr>
        <p:spPr>
          <a:xfrm>
            <a:off x="4833593" y="2828544"/>
            <a:ext cx="45720" cy="4572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3" name="TextBox 32"/>
          <p:cNvSpPr txBox="1"/>
          <p:nvPr/>
        </p:nvSpPr>
        <p:spPr>
          <a:xfrm>
            <a:off x="5016473" y="2750820"/>
            <a:ext cx="1875481"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Documentation restructure across the three trees</a:t>
            </a:r>
          </a:p>
        </p:txBody>
      </p:sp>
      <p:sp>
        <p:nvSpPr>
          <p:cNvPr id="34" name="Rectangle 33"/>
          <p:cNvSpPr/>
          <p:nvPr/>
        </p:nvSpPr>
        <p:spPr>
          <a:xfrm>
            <a:off x="7330866" y="1499616"/>
            <a:ext cx="4147596" cy="4736592"/>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5" name="Rectangle 34"/>
          <p:cNvSpPr/>
          <p:nvPr/>
        </p:nvSpPr>
        <p:spPr>
          <a:xfrm>
            <a:off x="7330866" y="1499616"/>
            <a:ext cx="4147596" cy="3657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6" name="TextBox 35"/>
          <p:cNvSpPr txBox="1"/>
          <p:nvPr/>
        </p:nvSpPr>
        <p:spPr>
          <a:xfrm>
            <a:off x="7532034" y="1581912"/>
            <a:ext cx="3745260" cy="274320"/>
          </a:xfrm>
          <a:prstGeom prst="rect">
            <a:avLst/>
          </a:prstGeom>
          <a:noFill/>
        </p:spPr>
        <p:txBody>
          <a:bodyPr wrap="square" lIns="0" rIns="0" tIns="0" bIns="0" anchor="t">
            <a:spAutoFit/>
          </a:bodyPr>
          <a:lstStyle/>
          <a:p>
            <a:pPr algn="l">
              <a:lnSpc>
                <a:spcPct val="122000"/>
              </a:lnSpc>
              <a:spcBef>
                <a:spcPts val="0"/>
              </a:spcBef>
              <a:spcAft>
                <a:spcPts val="0"/>
              </a:spcAft>
            </a:pPr>
            <a:r>
              <a:rPr sz="1250" b="1" i="0">
                <a:solidFill>
                  <a:srgbClr val="FFFFFF"/>
                </a:solidFill>
                <a:latin typeface="Arial"/>
                <a:ea typeface="Microsoft YaHei"/>
                <a:cs typeface="Arial"/>
              </a:rPr>
              <a:t>Outstanding (critical path order)</a:t>
            </a:r>
          </a:p>
        </p:txBody>
      </p:sp>
      <p:sp>
        <p:nvSpPr>
          <p:cNvPr id="37" name="Oval 36"/>
          <p:cNvSpPr/>
          <p:nvPr/>
        </p:nvSpPr>
        <p:spPr>
          <a:xfrm>
            <a:off x="7550322" y="2144268"/>
            <a:ext cx="45720" cy="457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8" name="TextBox 37"/>
          <p:cNvSpPr txBox="1"/>
          <p:nvPr/>
        </p:nvSpPr>
        <p:spPr>
          <a:xfrm>
            <a:off x="7733202" y="2066544"/>
            <a:ext cx="3544092" cy="652272"/>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Distractor library (hand-authored, needs clinical judgement) ← highest priority now: measured as the only remaining mechanism for K2</a:t>
            </a:r>
          </a:p>
        </p:txBody>
      </p:sp>
      <p:sp>
        <p:nvSpPr>
          <p:cNvPr id="39" name="Oval 38"/>
          <p:cNvSpPr/>
          <p:nvPr/>
        </p:nvSpPr>
        <p:spPr>
          <a:xfrm>
            <a:off x="7550322" y="2828544"/>
            <a:ext cx="45720" cy="457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40" name="TextBox 39"/>
          <p:cNvSpPr txBox="1"/>
          <p:nvPr/>
        </p:nvSpPr>
        <p:spPr>
          <a:xfrm>
            <a:off x="7733202" y="2750820"/>
            <a:ext cx="3544092" cy="652272"/>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Remaining engine rules: drug class, comorbidity modifiers, contraindications, abstention, citation linker, trace emitter</a:t>
            </a:r>
          </a:p>
        </p:txBody>
      </p:sp>
      <p:sp>
        <p:nvSpPr>
          <p:cNvPr id="41" name="Oval 40"/>
          <p:cNvSpPr/>
          <p:nvPr/>
        </p:nvSpPr>
        <p:spPr>
          <a:xfrm>
            <a:off x="7550322" y="3512820"/>
            <a:ext cx="45720" cy="457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42" name="TextBox 41"/>
          <p:cNvSpPr txBox="1"/>
          <p:nvPr/>
        </p:nvSpPr>
        <p:spPr>
          <a:xfrm>
            <a:off x="7733202" y="3435096"/>
            <a:ext cx="3544092"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Contraindication stress set (the safety outcome is not estimable on NHANES)</a:t>
            </a:r>
          </a:p>
        </p:txBody>
      </p:sp>
      <p:sp>
        <p:nvSpPr>
          <p:cNvPr id="43" name="Oval 42"/>
          <p:cNvSpPr/>
          <p:nvPr/>
        </p:nvSpPr>
        <p:spPr>
          <a:xfrm>
            <a:off x="7550322" y="4010152"/>
            <a:ext cx="45720" cy="457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44" name="TextBox 43"/>
          <p:cNvSpPr txBox="1"/>
          <p:nvPr/>
        </p:nvSpPr>
        <p:spPr>
          <a:xfrm>
            <a:off x="7733202" y="3932428"/>
            <a:ext cx="3544092" cy="278384"/>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Blinded clinician adjudication of 150–200 cases</a:t>
            </a:r>
          </a:p>
        </p:txBody>
      </p:sp>
      <p:sp>
        <p:nvSpPr>
          <p:cNvPr id="45" name="Oval 44"/>
          <p:cNvSpPr/>
          <p:nvPr/>
        </p:nvSpPr>
        <p:spPr>
          <a:xfrm>
            <a:off x="7550322" y="4320540"/>
            <a:ext cx="45720" cy="457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46" name="TextBox 45"/>
          <p:cNvSpPr txBox="1"/>
          <p:nvPr/>
        </p:nvSpPr>
        <p:spPr>
          <a:xfrm>
            <a:off x="7733202" y="4242816"/>
            <a:ext cx="3544092" cy="465328"/>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182533"/>
                </a:solidFill>
                <a:latin typeface="Arial"/>
                <a:ea typeface="Microsoft YaHei"/>
                <a:cs typeface="Arial"/>
              </a:rPr>
              <a:t>Pre-registration freeze and statistical analysis (still blocked by K2)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ROADMAP</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Seven milestones</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17</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536192"/>
            <a:ext cx="10765231" cy="4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9" name="Connector 8"/>
          <p:cNvCxnSpPr/>
          <p:nvPr/>
        </p:nvCxnSpPr>
        <p:spPr>
          <a:xfrm>
            <a:off x="713232" y="1536192"/>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41248" y="1610360"/>
            <a:ext cx="412351"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M1</a:t>
            </a:r>
          </a:p>
        </p:txBody>
      </p:sp>
      <p:sp>
        <p:nvSpPr>
          <p:cNvPr id="11" name="TextBox 10"/>
          <p:cNvSpPr txBox="1"/>
          <p:nvPr/>
        </p:nvSpPr>
        <p:spPr>
          <a:xfrm>
            <a:off x="1546207" y="1655064"/>
            <a:ext cx="2254720"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Contracts frozen</a:t>
            </a:r>
          </a:p>
        </p:txBody>
      </p:sp>
      <p:sp>
        <p:nvSpPr>
          <p:cNvPr id="12" name="TextBox 11"/>
          <p:cNvSpPr txBox="1"/>
          <p:nvPr/>
        </p:nvSpPr>
        <p:spPr>
          <a:xfrm>
            <a:off x="4093535" y="1655064"/>
            <a:ext cx="5577322"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Schema and vocabularies fixed</a:t>
            </a:r>
          </a:p>
        </p:txBody>
      </p:sp>
      <p:sp>
        <p:nvSpPr>
          <p:cNvPr id="13" name="TextBox 12"/>
          <p:cNvSpPr txBox="1"/>
          <p:nvPr/>
        </p:nvSpPr>
        <p:spPr>
          <a:xfrm>
            <a:off x="9963466" y="1655064"/>
            <a:ext cx="136869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Done</a:t>
            </a:r>
          </a:p>
        </p:txBody>
      </p:sp>
      <p:sp>
        <p:nvSpPr>
          <p:cNvPr id="14" name="Rectangle 13"/>
          <p:cNvSpPr/>
          <p:nvPr/>
        </p:nvSpPr>
        <p:spPr>
          <a:xfrm>
            <a:off x="713232" y="1977136"/>
            <a:ext cx="10765231" cy="4409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15" name="Connector 14"/>
          <p:cNvCxnSpPr/>
          <p:nvPr/>
        </p:nvCxnSpPr>
        <p:spPr>
          <a:xfrm>
            <a:off x="713232" y="1977136"/>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41248" y="2051303"/>
            <a:ext cx="412351"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M2</a:t>
            </a:r>
          </a:p>
        </p:txBody>
      </p:sp>
      <p:sp>
        <p:nvSpPr>
          <p:cNvPr id="17" name="TextBox 16"/>
          <p:cNvSpPr txBox="1"/>
          <p:nvPr/>
        </p:nvSpPr>
        <p:spPr>
          <a:xfrm>
            <a:off x="1546207" y="2096008"/>
            <a:ext cx="2254720"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Data complete</a:t>
            </a:r>
          </a:p>
        </p:txBody>
      </p:sp>
      <p:sp>
        <p:nvSpPr>
          <p:cNvPr id="18" name="TextBox 17"/>
          <p:cNvSpPr txBox="1"/>
          <p:nvPr/>
        </p:nvSpPr>
        <p:spPr>
          <a:xfrm>
            <a:off x="4093535" y="2096008"/>
            <a:ext cx="5577322"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Every source emits valid profiles plus QA</a:t>
            </a:r>
          </a:p>
        </p:txBody>
      </p:sp>
      <p:sp>
        <p:nvSpPr>
          <p:cNvPr id="19" name="TextBox 18"/>
          <p:cNvSpPr txBox="1"/>
          <p:nvPr/>
        </p:nvSpPr>
        <p:spPr>
          <a:xfrm>
            <a:off x="9963466" y="2096008"/>
            <a:ext cx="136869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Partial</a:t>
            </a:r>
          </a:p>
        </p:txBody>
      </p:sp>
      <p:sp>
        <p:nvSpPr>
          <p:cNvPr id="20" name="Rectangle 19"/>
          <p:cNvSpPr/>
          <p:nvPr/>
        </p:nvSpPr>
        <p:spPr>
          <a:xfrm>
            <a:off x="713232" y="2418080"/>
            <a:ext cx="10765231" cy="4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21" name="Connector 20"/>
          <p:cNvCxnSpPr/>
          <p:nvPr/>
        </p:nvCxnSpPr>
        <p:spPr>
          <a:xfrm>
            <a:off x="713232" y="2418080"/>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41248" y="2492247"/>
            <a:ext cx="412351"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M3</a:t>
            </a:r>
          </a:p>
        </p:txBody>
      </p:sp>
      <p:sp>
        <p:nvSpPr>
          <p:cNvPr id="23" name="TextBox 22"/>
          <p:cNvSpPr txBox="1"/>
          <p:nvPr/>
        </p:nvSpPr>
        <p:spPr>
          <a:xfrm>
            <a:off x="1546207" y="2536952"/>
            <a:ext cx="2254720"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Engine complete</a:t>
            </a:r>
          </a:p>
        </p:txBody>
      </p:sp>
      <p:sp>
        <p:nvSpPr>
          <p:cNvPr id="24" name="TextBox 23"/>
          <p:cNvSpPr txBox="1"/>
          <p:nvPr/>
        </p:nvSpPr>
        <p:spPr>
          <a:xfrm>
            <a:off x="4093535" y="2536952"/>
            <a:ext cx="5577322"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Every rule tested and cited</a:t>
            </a:r>
          </a:p>
        </p:txBody>
      </p:sp>
      <p:sp>
        <p:nvSpPr>
          <p:cNvPr id="25" name="TextBox 24"/>
          <p:cNvSpPr txBox="1"/>
          <p:nvPr/>
        </p:nvSpPr>
        <p:spPr>
          <a:xfrm>
            <a:off x="9963466" y="2536952"/>
            <a:ext cx="136869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In progress</a:t>
            </a:r>
          </a:p>
        </p:txBody>
      </p:sp>
      <p:sp>
        <p:nvSpPr>
          <p:cNvPr id="26" name="Rectangle 25"/>
          <p:cNvSpPr/>
          <p:nvPr/>
        </p:nvSpPr>
        <p:spPr>
          <a:xfrm>
            <a:off x="713232" y="2859024"/>
            <a:ext cx="10765231" cy="4409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27" name="Connector 26"/>
          <p:cNvCxnSpPr/>
          <p:nvPr/>
        </p:nvCxnSpPr>
        <p:spPr>
          <a:xfrm>
            <a:off x="713232" y="2859024"/>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1248" y="2933191"/>
            <a:ext cx="412351"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M4</a:t>
            </a:r>
          </a:p>
        </p:txBody>
      </p:sp>
      <p:sp>
        <p:nvSpPr>
          <p:cNvPr id="29" name="TextBox 28"/>
          <p:cNvSpPr txBox="1"/>
          <p:nvPr/>
        </p:nvSpPr>
        <p:spPr>
          <a:xfrm>
            <a:off x="1546207" y="2977895"/>
            <a:ext cx="2254720"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Benchmark v0</a:t>
            </a:r>
          </a:p>
        </p:txBody>
      </p:sp>
      <p:sp>
        <p:nvSpPr>
          <p:cNvPr id="30" name="TextBox 29"/>
          <p:cNvSpPr txBox="1"/>
          <p:nvPr/>
        </p:nvSpPr>
        <p:spPr>
          <a:xfrm>
            <a:off x="4093535" y="2977895"/>
            <a:ext cx="5577322"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Tasks A and B built, leakage audit passes</a:t>
            </a:r>
          </a:p>
        </p:txBody>
      </p:sp>
      <p:sp>
        <p:nvSpPr>
          <p:cNvPr id="31" name="TextBox 30"/>
          <p:cNvSpPr txBox="1"/>
          <p:nvPr/>
        </p:nvSpPr>
        <p:spPr>
          <a:xfrm>
            <a:off x="9963466" y="2977895"/>
            <a:ext cx="136869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B done</a:t>
            </a:r>
          </a:p>
        </p:txBody>
      </p:sp>
      <p:sp>
        <p:nvSpPr>
          <p:cNvPr id="32" name="Rectangle 31"/>
          <p:cNvSpPr/>
          <p:nvPr/>
        </p:nvSpPr>
        <p:spPr>
          <a:xfrm>
            <a:off x="713232" y="3299967"/>
            <a:ext cx="10765231" cy="6441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33" name="Connector 32"/>
          <p:cNvCxnSpPr/>
          <p:nvPr/>
        </p:nvCxnSpPr>
        <p:spPr>
          <a:xfrm>
            <a:off x="713232" y="3299967"/>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 y="3475735"/>
            <a:ext cx="412351"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M5</a:t>
            </a:r>
          </a:p>
        </p:txBody>
      </p:sp>
      <p:sp>
        <p:nvSpPr>
          <p:cNvPr id="35" name="TextBox 34"/>
          <p:cNvSpPr txBox="1"/>
          <p:nvPr/>
        </p:nvSpPr>
        <p:spPr>
          <a:xfrm>
            <a:off x="1546207" y="3418839"/>
            <a:ext cx="2254720"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Pilot verdict</a:t>
            </a:r>
          </a:p>
        </p:txBody>
      </p:sp>
      <p:sp>
        <p:nvSpPr>
          <p:cNvPr id="36" name="TextBox 35"/>
          <p:cNvSpPr txBox="1"/>
          <p:nvPr/>
        </p:nvSpPr>
        <p:spPr>
          <a:xfrm>
            <a:off x="4093535" y="3418839"/>
            <a:ext cx="5577322"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2 models × 3 levels; go or no-go</a:t>
            </a:r>
          </a:p>
        </p:txBody>
      </p:sp>
      <p:sp>
        <p:nvSpPr>
          <p:cNvPr id="37" name="TextBox 36"/>
          <p:cNvSpPr txBox="1"/>
          <p:nvPr/>
        </p:nvSpPr>
        <p:spPr>
          <a:xfrm>
            <a:off x="9963466" y="3418839"/>
            <a:ext cx="1368693" cy="4612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Done · GO-NARROWED</a:t>
            </a:r>
          </a:p>
        </p:txBody>
      </p:sp>
      <p:sp>
        <p:nvSpPr>
          <p:cNvPr id="38" name="Rectangle 37"/>
          <p:cNvSpPr/>
          <p:nvPr/>
        </p:nvSpPr>
        <p:spPr>
          <a:xfrm>
            <a:off x="713232" y="3944111"/>
            <a:ext cx="10765231" cy="440944"/>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39" name="Connector 38"/>
          <p:cNvCxnSpPr/>
          <p:nvPr/>
        </p:nvCxnSpPr>
        <p:spPr>
          <a:xfrm>
            <a:off x="713232" y="3944111"/>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41248" y="4018279"/>
            <a:ext cx="412351"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M6</a:t>
            </a:r>
          </a:p>
        </p:txBody>
      </p:sp>
      <p:sp>
        <p:nvSpPr>
          <p:cNvPr id="41" name="TextBox 40"/>
          <p:cNvSpPr txBox="1"/>
          <p:nvPr/>
        </p:nvSpPr>
        <p:spPr>
          <a:xfrm>
            <a:off x="1546207" y="4062983"/>
            <a:ext cx="2254720"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Full results</a:t>
            </a:r>
          </a:p>
        </p:txBody>
      </p:sp>
      <p:sp>
        <p:nvSpPr>
          <p:cNvPr id="42" name="TextBox 41"/>
          <p:cNvSpPr txBox="1"/>
          <p:nvPr/>
        </p:nvSpPr>
        <p:spPr>
          <a:xfrm>
            <a:off x="4093535" y="4062983"/>
            <a:ext cx="5577322"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RQ1 to RQ4 complete</a:t>
            </a:r>
          </a:p>
        </p:txBody>
      </p:sp>
      <p:sp>
        <p:nvSpPr>
          <p:cNvPr id="43" name="TextBox 42"/>
          <p:cNvSpPr txBox="1"/>
          <p:nvPr/>
        </p:nvSpPr>
        <p:spPr>
          <a:xfrm>
            <a:off x="9963466" y="4062983"/>
            <a:ext cx="136869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Pending</a:t>
            </a:r>
          </a:p>
        </p:txBody>
      </p:sp>
      <p:sp>
        <p:nvSpPr>
          <p:cNvPr id="44" name="Rectangle 43"/>
          <p:cNvSpPr/>
          <p:nvPr/>
        </p:nvSpPr>
        <p:spPr>
          <a:xfrm>
            <a:off x="713232" y="4385055"/>
            <a:ext cx="10765231" cy="4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cxnSp>
        <p:nvCxnSpPr>
          <p:cNvPr id="45" name="Connector 44"/>
          <p:cNvCxnSpPr/>
          <p:nvPr/>
        </p:nvCxnSpPr>
        <p:spPr>
          <a:xfrm>
            <a:off x="713232" y="4385055"/>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841248" y="4459223"/>
            <a:ext cx="412351" cy="29260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00584" bIns="100584"/>
          <a:lstStyle/>
          <a:p>
            <a:pPr algn="ctr">
              <a:lnSpc>
                <a:spcPct val="122000"/>
              </a:lnSpc>
              <a:spcBef>
                <a:spcPts val="0"/>
              </a:spcBef>
              <a:spcAft>
                <a:spcPts val="0"/>
              </a:spcAft>
            </a:pPr>
            <a:r>
              <a:rPr sz="1100" b="1" i="0">
                <a:solidFill>
                  <a:srgbClr val="FFFFFF"/>
                </a:solidFill>
                <a:latin typeface="Arial"/>
                <a:ea typeface="Microsoft YaHei"/>
                <a:cs typeface="Arial"/>
              </a:rPr>
              <a:t>M7</a:t>
            </a:r>
          </a:p>
        </p:txBody>
      </p:sp>
      <p:sp>
        <p:nvSpPr>
          <p:cNvPr id="47" name="TextBox 46"/>
          <p:cNvSpPr txBox="1"/>
          <p:nvPr/>
        </p:nvSpPr>
        <p:spPr>
          <a:xfrm>
            <a:off x="1546207" y="4503927"/>
            <a:ext cx="2254720"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82533"/>
                </a:solidFill>
                <a:latin typeface="Arial"/>
                <a:ea typeface="Microsoft YaHei"/>
                <a:cs typeface="Arial"/>
              </a:rPr>
              <a:t>Submission and release</a:t>
            </a:r>
          </a:p>
        </p:txBody>
      </p:sp>
      <p:sp>
        <p:nvSpPr>
          <p:cNvPr id="48" name="TextBox 47"/>
          <p:cNvSpPr txBox="1"/>
          <p:nvPr/>
        </p:nvSpPr>
        <p:spPr>
          <a:xfrm>
            <a:off x="4093535" y="4503927"/>
            <a:ext cx="5577322"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475A6B"/>
                </a:solidFill>
                <a:latin typeface="Arial"/>
                <a:ea typeface="Microsoft YaHei"/>
                <a:cs typeface="Arial"/>
              </a:rPr>
              <a:t>Paper plus open engine and benchmark</a:t>
            </a:r>
          </a:p>
        </p:txBody>
      </p:sp>
      <p:sp>
        <p:nvSpPr>
          <p:cNvPr id="49" name="TextBox 48"/>
          <p:cNvSpPr txBox="1"/>
          <p:nvPr/>
        </p:nvSpPr>
        <p:spPr>
          <a:xfrm>
            <a:off x="9963466" y="4503927"/>
            <a:ext cx="1368693" cy="258064"/>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094F63"/>
                </a:solidFill>
                <a:latin typeface="Arial"/>
                <a:ea typeface="Microsoft YaHei"/>
                <a:cs typeface="Arial"/>
              </a:rPr>
              <a:t>Pending</a:t>
            </a:r>
          </a:p>
        </p:txBody>
      </p:sp>
      <p:cxnSp>
        <p:nvCxnSpPr>
          <p:cNvPr id="50" name="Connector 49"/>
          <p:cNvCxnSpPr/>
          <p:nvPr/>
        </p:nvCxnSpPr>
        <p:spPr>
          <a:xfrm>
            <a:off x="713232" y="4825999"/>
            <a:ext cx="10765231" cy="0"/>
          </a:xfrm>
          <a:prstGeom prst="line">
            <a:avLst/>
          </a:prstGeom>
          <a:ln w="9525">
            <a:solidFill>
              <a:srgbClr val="D3DFE6"/>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13232" y="5063743"/>
            <a:ext cx="10765231" cy="548640"/>
          </a:xfrm>
          <a:prstGeom prst="rect">
            <a:avLst/>
          </a:prstGeom>
          <a:noFill/>
        </p:spPr>
        <p:txBody>
          <a:bodyPr wrap="square" lIns="0" rIns="0" tIns="0" bIns="0" anchor="t">
            <a:spAutoFit/>
          </a:bodyPr>
          <a:lstStyle/>
          <a:p>
            <a:pPr algn="l">
              <a:lnSpc>
                <a:spcPct val="138000"/>
              </a:lnSpc>
              <a:spcBef>
                <a:spcPts val="0"/>
              </a:spcBef>
              <a:spcAft>
                <a:spcPts val="0"/>
              </a:spcAft>
            </a:pPr>
            <a:r>
              <a:rPr sz="1250" b="0" i="0">
                <a:solidFill>
                  <a:srgbClr val="475A6B"/>
                </a:solidFill>
                <a:latin typeface="Arial"/>
                <a:ea typeface="Microsoft YaHei"/>
                <a:cs typeface="Arial"/>
              </a:rPr>
              <a:t>M5 has run, and it did exactly what it was for. The corpus does separate the models (0.850 vs 0.197), but it does not separate the three difficulty levels at all (zero spread), so the verdict is GO-NARROWED: proceed, and report the affected research question as unanswerable on this corpus rather than quietly dropping it. Fix the corpus before scaling; M6 is still blocked on K2.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RISKS</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Five real risks and what is done about them</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18</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81328"/>
            <a:ext cx="10765231" cy="880491"/>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Rectangle 8"/>
          <p:cNvSpPr/>
          <p:nvPr/>
        </p:nvSpPr>
        <p:spPr>
          <a:xfrm>
            <a:off x="713232" y="1481328"/>
            <a:ext cx="41148" cy="88049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0" name="TextBox 9"/>
          <p:cNvSpPr txBox="1"/>
          <p:nvPr/>
        </p:nvSpPr>
        <p:spPr>
          <a:xfrm>
            <a:off x="950976" y="1636776"/>
            <a:ext cx="2524640" cy="880491"/>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182533"/>
                </a:solidFill>
                <a:latin typeface="Arial"/>
                <a:ea typeface="Microsoft YaHei"/>
                <a:cs typeface="Arial"/>
              </a:rPr>
              <a:t>A wrong rule corrupts every result</a:t>
            </a:r>
          </a:p>
        </p:txBody>
      </p:sp>
      <p:sp>
        <p:nvSpPr>
          <p:cNvPr id="11" name="TextBox 10"/>
          <p:cNvSpPr txBox="1"/>
          <p:nvPr/>
        </p:nvSpPr>
        <p:spPr>
          <a:xfrm>
            <a:off x="3567056" y="1636776"/>
            <a:ext cx="3385858" cy="880491"/>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748694"/>
                </a:solidFill>
                <a:latin typeface="Arial"/>
                <a:ea typeface="Microsoft YaHei"/>
                <a:cs typeface="Arial"/>
              </a:rPr>
              <a:t>The answer key is a single point of failure: one wrong rule silently poisons everything downstream</a:t>
            </a:r>
          </a:p>
        </p:txBody>
      </p:sp>
      <p:sp>
        <p:nvSpPr>
          <p:cNvPr id="12" name="TextBox 11"/>
          <p:cNvSpPr txBox="1"/>
          <p:nvPr/>
        </p:nvSpPr>
        <p:spPr>
          <a:xfrm>
            <a:off x="7227234" y="1636776"/>
            <a:ext cx="4086636" cy="880491"/>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094F63"/>
                </a:solidFill>
                <a:latin typeface="Arial"/>
                <a:ea typeface="Microsoft YaHei"/>
                <a:cs typeface="Arial"/>
              </a:rPr>
              <a:t>Every rule cited and unit-tested; ambiguity abstains; 150–200 cases blind-adjudicated by clinicians with Cohen's kappa reported; kappa &lt; 1 pre-registered as expected</a:t>
            </a:r>
          </a:p>
        </p:txBody>
      </p:sp>
      <p:sp>
        <p:nvSpPr>
          <p:cNvPr id="13" name="Rectangle 12"/>
          <p:cNvSpPr/>
          <p:nvPr/>
        </p:nvSpPr>
        <p:spPr>
          <a:xfrm>
            <a:off x="713232" y="2444115"/>
            <a:ext cx="41148" cy="88049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4" name="TextBox 13"/>
          <p:cNvSpPr txBox="1"/>
          <p:nvPr/>
        </p:nvSpPr>
        <p:spPr>
          <a:xfrm>
            <a:off x="950976" y="2599563"/>
            <a:ext cx="2524640" cy="880491"/>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182533"/>
                </a:solidFill>
                <a:latin typeface="Arial"/>
                <a:ea typeface="Microsoft YaHei"/>
                <a:cs typeface="Arial"/>
              </a:rPr>
              <a:t>The safety outcome is not estimable on the main cohort</a:t>
            </a:r>
          </a:p>
        </p:txBody>
      </p:sp>
      <p:sp>
        <p:nvSpPr>
          <p:cNvPr id="15" name="TextBox 14"/>
          <p:cNvSpPr txBox="1"/>
          <p:nvPr/>
        </p:nvSpPr>
        <p:spPr>
          <a:xfrm>
            <a:off x="3567056" y="2599563"/>
            <a:ext cx="3385858" cy="880491"/>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748694"/>
                </a:solidFill>
                <a:latin typeface="Arial"/>
                <a:ea typeface="Microsoft YaHei"/>
                <a:cs typeface="Arial"/>
              </a:rPr>
              <a:t>Only 9 of 4,806 patients carry any contraindication, all hyperkalemia; zero pregnancy, zero angioedema</a:t>
            </a:r>
          </a:p>
        </p:txBody>
      </p:sp>
      <p:sp>
        <p:nvSpPr>
          <p:cNvPr id="16" name="TextBox 15"/>
          <p:cNvSpPr txBox="1"/>
          <p:nvPr/>
        </p:nvSpPr>
        <p:spPr>
          <a:xfrm>
            <a:off x="7227234" y="2599563"/>
            <a:ext cx="4086636" cy="880491"/>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094F63"/>
                </a:solidFill>
                <a:latin typeface="Arial"/>
                <a:ea typeface="Microsoft YaHei"/>
                <a:cs typeface="Arial"/>
              </a:rPr>
              <a:t>Build a purpose-designed contraindication stress set, reported as its own table and never pooled into the headline</a:t>
            </a:r>
          </a:p>
        </p:txBody>
      </p:sp>
      <p:sp>
        <p:nvSpPr>
          <p:cNvPr id="17" name="Rectangle 16"/>
          <p:cNvSpPr/>
          <p:nvPr/>
        </p:nvSpPr>
        <p:spPr>
          <a:xfrm>
            <a:off x="713232" y="3406902"/>
            <a:ext cx="10765231" cy="880491"/>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8" name="Rectangle 17"/>
          <p:cNvSpPr/>
          <p:nvPr/>
        </p:nvSpPr>
        <p:spPr>
          <a:xfrm>
            <a:off x="713232" y="3406902"/>
            <a:ext cx="41148" cy="88049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9" name="TextBox 18"/>
          <p:cNvSpPr txBox="1"/>
          <p:nvPr/>
        </p:nvSpPr>
        <p:spPr>
          <a:xfrm>
            <a:off x="950976" y="3562349"/>
            <a:ext cx="2524640" cy="880491"/>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182533"/>
                </a:solidFill>
                <a:latin typeface="Arial"/>
                <a:ea typeface="Microsoft YaHei"/>
                <a:cs typeface="Arial"/>
              </a:rPr>
              <a:t>The pilot ran; half the risk materialised</a:t>
            </a:r>
          </a:p>
        </p:txBody>
      </p:sp>
      <p:sp>
        <p:nvSpPr>
          <p:cNvPr id="20" name="TextBox 19"/>
          <p:cNvSpPr txBox="1"/>
          <p:nvPr/>
        </p:nvSpPr>
        <p:spPr>
          <a:xfrm>
            <a:off x="3567056" y="3562349"/>
            <a:ext cx="3385858" cy="880491"/>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748694"/>
                </a:solidFill>
                <a:latin typeface="Arial"/>
                <a:ea typeface="Microsoft YaHei"/>
                <a:cs typeface="Arial"/>
              </a:rPr>
              <a:t>The corpus separates models (0.850 vs 0.197) but not the difficulty levels — K2 fired</a:t>
            </a:r>
          </a:p>
        </p:txBody>
      </p:sp>
      <p:sp>
        <p:nvSpPr>
          <p:cNvPr id="21" name="TextBox 20"/>
          <p:cNvSpPr txBox="1"/>
          <p:nvPr/>
        </p:nvSpPr>
        <p:spPr>
          <a:xfrm>
            <a:off x="7227234" y="3562349"/>
            <a:ext cx="4086636" cy="880491"/>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094F63"/>
                </a:solidFill>
                <a:latin typeface="Arial"/>
                <a:ea typeface="Microsoft YaHei"/>
                <a:cs typeface="Arial"/>
              </a:rPr>
              <a:t>GO-NARROWED: proceed, and report the affected research question as unanswerable on this corpus rather than dropping it</a:t>
            </a:r>
          </a:p>
        </p:txBody>
      </p:sp>
      <p:sp>
        <p:nvSpPr>
          <p:cNvPr id="22" name="Rectangle 21"/>
          <p:cNvSpPr/>
          <p:nvPr/>
        </p:nvSpPr>
        <p:spPr>
          <a:xfrm>
            <a:off x="713232" y="4369689"/>
            <a:ext cx="41148" cy="713740"/>
          </a:xfrm>
          <a:prstGeom prst="rect">
            <a:avLst/>
          </a:prstGeom>
          <a:solidFill>
            <a:srgbClr val="47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3" name="TextBox 22"/>
          <p:cNvSpPr txBox="1"/>
          <p:nvPr/>
        </p:nvSpPr>
        <p:spPr>
          <a:xfrm>
            <a:off x="950976" y="4525137"/>
            <a:ext cx="2524640" cy="713740"/>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182533"/>
                </a:solidFill>
                <a:latin typeface="Arial"/>
                <a:ea typeface="Microsoft YaHei"/>
                <a:cs typeface="Arial"/>
              </a:rPr>
              <a:t>The real-EHR pipeline is the largest build</a:t>
            </a:r>
          </a:p>
        </p:txBody>
      </p:sp>
      <p:sp>
        <p:nvSpPr>
          <p:cNvPr id="24" name="TextBox 23"/>
          <p:cNvSpPr txBox="1"/>
          <p:nvPr/>
        </p:nvSpPr>
        <p:spPr>
          <a:xfrm>
            <a:off x="3567056" y="4525137"/>
            <a:ext cx="3385858" cy="713740"/>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748694"/>
                </a:solidFill>
                <a:latin typeface="Arial"/>
                <a:ea typeface="Microsoft YaHei"/>
                <a:cs typeface="Arial"/>
              </a:rPr>
              <a:t>The real-text task and all external validity are blocked behind it</a:t>
            </a:r>
          </a:p>
        </p:txBody>
      </p:sp>
      <p:sp>
        <p:nvSpPr>
          <p:cNvPr id="25" name="TextBox 24"/>
          <p:cNvSpPr txBox="1"/>
          <p:nvPr/>
        </p:nvSpPr>
        <p:spPr>
          <a:xfrm>
            <a:off x="7227234" y="4525137"/>
            <a:ext cx="4086636" cy="713740"/>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094F63"/>
                </a:solidFill>
                <a:latin typeface="Arial"/>
                <a:ea typeface="Microsoft YaHei"/>
                <a:cs typeface="Arial"/>
              </a:rPr>
              <a:t>Run a label-yield gate first to confirm how many patients can carry a label, then fix the cohort definition</a:t>
            </a:r>
          </a:p>
        </p:txBody>
      </p:sp>
      <p:sp>
        <p:nvSpPr>
          <p:cNvPr id="26" name="Rectangle 25"/>
          <p:cNvSpPr/>
          <p:nvPr/>
        </p:nvSpPr>
        <p:spPr>
          <a:xfrm>
            <a:off x="713232" y="5165725"/>
            <a:ext cx="10765231" cy="107035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7" name="Rectangle 26"/>
          <p:cNvSpPr/>
          <p:nvPr/>
        </p:nvSpPr>
        <p:spPr>
          <a:xfrm>
            <a:off x="713232" y="5165725"/>
            <a:ext cx="41148" cy="1070356"/>
          </a:xfrm>
          <a:prstGeom prst="rect">
            <a:avLst/>
          </a:prstGeom>
          <a:solidFill>
            <a:srgbClr val="47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8" name="TextBox 27"/>
          <p:cNvSpPr txBox="1"/>
          <p:nvPr/>
        </p:nvSpPr>
        <p:spPr>
          <a:xfrm>
            <a:off x="950976" y="5321173"/>
            <a:ext cx="2524640" cy="1070356"/>
          </a:xfrm>
          <a:prstGeom prst="rect">
            <a:avLst/>
          </a:prstGeom>
          <a:noFill/>
        </p:spPr>
        <p:txBody>
          <a:bodyPr wrap="square" lIns="0" rIns="0" tIns="0" bIns="0" anchor="t">
            <a:spAutoFit/>
          </a:bodyPr>
          <a:lstStyle/>
          <a:p>
            <a:pPr algn="l">
              <a:lnSpc>
                <a:spcPct val="122000"/>
              </a:lnSpc>
              <a:spcBef>
                <a:spcPts val="0"/>
              </a:spcBef>
              <a:spcAft>
                <a:spcPts val="0"/>
              </a:spcAft>
            </a:pPr>
            <a:r>
              <a:rPr sz="1300" b="1" i="0">
                <a:solidFill>
                  <a:srgbClr val="182533"/>
                </a:solidFill>
                <a:latin typeface="Arial"/>
                <a:ea typeface="Microsoft YaHei"/>
                <a:cs typeface="Arial"/>
              </a:rPr>
              <a:t>'Hard' is not hard for a frontier model</a:t>
            </a:r>
          </a:p>
        </p:txBody>
      </p:sp>
      <p:sp>
        <p:nvSpPr>
          <p:cNvPr id="29" name="TextBox 28"/>
          <p:cNvSpPr txBox="1"/>
          <p:nvPr/>
        </p:nvSpPr>
        <p:spPr>
          <a:xfrm>
            <a:off x="3567056" y="5321173"/>
            <a:ext cx="3385858" cy="1070356"/>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748694"/>
                </a:solidFill>
                <a:latin typeface="Arial"/>
                <a:ea typeface="Microsoft YaHei"/>
                <a:cs typeface="Arial"/>
              </a:rPr>
              <a:t>Assumed 'harder to read, not harder to reason'. Measured worse: rebuilt to give three BP readings and a decoy potassium, extraction F1 is still 0.9182 at every level</a:t>
            </a:r>
          </a:p>
        </p:txBody>
      </p:sp>
      <p:sp>
        <p:nvSpPr>
          <p:cNvPr id="30" name="TextBox 29"/>
          <p:cNvSpPr txBox="1"/>
          <p:nvPr/>
        </p:nvSpPr>
        <p:spPr>
          <a:xfrm>
            <a:off x="7227234" y="5321173"/>
            <a:ext cx="4086636" cy="1070356"/>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094F63"/>
                </a:solidFill>
                <a:latin typeface="Arial"/>
                <a:ea typeface="Microsoft YaHei"/>
                <a:cs typeface="Arial"/>
              </a:rPr>
              <a:t>Presentation-level difficulty is ruled out by measurement; only the hand-authored distractor library remains, and it must change what is judged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10765231" cy="237744"/>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0E7490"/>
                </a:solidFill>
                <a:latin typeface="Arial"/>
                <a:ea typeface="Microsoft YaHei"/>
                <a:cs typeface="Arial"/>
              </a:rPr>
              <a:t>CONTRIBUTIONS</a:t>
            </a:r>
          </a:p>
        </p:txBody>
      </p:sp>
      <p:sp>
        <p:nvSpPr>
          <p:cNvPr id="3" name="TextBox 2"/>
          <p:cNvSpPr txBox="1"/>
          <p:nvPr/>
        </p:nvSpPr>
        <p:spPr>
          <a:xfrm>
            <a:off x="713232" y="640080"/>
            <a:ext cx="10765231" cy="566928"/>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182533"/>
                </a:solidFill>
                <a:latin typeface="Arial"/>
                <a:ea typeface="Microsoft YaHei"/>
                <a:cs typeface="Arial"/>
              </a:rPr>
              <a:t>Four contributions and the deliverables</a:t>
            </a:r>
          </a:p>
        </p:txBody>
      </p:sp>
      <p:cxnSp>
        <p:nvCxnSpPr>
          <p:cNvPr id="4" name="Connector 3"/>
          <p:cNvCxnSpPr/>
          <p:nvPr/>
        </p:nvCxnSpPr>
        <p:spPr>
          <a:xfrm>
            <a:off x="713232" y="1298448"/>
            <a:ext cx="1371600" cy="0"/>
          </a:xfrm>
          <a:prstGeom prst="line">
            <a:avLst/>
          </a:prstGeom>
          <a:ln w="3048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84832" y="1298448"/>
            <a:ext cx="9393631" cy="0"/>
          </a:xfrm>
          <a:prstGeom prst="line">
            <a:avLst/>
          </a:prstGeom>
          <a:ln w="12700">
            <a:solidFill>
              <a:srgbClr val="D3DF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564063" y="6382512"/>
            <a:ext cx="914400" cy="237744"/>
          </a:xfrm>
          <a:prstGeom prst="rect">
            <a:avLst/>
          </a:prstGeom>
          <a:noFill/>
        </p:spPr>
        <p:txBody>
          <a:bodyPr wrap="square" lIns="0" rIns="0" tIns="0" bIns="0" anchor="t">
            <a:spAutoFit/>
          </a:bodyPr>
          <a:lstStyle/>
          <a:p>
            <a:pPr algn="r">
              <a:lnSpc>
                <a:spcPct val="122000"/>
              </a:lnSpc>
              <a:spcBef>
                <a:spcPts val="0"/>
              </a:spcBef>
              <a:spcAft>
                <a:spcPts val="0"/>
              </a:spcAft>
            </a:pPr>
            <a:r>
              <a:rPr sz="950" b="0" i="0">
                <a:solidFill>
                  <a:srgbClr val="748694"/>
                </a:solidFill>
                <a:latin typeface="Arial"/>
                <a:ea typeface="Microsoft YaHei"/>
                <a:cs typeface="Arial"/>
              </a:rPr>
              <a:t>19</a:t>
            </a:r>
          </a:p>
        </p:txBody>
      </p:sp>
      <p:sp>
        <p:nvSpPr>
          <p:cNvPr id="7" name="TextBox 6"/>
          <p:cNvSpPr txBox="1"/>
          <p:nvPr/>
        </p:nvSpPr>
        <p:spPr>
          <a:xfrm>
            <a:off x="713232" y="6382512"/>
            <a:ext cx="7315200" cy="23774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748694"/>
                </a:solidFill>
                <a:latin typeface="Arial"/>
                <a:ea typeface="Microsoft YaHei"/>
                <a:cs typeface="Arial"/>
              </a:rPr>
              <a:t>HTN-Concord · PhD project design and progress</a:t>
            </a:r>
          </a:p>
        </p:txBody>
      </p:sp>
      <p:sp>
        <p:nvSpPr>
          <p:cNvPr id="8" name="Rectangle 7"/>
          <p:cNvSpPr/>
          <p:nvPr/>
        </p:nvSpPr>
        <p:spPr>
          <a:xfrm>
            <a:off x="713232" y="1481328"/>
            <a:ext cx="2526715" cy="1737360"/>
          </a:xfrm>
          <a:prstGeom prst="rect">
            <a:avLst/>
          </a:prstGeom>
          <a:solidFill>
            <a:srgbClr val="FFFFFF"/>
          </a:solidFill>
          <a:ln w="1778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9" name="TextBox 8"/>
          <p:cNvSpPr txBox="1"/>
          <p:nvPr/>
        </p:nvSpPr>
        <p:spPr>
          <a:xfrm>
            <a:off x="914400" y="1700784"/>
            <a:ext cx="2124379" cy="548640"/>
          </a:xfrm>
          <a:prstGeom prst="rect">
            <a:avLst/>
          </a:prstGeom>
          <a:noFill/>
        </p:spPr>
        <p:txBody>
          <a:bodyPr wrap="square" lIns="0" rIns="0" tIns="0" bIns="0" anchor="t">
            <a:spAutoFit/>
          </a:bodyPr>
          <a:lstStyle/>
          <a:p>
            <a:pPr algn="l">
              <a:lnSpc>
                <a:spcPct val="118000"/>
              </a:lnSpc>
              <a:spcBef>
                <a:spcPts val="0"/>
              </a:spcBef>
              <a:spcAft>
                <a:spcPts val="0"/>
              </a:spcAft>
            </a:pPr>
            <a:r>
              <a:rPr sz="1350" b="1" i="0">
                <a:solidFill>
                  <a:srgbClr val="182533"/>
                </a:solidFill>
                <a:latin typeface="Arial"/>
                <a:ea typeface="Microsoft YaHei"/>
                <a:cs typeface="Arial"/>
              </a:rPr>
              <a:t>1 · An executable guideline engine</a:t>
            </a:r>
          </a:p>
        </p:txBody>
      </p:sp>
      <p:sp>
        <p:nvSpPr>
          <p:cNvPr id="10" name="TextBox 9"/>
          <p:cNvSpPr txBox="1"/>
          <p:nvPr/>
        </p:nvSpPr>
        <p:spPr>
          <a:xfrm>
            <a:off x="914400" y="2251710"/>
            <a:ext cx="2124379" cy="875538"/>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475A6B"/>
                </a:solidFill>
                <a:latin typeface="Arial"/>
                <a:ea typeface="Microsoft YaHei"/>
                <a:cs typeface="Arial"/>
              </a:rPr>
              <a:t>Open-sourced. Clause-by-clause, citation-linked, auditable, and replicable for other conditions.</a:t>
            </a:r>
          </a:p>
        </p:txBody>
      </p:sp>
      <p:sp>
        <p:nvSpPr>
          <p:cNvPr id="11" name="Rectangle 10"/>
          <p:cNvSpPr/>
          <p:nvPr/>
        </p:nvSpPr>
        <p:spPr>
          <a:xfrm>
            <a:off x="3459403" y="1481328"/>
            <a:ext cx="2526715" cy="1737360"/>
          </a:xfrm>
          <a:prstGeom prst="rect">
            <a:avLst/>
          </a:prstGeom>
          <a:solidFill>
            <a:srgbClr val="FFFFFF"/>
          </a:solidFill>
          <a:ln w="1778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2" name="TextBox 11"/>
          <p:cNvSpPr txBox="1"/>
          <p:nvPr/>
        </p:nvSpPr>
        <p:spPr>
          <a:xfrm>
            <a:off x="3660571" y="1700784"/>
            <a:ext cx="2124379" cy="548640"/>
          </a:xfrm>
          <a:prstGeom prst="rect">
            <a:avLst/>
          </a:prstGeom>
          <a:noFill/>
        </p:spPr>
        <p:txBody>
          <a:bodyPr wrap="square" lIns="0" rIns="0" tIns="0" bIns="0" anchor="t">
            <a:spAutoFit/>
          </a:bodyPr>
          <a:lstStyle/>
          <a:p>
            <a:pPr algn="l">
              <a:lnSpc>
                <a:spcPct val="118000"/>
              </a:lnSpc>
              <a:spcBef>
                <a:spcPts val="0"/>
              </a:spcBef>
              <a:spcAft>
                <a:spcPts val="0"/>
              </a:spcAft>
            </a:pPr>
            <a:r>
              <a:rPr sz="1350" b="1" i="0">
                <a:solidFill>
                  <a:srgbClr val="182533"/>
                </a:solidFill>
                <a:latin typeface="Arial"/>
                <a:ea typeface="Microsoft YaHei"/>
                <a:cs typeface="Arial"/>
              </a:rPr>
              <a:t>2 · A hypertension decision benchmark</a:t>
            </a:r>
          </a:p>
        </p:txBody>
      </p:sp>
      <p:sp>
        <p:nvSpPr>
          <p:cNvPr id="13" name="TextBox 12"/>
          <p:cNvSpPr txBox="1"/>
          <p:nvPr/>
        </p:nvSpPr>
        <p:spPr>
          <a:xfrm>
            <a:off x="3660571" y="2251710"/>
            <a:ext cx="2124379" cy="875538"/>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475A6B"/>
                </a:solidFill>
                <a:latin typeface="Arial"/>
                <a:ea typeface="Microsoft YaHei"/>
                <a:cs typeface="Arial"/>
              </a:rPr>
              <a:t>Open-sourced. Synthetic and real-EHR arms share one schema and one engine.</a:t>
            </a:r>
          </a:p>
        </p:txBody>
      </p:sp>
      <p:sp>
        <p:nvSpPr>
          <p:cNvPr id="14" name="Rectangle 13"/>
          <p:cNvSpPr/>
          <p:nvPr/>
        </p:nvSpPr>
        <p:spPr>
          <a:xfrm>
            <a:off x="6205575" y="1481328"/>
            <a:ext cx="2526715" cy="1737360"/>
          </a:xfrm>
          <a:prstGeom prst="rect">
            <a:avLst/>
          </a:prstGeom>
          <a:solidFill>
            <a:srgbClr val="FFFFFF"/>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5" name="TextBox 14"/>
          <p:cNvSpPr txBox="1"/>
          <p:nvPr/>
        </p:nvSpPr>
        <p:spPr>
          <a:xfrm>
            <a:off x="6406743" y="1700784"/>
            <a:ext cx="2124379" cy="548640"/>
          </a:xfrm>
          <a:prstGeom prst="rect">
            <a:avLst/>
          </a:prstGeom>
          <a:noFill/>
        </p:spPr>
        <p:txBody>
          <a:bodyPr wrap="square" lIns="0" rIns="0" tIns="0" bIns="0" anchor="t">
            <a:spAutoFit/>
          </a:bodyPr>
          <a:lstStyle/>
          <a:p>
            <a:pPr algn="l">
              <a:lnSpc>
                <a:spcPct val="118000"/>
              </a:lnSpc>
              <a:spcBef>
                <a:spcPts val="0"/>
              </a:spcBef>
              <a:spcAft>
                <a:spcPts val="0"/>
              </a:spcAft>
            </a:pPr>
            <a:r>
              <a:rPr sz="1350" b="1" i="0">
                <a:solidFill>
                  <a:srgbClr val="182533"/>
                </a:solidFill>
                <a:latin typeface="Arial"/>
                <a:ea typeface="Microsoft YaHei"/>
                <a:cs typeface="Arial"/>
              </a:rPr>
              <a:t>3 · Failure-mechanism localization</a:t>
            </a:r>
          </a:p>
        </p:txBody>
      </p:sp>
      <p:sp>
        <p:nvSpPr>
          <p:cNvPr id="16" name="TextBox 15"/>
          <p:cNvSpPr txBox="1"/>
          <p:nvPr/>
        </p:nvSpPr>
        <p:spPr>
          <a:xfrm>
            <a:off x="6406743" y="2251710"/>
            <a:ext cx="2124379" cy="875538"/>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475A6B"/>
                </a:solidFill>
                <a:latin typeface="Arial"/>
                <a:ea typeface="Microsoft YaHei"/>
                <a:cs typeface="Arial"/>
              </a:rPr>
              <a:t>The first account of which step of the decision chain fails and by what mechanism.</a:t>
            </a:r>
          </a:p>
        </p:txBody>
      </p:sp>
      <p:sp>
        <p:nvSpPr>
          <p:cNvPr id="17" name="Rectangle 16"/>
          <p:cNvSpPr/>
          <p:nvPr/>
        </p:nvSpPr>
        <p:spPr>
          <a:xfrm>
            <a:off x="8951747" y="1481328"/>
            <a:ext cx="2526715" cy="1737360"/>
          </a:xfrm>
          <a:prstGeom prst="rect">
            <a:avLst/>
          </a:prstGeom>
          <a:solidFill>
            <a:srgbClr val="FFFFFF"/>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18" name="TextBox 17"/>
          <p:cNvSpPr txBox="1"/>
          <p:nvPr/>
        </p:nvSpPr>
        <p:spPr>
          <a:xfrm>
            <a:off x="9152915" y="1700784"/>
            <a:ext cx="2124379" cy="548640"/>
          </a:xfrm>
          <a:prstGeom prst="rect">
            <a:avLst/>
          </a:prstGeom>
          <a:noFill/>
        </p:spPr>
        <p:txBody>
          <a:bodyPr wrap="square" lIns="0" rIns="0" tIns="0" bIns="0" anchor="t">
            <a:spAutoFit/>
          </a:bodyPr>
          <a:lstStyle/>
          <a:p>
            <a:pPr algn="l">
              <a:lnSpc>
                <a:spcPct val="118000"/>
              </a:lnSpc>
              <a:spcBef>
                <a:spcPts val="0"/>
              </a:spcBef>
              <a:spcAft>
                <a:spcPts val="0"/>
              </a:spcAft>
            </a:pPr>
            <a:r>
              <a:rPr sz="1350" b="1" i="0">
                <a:solidFill>
                  <a:srgbClr val="182533"/>
                </a:solidFill>
                <a:latin typeface="Arial"/>
                <a:ea typeface="Microsoft YaHei"/>
                <a:cs typeface="Arial"/>
              </a:rPr>
              <a:t>4 · Reasoning-trace concordance</a:t>
            </a:r>
          </a:p>
        </p:txBody>
      </p:sp>
      <p:sp>
        <p:nvSpPr>
          <p:cNvPr id="19" name="TextBox 18"/>
          <p:cNvSpPr txBox="1"/>
          <p:nvPr/>
        </p:nvSpPr>
        <p:spPr>
          <a:xfrm>
            <a:off x="9152915" y="2251710"/>
            <a:ext cx="2124379" cy="875538"/>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475A6B"/>
                </a:solidFill>
                <a:latin typeface="Arial"/>
                <a:ea typeface="Microsoft YaHei"/>
                <a:cs typeface="Arial"/>
              </a:rPr>
              <a:t>With a reference trace to compare against, 'right for the right reason' becomes measurable.</a:t>
            </a:r>
          </a:p>
        </p:txBody>
      </p:sp>
      <p:sp>
        <p:nvSpPr>
          <p:cNvPr id="20" name="Rectangle 19"/>
          <p:cNvSpPr/>
          <p:nvPr/>
        </p:nvSpPr>
        <p:spPr>
          <a:xfrm>
            <a:off x="713232" y="3456432"/>
            <a:ext cx="5550124" cy="277977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1" name="TextBox 20"/>
          <p:cNvSpPr txBox="1"/>
          <p:nvPr/>
        </p:nvSpPr>
        <p:spPr>
          <a:xfrm>
            <a:off x="950976" y="3657600"/>
            <a:ext cx="5074636"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094F63"/>
                </a:solidFill>
                <a:latin typeface="Arial"/>
                <a:ea typeface="Microsoft YaHei"/>
                <a:cs typeface="Arial"/>
              </a:rPr>
              <a:t>Deliverables</a:t>
            </a:r>
          </a:p>
        </p:txBody>
      </p:sp>
      <p:sp>
        <p:nvSpPr>
          <p:cNvPr id="22" name="Oval 21"/>
          <p:cNvSpPr/>
          <p:nvPr/>
        </p:nvSpPr>
        <p:spPr>
          <a:xfrm>
            <a:off x="969264" y="4137660"/>
            <a:ext cx="45720" cy="4572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3" name="TextBox 22"/>
          <p:cNvSpPr txBox="1"/>
          <p:nvPr/>
        </p:nvSpPr>
        <p:spPr>
          <a:xfrm>
            <a:off x="1170432" y="4059936"/>
            <a:ext cx="4818604" cy="487680"/>
          </a:xfrm>
          <a:prstGeom prst="rect">
            <a:avLst/>
          </a:prstGeom>
          <a:noFill/>
        </p:spPr>
        <p:txBody>
          <a:bodyPr wrap="square" lIns="0" rIns="0" tIns="0" bIns="0" anchor="t">
            <a:spAutoFit/>
          </a:bodyPr>
          <a:lstStyle/>
          <a:p>
            <a:pPr algn="l">
              <a:lnSpc>
                <a:spcPct val="130000"/>
              </a:lnSpc>
              <a:spcBef>
                <a:spcPts val="0"/>
              </a:spcBef>
              <a:spcAft>
                <a:spcPts val="0"/>
              </a:spcAft>
            </a:pPr>
            <a:r>
              <a:rPr sz="1200" b="0" i="0">
                <a:solidFill>
                  <a:srgbClr val="182533"/>
                </a:solidFill>
                <a:latin typeface="Arial"/>
                <a:ea typeface="Microsoft YaHei"/>
                <a:cs typeface="Arial"/>
              </a:rPr>
              <a:t>One or two papers (a single flagship, or benchmark and method split)</a:t>
            </a:r>
          </a:p>
        </p:txBody>
      </p:sp>
      <p:sp>
        <p:nvSpPr>
          <p:cNvPr id="24" name="Oval 23"/>
          <p:cNvSpPr/>
          <p:nvPr/>
        </p:nvSpPr>
        <p:spPr>
          <a:xfrm>
            <a:off x="969264" y="4680204"/>
            <a:ext cx="45720" cy="4572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5" name="TextBox 24"/>
          <p:cNvSpPr txBox="1"/>
          <p:nvPr/>
        </p:nvSpPr>
        <p:spPr>
          <a:xfrm>
            <a:off x="1170432" y="4602480"/>
            <a:ext cx="4818604" cy="487680"/>
          </a:xfrm>
          <a:prstGeom prst="rect">
            <a:avLst/>
          </a:prstGeom>
          <a:noFill/>
        </p:spPr>
        <p:txBody>
          <a:bodyPr wrap="square" lIns="0" rIns="0" tIns="0" bIns="0" anchor="t">
            <a:spAutoFit/>
          </a:bodyPr>
          <a:lstStyle/>
          <a:p>
            <a:pPr algn="l">
              <a:lnSpc>
                <a:spcPct val="130000"/>
              </a:lnSpc>
              <a:spcBef>
                <a:spcPts val="0"/>
              </a:spcBef>
              <a:spcAft>
                <a:spcPts val="0"/>
              </a:spcAft>
            </a:pPr>
            <a:r>
              <a:rPr sz="1200" b="0" i="0">
                <a:solidFill>
                  <a:srgbClr val="182533"/>
                </a:solidFill>
                <a:latin typeface="Arial"/>
                <a:ea typeface="Microsoft YaHei"/>
                <a:cs typeface="Arial"/>
              </a:rPr>
              <a:t>Open engine, benchmark, and a reproducibility appendix (manifest, checksums, QA reports, environment lock)</a:t>
            </a:r>
          </a:p>
        </p:txBody>
      </p:sp>
      <p:sp>
        <p:nvSpPr>
          <p:cNvPr id="26" name="Oval 25"/>
          <p:cNvSpPr/>
          <p:nvPr/>
        </p:nvSpPr>
        <p:spPr>
          <a:xfrm>
            <a:off x="969264" y="5222748"/>
            <a:ext cx="45720" cy="4572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7" name="TextBox 26"/>
          <p:cNvSpPr txBox="1"/>
          <p:nvPr/>
        </p:nvSpPr>
        <p:spPr>
          <a:xfrm>
            <a:off x="1170432" y="5145024"/>
            <a:ext cx="4818604" cy="289560"/>
          </a:xfrm>
          <a:prstGeom prst="rect">
            <a:avLst/>
          </a:prstGeom>
          <a:noFill/>
        </p:spPr>
        <p:txBody>
          <a:bodyPr wrap="square" lIns="0" rIns="0" tIns="0" bIns="0" anchor="t">
            <a:spAutoFit/>
          </a:bodyPr>
          <a:lstStyle/>
          <a:p>
            <a:pPr algn="l">
              <a:lnSpc>
                <a:spcPct val="130000"/>
              </a:lnSpc>
              <a:spcBef>
                <a:spcPts val="0"/>
              </a:spcBef>
              <a:spcAft>
                <a:spcPts val="0"/>
              </a:spcAft>
            </a:pPr>
            <a:r>
              <a:rPr sz="1200" b="0" i="0">
                <a:solidFill>
                  <a:srgbClr val="182533"/>
                </a:solidFill>
                <a:latin typeface="Arial"/>
                <a:ea typeface="Microsoft YaHei"/>
                <a:cs typeface="Arial"/>
              </a:rPr>
              <a:t>A TRIPOD-LLM item-by-item reporting map</a:t>
            </a:r>
          </a:p>
        </p:txBody>
      </p:sp>
      <p:sp>
        <p:nvSpPr>
          <p:cNvPr id="28" name="Rectangle 27"/>
          <p:cNvSpPr/>
          <p:nvPr/>
        </p:nvSpPr>
        <p:spPr>
          <a:xfrm>
            <a:off x="6574252" y="3456432"/>
            <a:ext cx="4904210" cy="2779776"/>
          </a:xfrm>
          <a:prstGeom prst="rect">
            <a:avLst/>
          </a:prstGeom>
          <a:solidFill>
            <a:srgbClr val="094F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29" name="TextBox 28"/>
          <p:cNvSpPr txBox="1"/>
          <p:nvPr/>
        </p:nvSpPr>
        <p:spPr>
          <a:xfrm>
            <a:off x="6811996" y="3657600"/>
            <a:ext cx="4428722" cy="274320"/>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8ED6E4"/>
                </a:solidFill>
                <a:latin typeface="Arial"/>
                <a:ea typeface="Microsoft YaHei"/>
                <a:cs typeface="Arial"/>
              </a:rPr>
              <a:t>What I need from you</a:t>
            </a:r>
          </a:p>
        </p:txBody>
      </p:sp>
      <p:sp>
        <p:nvSpPr>
          <p:cNvPr id="30" name="Oval 29"/>
          <p:cNvSpPr/>
          <p:nvPr/>
        </p:nvSpPr>
        <p:spPr>
          <a:xfrm>
            <a:off x="6830284" y="4137660"/>
            <a:ext cx="45720" cy="457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1" name="TextBox 30"/>
          <p:cNvSpPr txBox="1"/>
          <p:nvPr/>
        </p:nvSpPr>
        <p:spPr>
          <a:xfrm>
            <a:off x="7031452" y="4059936"/>
            <a:ext cx="4172690" cy="487680"/>
          </a:xfrm>
          <a:prstGeom prst="rect">
            <a:avLst/>
          </a:prstGeom>
          <a:noFill/>
        </p:spPr>
        <p:txBody>
          <a:bodyPr wrap="square" lIns="0" rIns="0" tIns="0" bIns="0" anchor="t">
            <a:spAutoFit/>
          </a:bodyPr>
          <a:lstStyle/>
          <a:p>
            <a:pPr algn="l">
              <a:lnSpc>
                <a:spcPct val="130000"/>
              </a:lnSpc>
              <a:spcBef>
                <a:spcPts val="0"/>
              </a:spcBef>
              <a:spcAft>
                <a:spcPts val="0"/>
              </a:spcAft>
            </a:pPr>
            <a:r>
              <a:rPr sz="1200" b="0" i="0">
                <a:solidFill>
                  <a:srgbClr val="FFFFFF"/>
                </a:solidFill>
                <a:latin typeface="Arial"/>
                <a:ea typeface="Microsoft YaHei"/>
                <a:cs typeface="Arial"/>
              </a:rPr>
              <a:t>An introduction to two cardiology clinicians for the adjudication (long lead time — needs to start now)</a:t>
            </a:r>
          </a:p>
        </p:txBody>
      </p:sp>
      <p:sp>
        <p:nvSpPr>
          <p:cNvPr id="32" name="Oval 31"/>
          <p:cNvSpPr/>
          <p:nvPr/>
        </p:nvSpPr>
        <p:spPr>
          <a:xfrm>
            <a:off x="6830284" y="4680204"/>
            <a:ext cx="45720" cy="457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3" name="TextBox 32"/>
          <p:cNvSpPr txBox="1"/>
          <p:nvPr/>
        </p:nvSpPr>
        <p:spPr>
          <a:xfrm>
            <a:off x="7031452" y="4602480"/>
            <a:ext cx="4172690" cy="487680"/>
          </a:xfrm>
          <a:prstGeom prst="rect">
            <a:avLst/>
          </a:prstGeom>
          <a:noFill/>
        </p:spPr>
        <p:txBody>
          <a:bodyPr wrap="square" lIns="0" rIns="0" tIns="0" bIns="0" anchor="t">
            <a:spAutoFit/>
          </a:bodyPr>
          <a:lstStyle/>
          <a:p>
            <a:pPr algn="l">
              <a:lnSpc>
                <a:spcPct val="130000"/>
              </a:lnSpc>
              <a:spcBef>
                <a:spcPts val="0"/>
              </a:spcBef>
              <a:spcAft>
                <a:spcPts val="0"/>
              </a:spcAft>
            </a:pPr>
            <a:r>
              <a:rPr sz="1200" b="0" i="0">
                <a:solidFill>
                  <a:srgbClr val="FFFFFF"/>
                </a:solidFill>
                <a:latin typeface="Arial"/>
                <a:ea typeface="Microsoft YaHei"/>
                <a:cs typeface="Arial"/>
              </a:rPr>
              <a:t>A decision on paper strategy: one flagship, or benchmark plus method</a:t>
            </a:r>
          </a:p>
        </p:txBody>
      </p:sp>
      <p:sp>
        <p:nvSpPr>
          <p:cNvPr id="34" name="Oval 33"/>
          <p:cNvSpPr/>
          <p:nvPr/>
        </p:nvSpPr>
        <p:spPr>
          <a:xfrm>
            <a:off x="6830284" y="5222748"/>
            <a:ext cx="45720" cy="457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p>
        </p:txBody>
      </p:sp>
      <p:sp>
        <p:nvSpPr>
          <p:cNvPr id="35" name="TextBox 34"/>
          <p:cNvSpPr txBox="1"/>
          <p:nvPr/>
        </p:nvSpPr>
        <p:spPr>
          <a:xfrm>
            <a:off x="7031452" y="5145024"/>
            <a:ext cx="4172690" cy="487680"/>
          </a:xfrm>
          <a:prstGeom prst="rect">
            <a:avLst/>
          </a:prstGeom>
          <a:noFill/>
        </p:spPr>
        <p:txBody>
          <a:bodyPr wrap="square" lIns="0" rIns="0" tIns="0" bIns="0" anchor="t">
            <a:spAutoFit/>
          </a:bodyPr>
          <a:lstStyle/>
          <a:p>
            <a:pPr algn="l">
              <a:lnSpc>
                <a:spcPct val="130000"/>
              </a:lnSpc>
              <a:spcBef>
                <a:spcPts val="0"/>
              </a:spcBef>
              <a:spcAft>
                <a:spcPts val="0"/>
              </a:spcAft>
            </a:pPr>
            <a:r>
              <a:rPr sz="1200" b="0" i="0">
                <a:solidFill>
                  <a:srgbClr val="FFFFFF"/>
                </a:solidFill>
                <a:latin typeface="Arial"/>
                <a:ea typeface="Microsoft YaHei"/>
                <a:cs typeface="Arial"/>
              </a:rPr>
              <a:t>A budget for model calls: 5 replicates per case across six conditions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