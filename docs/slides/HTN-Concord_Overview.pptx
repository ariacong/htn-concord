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27432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PhD project · design and progress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Where exactly do LLMs go wrong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in hypertension treatment decisions?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712463"/>
            <a:ext cx="201168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3950208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HTN-Concord: an executable guideline as the answer key, separating misreading from misreasoning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56048"/>
            <a:ext cx="2480517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Deterministic guideline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24101" y="4956048"/>
            <a:ext cx="2411245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Localizable failure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649" y="4956048"/>
            <a:ext cx="1808101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NHANES + MIMIC-IV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15584"/>
            <a:ext cx="9509760" cy="204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1">
              <a:lnSpc>
                <a:spcPct val="122000"/>
              </a:lnSpc>
            </a:pPr>
            <a:r>
              <a:rPr lang="en-US" sz="1200" b="0" i="0" dirty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Rong</a:t>
            </a:r>
            <a:r>
              <a:rPr sz="1200" b="0" i="0" dirty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 Cong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this project does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Problem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Prescribing for hypertension means satisfying four conditions at once: BP stage, comorbidity, contraindication, and current medication. All four must be right for the answer to be 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3007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17373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Difficulty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LLMs are tested with multiple-choice questions that produce one score. A score cannot say whether the model misread the chart or read it and reasoned badly.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Approach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Hand-write the 2025 AHA/ACC hypertension guideline as a program and use it as the answer key. Give the same patient to the model twice: as structured data, and as a clinical narrative.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007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5615" y="42519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Result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gap between the two scores is the cost of not being able to read a chart. What remains is genuine clinical-reasoning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Clinically this is a four-out-of-four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652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One 58-year-old patient. Miss any single line and the answer turns from correct to dangerous: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BP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145/92 mmHg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→ stage 2 hypertension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Missed → no drug when one is due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9403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9403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7147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Comorbidity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7147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Type 2 diabetes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estimated eGFR 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7147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7147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Missed → wrong drug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05575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3319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Contraindication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Prior angioedema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serum K 5.7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3319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3319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Missed → an unsafe drug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747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51747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491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Current meds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491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Already on amlodipine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491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491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Missed → 'initiate' instead of 'intensify'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11496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So this is not knowledge recall. It is multi-constraint decision making, and published work already shows model performance degrades as comorbidity load 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is missing is not another score — it is a reference reasoning path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548025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548025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014" y="2267712"/>
            <a:ext cx="6297660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Medical LLM benchmarks are largely multiple choice.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910" y="2543683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output is a single number, say 85%.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14" y="2878074"/>
            <a:ext cx="6297660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85% answers none of these three questions: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910" y="3208909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Did it misread the chart, or read it and reason wrongly?</a:t>
            </a:r>
          </a:p>
        </p:txBody>
      </p:sp>
      <p:sp>
        <p:nvSpPr>
          <p:cNvPr id="12" name="Oval 11"/>
          <p:cNvSpPr/>
          <p:nvPr/>
        </p:nvSpPr>
        <p:spPr>
          <a:xfrm>
            <a:off x="772454" y="3291205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1910" y="3484880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two failures need entirely different fixes.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910" y="3819271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Of the items it got right, did it take the right path?</a:t>
            </a:r>
          </a:p>
        </p:txBody>
      </p:sp>
      <p:sp>
        <p:nvSpPr>
          <p:cNvPr id="15" name="Oval 14"/>
          <p:cNvSpPr/>
          <p:nvPr/>
        </p:nvSpPr>
        <p:spPr>
          <a:xfrm>
            <a:off x="772454" y="3901567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1910" y="4095242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benchmark stores the correct option, not the correct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910" y="4429633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How often does it recommend a contraindicated drug?</a:t>
            </a:r>
          </a:p>
        </p:txBody>
      </p:sp>
      <p:sp>
        <p:nvSpPr>
          <p:cNvPr id="18" name="Oval 17"/>
          <p:cNvSpPr/>
          <p:nvPr/>
        </p:nvSpPr>
        <p:spPr>
          <a:xfrm>
            <a:off x="772454" y="4511929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1910" y="4705604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Unsafe errors get averaged into the headline and disappear.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2722" y="2679192"/>
            <a:ext cx="4083522" cy="2377821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1906" y="2990088"/>
            <a:ext cx="34251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The gap in one sentence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1906" y="3429000"/>
            <a:ext cx="3425154" cy="1371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Existing benchmarks have no reference reasoning path, so errors cannot be localized. You learn that the model fails; you do not learn what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is already done, and where we differ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10765231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270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1645920"/>
            <a:ext cx="2372053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Turning guidelines into executable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97" y="1645920"/>
            <a:ext cx="3970849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Four 2026 papers already do this (CPGPrompt, MedGuideX, GuideSkill, Guideline2Graph)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655" y="1645920"/>
            <a:ext cx="354450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Occupied · we cite it, we do not claim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187448"/>
            <a:ext cx="10765231" cy="6604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13232" y="21874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306320"/>
            <a:ext cx="2372053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the guideline program is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97" y="2306320"/>
            <a:ext cx="3970849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Others: a tree the model walks / a training signal / a text 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655" y="2306320"/>
            <a:ext cx="3544504" cy="47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Ours: the examiner's answer key, and it emits reasoning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47848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713232" y="28478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2966720"/>
            <a:ext cx="237205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Task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97" y="2966720"/>
            <a:ext cx="397084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Mostly diagnosis (produce an ICD code)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655" y="2966720"/>
            <a:ext cx="3544504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Treatment initiation and intensification (drug or no drug, which class)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491992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" y="34919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3610864"/>
            <a:ext cx="237205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Difficulty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4197" y="3610864"/>
            <a:ext cx="397084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Raising difficulty also changes how much information is given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7655" y="3610864"/>
            <a:ext cx="3544504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A test enforces it: presentation changes, information does not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136136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713232" y="4136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" y="4255008"/>
            <a:ext cx="237205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Who checks the 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197" y="4255008"/>
            <a:ext cx="397084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GuideSkill's own stated limitation: no physician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655" y="4255008"/>
            <a:ext cx="3544504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Blinded clinician adjudication is a required deliverable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7802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Write the guideline as a program and let it be the answer key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3063240" cy="193751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587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587752" cy="1114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One structured patient record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(age, BP, labs, comorbidities, current medication)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349500"/>
            <a:ext cx="512064" cy="292608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527048"/>
            <a:ext cx="6677863" cy="1937512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6165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Output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762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5854903" cy="520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action: lifestyle only / initiate / intensify / at goal / abstain when undecidable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6969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2614676"/>
            <a:ext cx="5854903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guideline passage behind each step (citation anchor)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30030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2920746"/>
            <a:ext cx="5854903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full reasoning trace, comparable step by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848608"/>
            <a:ext cx="342991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rules are hand-written by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Transcribed clause by clause, each with a unit test and a citation. Only the engineering scaffolding is delegated.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0890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0890" y="3848608"/>
            <a:ext cx="342991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8634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No answer when uncertain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634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Insufficient information, or outside the encoded scope, returns ABSTAIN. It never guesses.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8548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8548" y="3848608"/>
            <a:ext cx="3429914" cy="411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6292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It is not a contestant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292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engine does not compete with the model; it is the source of ground truth. 'The engine beat the LLM' must never appear in the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KEY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headline result is one subtraction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108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7882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Sheet A · 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51679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58, male, SBP 145, DBP 92,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diabetes=yes, eGFR 52,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current=[amlodipine]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971800"/>
            <a:ext cx="4751679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3044952"/>
            <a:ext cx="4751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Zero reading burden — pure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51295" y="1499616"/>
            <a:ext cx="522716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0751" y="1554480"/>
            <a:ext cx="47882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Sheet B · clinical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75104"/>
            <a:ext cx="4751679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"A 58-year-old man returns for follow-up of elevated blood pressure.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He has been on one antihypertensive for six months. Long-standing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diabetes; recent labs show a mildly raised creatinine..."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9039" y="2971800"/>
            <a:ext cx="4751680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89039" y="3044952"/>
            <a:ext cx="4751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Read first, then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85032"/>
            <a:ext cx="10765231" cy="713232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107652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score on Sheet A  −  score on Sheet B  =  the cost of not reading the chart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8231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10490911" cy="533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Both sheets carry exactly the same decision-relevant facts and differ only in wording — enforced by a test, not by a promise in the methods section.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34365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252212"/>
            <a:ext cx="10490911" cy="31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So a drop across levels can only be attributed to reading. It cannot be a fact that was quietly withheld.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68375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592318"/>
            <a:ext cx="10490911" cy="533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closest prior result did this on 80 patients with manually written summaries. We can do it on 4,806 with a deterministic renderer.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Five components, one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US national survey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994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5586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real inpatient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3348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MIMIC-IV-ED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medication reconciliation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2121408"/>
            <a:ext cx="292608" cy="274320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2450592"/>
            <a:ext cx="10765231" cy="658368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107652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Canonical PatientProfile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D8E4"/>
                </a:solidFill>
                <a:latin typeface="Arial"/>
                <a:ea typeface="Microsoft YaHei"/>
                <a:cs typeface="Arial"/>
              </a:rPr>
              <a:t>every source collapses to one table; downstream code never branches on provenance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6221" y="3145536"/>
            <a:ext cx="256032" cy="237744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789441" y="3145536"/>
            <a:ext cx="256032" cy="237744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502152"/>
            <a:ext cx="47562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Guideline engine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(the answer key)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46221" y="4023360"/>
            <a:ext cx="256032" cy="219456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7562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decision + citations + reasoning trace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[hidden from the model throughout]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6451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9331" y="3502152"/>
            <a:ext cx="47562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Vignette renderer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(three difficulty levels)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9441" y="4023360"/>
            <a:ext cx="256032" cy="21945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6451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9331" y="4379976"/>
            <a:ext cx="47562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LLM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(structured output)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4622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878944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3232" y="5157216"/>
            <a:ext cx="10765231" cy="512064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285231"/>
            <a:ext cx="10765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Evaluator → nine metrics + failure-mode attribution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97296"/>
            <a:ext cx="107652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Leakage gate: question files and answer files are physically separate, joined only on case_id. A vignette containing an answer-bearing token is never written.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Say plainly what is out of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 scope (locked)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03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03120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Adult primary hypertension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234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482342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Two decisions: initiate and intensify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6156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861564"/>
            <a:ext cx="4404207" cy="520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Three high-value contraindications: pregnancy, prior angioedema, K ≥ 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5541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455416"/>
            <a:ext cx="4404207" cy="520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Drug class level (thiazide / ACEi / ARB / dihydropyridine CCB)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Out of scope (the engine abstains)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03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9935" y="2103120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Management of hypertension in pregnancy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48234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935" y="2482342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Secondary and resistant hypertension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86156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935" y="2861564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Hypertensive emergency, end-stage renal 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24078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3240786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Specific agents, doses, titration schedules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62000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9935" y="3620008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Clinical deployment or decision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boundary is not avoidance, it is part of the defence: abstaining with a stated reason is safer than answering confidently from rules that were never encoded — and it writes up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Two real sources, one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15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5508" y="1792224"/>
            <a:ext cx="2018859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Primary substrate · built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36829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6" y="2286000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9,254 respondents → 4,806 adult profiles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732532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650236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14,418 narrative cases built (3 difficulty levels)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96768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6" y="3014472"/>
            <a:ext cx="4440783" cy="527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Split by patient, not by case: 2,914 train / 940 dev / 952 test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67893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3596640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Leakage audit: zero hits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7327" y="1773936"/>
            <a:ext cx="4715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3.1 + 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0315" y="1792224"/>
            <a:ext cx="1622115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Real EHR · to build</a:t>
            </a:r>
          </a:p>
        </p:txBody>
      </p:sp>
      <p:sp>
        <p:nvSpPr>
          <p:cNvPr id="24" name="Oval 23"/>
          <p:cNvSpPr/>
          <p:nvPr/>
        </p:nvSpPr>
        <p:spPr>
          <a:xfrm>
            <a:off x="6543903" y="2368296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3359" y="2286000"/>
            <a:ext cx="4440783" cy="527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ICD anchors select patients; staging uses only pre-admission outpatient readings</a:t>
            </a:r>
          </a:p>
        </p:txBody>
      </p:sp>
      <p:sp>
        <p:nvSpPr>
          <p:cNvPr id="26" name="Oval 25"/>
          <p:cNvSpPr/>
          <p:nvPr/>
        </p:nvSpPr>
        <p:spPr>
          <a:xfrm>
            <a:off x="6543903" y="2950464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3359" y="2868168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28,530 patients can be staged</a:t>
            </a:r>
          </a:p>
        </p:txBody>
      </p:sp>
      <p:sp>
        <p:nvSpPr>
          <p:cNvPr id="28" name="Oval 27"/>
          <p:cNvSpPr/>
          <p:nvPr/>
        </p:nvSpPr>
        <p:spPr>
          <a:xfrm>
            <a:off x="6543903" y="3314700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3359" y="3232404"/>
            <a:ext cx="4440783" cy="527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~8,921 can carry a decision label (needs pre-admission med reconciliation)</a:t>
            </a:r>
          </a:p>
        </p:txBody>
      </p:sp>
      <p:sp>
        <p:nvSpPr>
          <p:cNvPr id="30" name="Oval 29"/>
          <p:cNvSpPr/>
          <p:nvPr/>
        </p:nvSpPr>
        <p:spPr>
          <a:xfrm>
            <a:off x="6543903" y="3896868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3359" y="3814572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Discharge summaries feed the real-text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One rule is already fixed: current medication comes from pre-admission home meds, never from discharge meds — discharge meds leak the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METHOD ·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Four tasks, closing in on reality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910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91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65224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408" y="1709928"/>
            <a:ext cx="1803277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Structured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2294" y="1709928"/>
            <a:ext cx="3041755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Clean profile in, engine label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658" y="1709928"/>
            <a:ext cx="313702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Ceiling: reasoning with perfect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6289" y="1709928"/>
            <a:ext cx="945869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032000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13232" y="20320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" y="2207768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08" y="2150872"/>
            <a:ext cx="1803277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Narrative vignette (headline)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294" y="2150872"/>
            <a:ext cx="3041755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Rendered as prose, raw facts only, no conclusion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6658" y="2150872"/>
            <a:ext cx="313702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Main results; minus A gives the reading burden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6289" y="2150872"/>
            <a:ext cx="94586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Built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676144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713232" y="26761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2851912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408" y="2795016"/>
            <a:ext cx="1803277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Real clinical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294" y="2795016"/>
            <a:ext cx="3041755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MIMIC discharge summaries in; extract, then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658" y="2795016"/>
            <a:ext cx="313702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External validity: how far synthetic findings carry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6289" y="2795016"/>
            <a:ext cx="94586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3320288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713232" y="33202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3496056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6408" y="3439160"/>
            <a:ext cx="1803277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External plausibility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2294" y="3439160"/>
            <a:ext cx="3041755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Concordance against linked mortality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6658" y="3439160"/>
            <a:ext cx="3137023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Plausibility only, never efficacy (confounding by indication)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6289" y="3439160"/>
            <a:ext cx="945869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To build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396443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METHOD ·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Change one thing at a time, read the differences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996" y="1655064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Structured input, model's own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390" y="1655064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925" y="1655064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Reasoning ceiling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4996" y="2096008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Switch to a narrative vignette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390" y="2096008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input form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925" y="2096008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Reading burden = C0 − 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996" y="2536952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Add guideline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390" y="2536952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retrieval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925" y="2536952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Knowledge gap = C2 − 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4996" y="2977895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Add deterministic calculation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390" y="2977895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tools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925" y="2977895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Arithmetic error = C3 − C2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996" y="3418839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Retrieval becomes a guideline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390" y="3418839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retrieval mechanism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925" y="3418839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Marginal value of the graph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4996" y="3859784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Swap in real discharge summaries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390" y="3859784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text provenance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2925" y="3859784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Ecological validity = C4 − C3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4437888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Read the differences, not the absolute scores. An absolute score depends on corpus difficulty, which is a design choice; a difference between two conditions on the same corpus is the science.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METHOD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Not one score — nine metrics and three reporting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4736701" cy="11196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45720" cy="111963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6459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Primary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75104"/>
            <a:ext cx="4224637" cy="497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Decision concordance (exact match to the engine label)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820416"/>
            <a:ext cx="4736701" cy="11196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2820416"/>
            <a:ext cx="45720" cy="11196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9667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Co-primary ·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295904"/>
            <a:ext cx="4224637" cy="497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Unsafe recommendation rate (a drug contraindicated for this patient)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141216"/>
            <a:ext cx="4736701" cy="15260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141216"/>
            <a:ext cx="45720" cy="1526032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42875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Secondary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616704"/>
            <a:ext cx="4224637" cy="904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Staging correct · Extraction F1 · Contraindication recall · Contraindication false positive · Citation support · Trace concordance · Abstention appropriateness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269" y="1499616"/>
            <a:ext cx="5626193" cy="1405636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301" y="1682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909" y="1682496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Safety never enters the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909" y="2009140"/>
            <a:ext cx="480323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 missed pregnancy contraindication and an over-cautious lifestyle answer are both 'one error' to accuracy, and are not clinically equivalent.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269" y="3088132"/>
            <a:ext cx="5626193" cy="119837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301" y="32710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909" y="3271012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Always print the baseline next to the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09" y="3597656"/>
            <a:ext cx="4803233" cy="505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majority class in the test split is 51.5% — answering 'lifestyle only' unconditionally scores 51.5%.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269" y="4469384"/>
            <a:ext cx="5626193" cy="1405636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08301" y="46522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909" y="4652264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Abstention is scored, not dropped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909" y="4978908"/>
            <a:ext cx="4803233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Abstaining when the answer is genuinely undecidable is correct behaviour. Dropping abstentions rewards guessing. Over- and under-abstention are reported as two separate rates.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Five falsifiable predictions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2362" y="1655064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Structured near ceiling, narrative drops clearly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62" y="1655064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Most errors are reading, not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4148" y="1655064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C0 − C1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6441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152904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2362" y="2096008"/>
            <a:ext cx="3856491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Staging near perfect; errors concentrate in risk stratification and contraindications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1462" y="2096008"/>
            <a:ext cx="3520078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Names the step actually worth fixing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4148" y="2096008"/>
            <a:ext cx="1838010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Failure-mode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621280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6212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797048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2362" y="2740152"/>
            <a:ext cx="3856491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Retrieval fixes knowledge errors but not arithmetic; tools do the reverse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1462" y="2740152"/>
            <a:ext cx="3520078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Interventions must match the error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4148" y="2740152"/>
            <a:ext cx="1838010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C2 − C1 vs C3 − 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2654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2654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339592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2362" y="3384296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further drop on real discharge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1462" y="3384296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Bounds how far vignette findings generalize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4148" y="3384296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C4 − C3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706368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7063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882136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2362" y="3825240"/>
            <a:ext cx="3856491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Models systematically overcommit and rarely abstain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1462" y="3825240"/>
            <a:ext cx="3520078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 direct safety concern for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4148" y="3825240"/>
            <a:ext cx="1838010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Abstention appropriateness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43505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46065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Any prediction failing is itself a finding. If H1 fails and narrative input costs nothing, reading is not the bottleneck and the project pivots to reasoning — that is also a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the thesis can and cannot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Claims we can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What share of LLM error in hypertension prescribing comes from failing to 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2338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2338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Which step of the decision chain errors fall on, and whether they are extraction, reasoning, or citation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32536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2536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Which intervention repairs which class of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71779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1779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How much of the synthetic-vignette finding survives on real clinical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31977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1977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That the engine is a faithful, auditable, citation-linked transcription of a published guideline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Claims we cannot make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12140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8223" y="212140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'The engine outperforms the LLM' — it is the answer key, not a contestant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72338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223" y="272338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'Concordance equals clinical correctness' — it equals concordance with one guideline's formalization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32536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332536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'The model is ready for clinical use' — no humans, no deployment; this is upstream measurement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92734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223" y="3927348"/>
            <a:ext cx="4385919" cy="720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'Contamination is excluded' — NHANES and the guideline are public and may sit in pretraining; another reason to read differences, not absolutes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Built, in flight, and outstanding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3663161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3663161" cy="365760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26082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Built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14426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066544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Canonical schema, controlled vocabularies, CI and a tagged 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64160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563876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Full NHANES pipeline: 4,806 profiles plus QA report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38932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061208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PREVENT 10-year risk model (reproduces the published worked example exactly)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636264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558540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Engine: BP staging, initiation/intensification, three-valued abstention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133595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4055871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Vignette renderer (3 levels), 14,418-case headline corpus, leakage audit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630927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553203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Model runner (strict JSON mode plus transcript replay)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128259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5050535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Nine-metric evaluator with the audit findings enforced in code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5625591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547867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Experiment design document (ablation matrix, TRIPOD-LLM mapping)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4137" y="1499616"/>
            <a:ext cx="2478985" cy="473659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14137" y="1499616"/>
            <a:ext cx="2478985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5305" y="1581912"/>
            <a:ext cx="20766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 flight</a:t>
            </a:r>
          </a:p>
        </p:txBody>
      </p:sp>
      <p:sp>
        <p:nvSpPr>
          <p:cNvPr id="30" name="Oval 29"/>
          <p:cNvSpPr/>
          <p:nvPr/>
        </p:nvSpPr>
        <p:spPr>
          <a:xfrm>
            <a:off x="4833593" y="214426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16473" y="2066544"/>
            <a:ext cx="1875481" cy="652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Engine composition-layer refactor (blocks the remaining six rule modules)</a:t>
            </a:r>
          </a:p>
        </p:txBody>
      </p:sp>
      <p:sp>
        <p:nvSpPr>
          <p:cNvPr id="32" name="Oval 31"/>
          <p:cNvSpPr/>
          <p:nvPr/>
        </p:nvSpPr>
        <p:spPr>
          <a:xfrm>
            <a:off x="4833593" y="282854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6473" y="2750820"/>
            <a:ext cx="1875481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Documentation restructure across the three trees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0866" y="1499616"/>
            <a:ext cx="4147596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30866" y="1499616"/>
            <a:ext cx="4147596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32034" y="1581912"/>
            <a:ext cx="37452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Outstanding (critical path order)</a:t>
            </a:r>
          </a:p>
        </p:txBody>
      </p:sp>
      <p:sp>
        <p:nvSpPr>
          <p:cNvPr id="37" name="Oval 36"/>
          <p:cNvSpPr/>
          <p:nvPr/>
        </p:nvSpPr>
        <p:spPr>
          <a:xfrm>
            <a:off x="7550322" y="214426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33202" y="2066544"/>
            <a:ext cx="3544092" cy="652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Remaining engine rules: drug class, comorbidity modifiers, contraindications, abstention, citation linker, trace emitter</a:t>
            </a:r>
          </a:p>
        </p:txBody>
      </p:sp>
      <p:sp>
        <p:nvSpPr>
          <p:cNvPr id="39" name="Oval 38"/>
          <p:cNvSpPr/>
          <p:nvPr/>
        </p:nvSpPr>
        <p:spPr>
          <a:xfrm>
            <a:off x="7550322" y="282854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3202" y="2750820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Full MIMIC-IV pipeline (the largest remaining lift; unlocks the real-text task)</a:t>
            </a:r>
          </a:p>
        </p:txBody>
      </p:sp>
      <p:sp>
        <p:nvSpPr>
          <p:cNvPr id="41" name="Oval 40"/>
          <p:cNvSpPr/>
          <p:nvPr/>
        </p:nvSpPr>
        <p:spPr>
          <a:xfrm>
            <a:off x="7550322" y="3325876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3202" y="3248152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Contraindication stress set (the safety outcome is not estimable on NHANES)</a:t>
            </a:r>
          </a:p>
        </p:txBody>
      </p:sp>
      <p:sp>
        <p:nvSpPr>
          <p:cNvPr id="43" name="Oval 42"/>
          <p:cNvSpPr/>
          <p:nvPr/>
        </p:nvSpPr>
        <p:spPr>
          <a:xfrm>
            <a:off x="7550322" y="382320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33202" y="3745484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Pilot run and kill-criteria gate ← highest priority now</a:t>
            </a:r>
          </a:p>
        </p:txBody>
      </p:sp>
      <p:sp>
        <p:nvSpPr>
          <p:cNvPr id="45" name="Oval 44"/>
          <p:cNvSpPr/>
          <p:nvPr/>
        </p:nvSpPr>
        <p:spPr>
          <a:xfrm>
            <a:off x="7550322" y="432054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33202" y="4242816"/>
            <a:ext cx="3544092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Blinded clinician adjudication of 150–200 cases</a:t>
            </a:r>
          </a:p>
        </p:txBody>
      </p:sp>
      <p:sp>
        <p:nvSpPr>
          <p:cNvPr id="47" name="Oval 46"/>
          <p:cNvSpPr/>
          <p:nvPr/>
        </p:nvSpPr>
        <p:spPr>
          <a:xfrm>
            <a:off x="7550322" y="4630927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33202" y="4553203"/>
            <a:ext cx="3544092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Pre-registration freeze and statistical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Seven milestones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207" y="1655064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Contracts frozen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3535" y="1655064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Schema and vocabularies fixed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466" y="1655064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207" y="2096008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Data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535" y="2096008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Every source emits valid profiles plus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466" y="2096008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6207" y="2536952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Engine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3535" y="2536952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Every rule tested and cited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3466" y="2536952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In 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6207" y="2977895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Benchmark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3535" y="2977895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Tasks A and B built, leakage audit passes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3466" y="2977895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 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6207" y="3418839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Pilot verdict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3535" y="3418839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 models × 3 levels; go or no-go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466" y="3418839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46207" y="3859784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Full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3535" y="3859784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RQ1 to RQ4 complete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3466" y="3859784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Pending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1818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" y="4256024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6207" y="4300728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Submission and release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3535" y="4300728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Paper plus open engine and benchmark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3466" y="4300728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Pending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3232" y="46228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2" y="48605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M5 is the decision point. If all three levels sit at the ceiling, or the frontier model ties the open-weight model everywhere, the corpus lacks discriminative power — fix the corpus before scaling the 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Five real risks and what is done about them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36776"/>
            <a:ext cx="2524640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wrong rule corrupts every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056" y="1636776"/>
            <a:ext cx="3385858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answer key is a single point of failure: one wrong rule silently poisons everything downstream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7234" y="1636776"/>
            <a:ext cx="4086636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Every rule cited and unit-tested; ambiguity abstains; 150–200 cases blind-adjudicated by clinicians with Cohen's kappa reported; kappa &lt; 1 pre-registered as 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44115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599563"/>
            <a:ext cx="2524640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safety outcome is not estimable on the main cohort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7056" y="2599563"/>
            <a:ext cx="3385858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Only 9 of 4,806 patients carry any contraindication, all hyperkalemia; zero pregnancy, zero angioedema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7234" y="2599563"/>
            <a:ext cx="4086636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Build a purpose-designed contraindication stress set, reported as its own table and never pooled into the headline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406902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406902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562349"/>
            <a:ext cx="2524640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pilot has not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056" y="3562349"/>
            <a:ext cx="3385858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whole ablation ladder is staked on an untested assumption: that the corpus separates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234" y="3562349"/>
            <a:ext cx="4086636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Run 20 cases × 2 models first against explicit kill criteria; scale only if it passes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369689"/>
            <a:ext cx="41148" cy="713740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525137"/>
            <a:ext cx="2524640" cy="713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The real-EHR pipeline is the largest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056" y="4525137"/>
            <a:ext cx="3385858" cy="713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real-text task and all external validity are blocked behind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34" y="4525137"/>
            <a:ext cx="4086636" cy="713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Run a label-yield gate first to confirm how many patients can carry a label, then fix the cohort definition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165725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5165725"/>
            <a:ext cx="41148" cy="880491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5321173"/>
            <a:ext cx="2524640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'Hard' is currently only hard to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056" y="5321173"/>
            <a:ext cx="3385858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The distractor library is unbuilt, so the hard level is harder to extract from, not harder to reason about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7234" y="5321173"/>
            <a:ext cx="4086636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Author the hand-written distractor library; until then, a flat difficulty curve is not over-interpreted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Four contributions and the deliverables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PhD project design and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1 · An executable guideline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1710"/>
            <a:ext cx="2124379" cy="87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Open-sourced. Clause-by-clause, citation-linked, auditable, and replicable for other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0571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2 · A hypertension decision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251710"/>
            <a:ext cx="2124379" cy="87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Open-sourced. Synthetic and real-EHR arms share one schema and one engine.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6743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3 · Failure-mechanism localization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251710"/>
            <a:ext cx="2124379" cy="87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The first account of which step of the decision chain fails and by what mechanism.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2915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4 · Reasoning-trace concordance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251710"/>
            <a:ext cx="2124379" cy="875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With a reference trace to compare against, 'right for the right reason' becomes measurable.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56432"/>
            <a:ext cx="5550124" cy="277977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657600"/>
            <a:ext cx="5074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Deliverables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" y="413766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059936"/>
            <a:ext cx="481860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One or two papers (a single flagship, or benchmark and method split)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68020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4602480"/>
            <a:ext cx="481860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Open engine, benchmark, and a reproducibility appendix (manifest, checksums, QA reports, environment lock)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522274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5145024"/>
            <a:ext cx="4818604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A TRIPOD-LLM item-by-item reporting 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252" y="3456432"/>
            <a:ext cx="4904210" cy="277977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1996" y="3657600"/>
            <a:ext cx="4428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What I need from you</a:t>
            </a:r>
          </a:p>
        </p:txBody>
      </p:sp>
      <p:sp>
        <p:nvSpPr>
          <p:cNvPr id="30" name="Oval 29"/>
          <p:cNvSpPr/>
          <p:nvPr/>
        </p:nvSpPr>
        <p:spPr>
          <a:xfrm>
            <a:off x="6830284" y="413766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31452" y="4059936"/>
            <a:ext cx="417269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An introduction to two cardiology clinicians for the adjudication (long lead time — needs to start now)</a:t>
            </a:r>
          </a:p>
        </p:txBody>
      </p:sp>
      <p:sp>
        <p:nvSpPr>
          <p:cNvPr id="32" name="Oval 31"/>
          <p:cNvSpPr/>
          <p:nvPr/>
        </p:nvSpPr>
        <p:spPr>
          <a:xfrm>
            <a:off x="6830284" y="468020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31452" y="4602480"/>
            <a:ext cx="417269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decision on paper strategy: one flagship, or benchmark plus method</a:t>
            </a:r>
          </a:p>
        </p:txBody>
      </p:sp>
      <p:sp>
        <p:nvSpPr>
          <p:cNvPr id="34" name="Oval 33"/>
          <p:cNvSpPr/>
          <p:nvPr/>
        </p:nvSpPr>
        <p:spPr>
          <a:xfrm>
            <a:off x="6830284" y="522274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31452" y="5145024"/>
            <a:ext cx="417269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budget for model calls: 5 replicates per case across six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2766</Words>
  <Application>Microsoft Macintosh PowerPoint</Application>
  <PresentationFormat>Widescreen</PresentationFormat>
  <Paragraphs>390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 Cong</cp:lastModifiedBy>
  <cp:revision>3</cp:revision>
  <dcterms:created xsi:type="dcterms:W3CDTF">2013-01-27T09:14:16Z</dcterms:created>
  <dcterms:modified xsi:type="dcterms:W3CDTF">2026-09-09T06:22:42Z</dcterms:modified>
  <cp:category/>
</cp:coreProperties>
</file>