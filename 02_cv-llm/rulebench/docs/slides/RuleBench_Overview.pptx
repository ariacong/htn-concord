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274320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PhD project · new direction, design and pilot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Can LLMs reliably execute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 clinical rule?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3712463"/>
            <a:ext cx="2011680" cy="0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3950208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cv-llm-rulebench: cardiovascular risk equations as a testbed, every answer computed by a program, every error traced to a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956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Program-computed 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95344" y="4956048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No clinician adjudication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4848" y="4956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NHANES + MIMIC-IV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15584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Presenter: Aria Cong   · 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What this project does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50292" cy="2240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4678527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Problem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LLMs are already asked whether a patient should start BP medication. The answers name an equation, give a risk and a decision, and look professional, but may not follow the rule at 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813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481328"/>
            <a:ext cx="50292" cy="2240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5615" y="1737360"/>
            <a:ext cx="4678527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Gap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Most studies report one overall score, graded by clinicians or by another LLM. A score cannot say which step failed, so it cannot say what to fix.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9959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995928"/>
            <a:ext cx="50292" cy="22402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4678527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Approach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Use rules whose every step has a program-computed answer: published risk equations and guideline thresholds. Split each answer into rule choice, calculation, decision and whether a decision is possible.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959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3995928"/>
            <a:ext cx="50292" cy="22402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5615" y="4251960"/>
            <a:ext cx="4678527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Result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The pilot is done. The main failure is miscalculation, not clinging to the old guideline, and models of different sizes fail at different steps, which need different fixes.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One treatment decision, four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107652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For a stage 1 hypertension patient (130–139/80–89) under the 2025 US guideline, an error at any step flips the decision: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32257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Choose the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34640"/>
            <a:ext cx="2051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2025 guideline: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PREVENT ≥7.5%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050791"/>
            <a:ext cx="20512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Wrong → falls back to
2017 (PCE ≥10%)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9403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9403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7147" y="232257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Compute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7147" y="2834640"/>
            <a:ext cx="2051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PREVENT equation,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10+ inputs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7147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7147" y="4050791"/>
            <a:ext cx="20512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Wrong → 1 point off
flips it near the cut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5575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5575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3319" y="232257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319" y="2834640"/>
            <a:ext cx="2051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Compare risk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with threshold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3319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3319" y="4050791"/>
            <a:ext cx="20512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Wrong → decision
contradicts own number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747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51747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491" y="232257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Can it decide?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491" y="2834640"/>
            <a:ext cx="2051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Lipids missing: does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the interval cross τ?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491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491" y="4050791"/>
            <a:ext cx="20512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Wrong → abstains when
it could answer, or guesses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111496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Each step has one correct answer that a program can compute, with no clinician needed. That is why cardiovascular risk equations make a good testbed.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We need to know which step fails, not another score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6297660" cy="570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Most cardiovascular LLM studies stop at "this model scores X on this task".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88134"/>
            <a:ext cx="5986764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For example, 83% on 51 hypertension questions; nine models compared on AF anticoagulation.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28900"/>
            <a:ext cx="6297660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 single score cannot answer three questions: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9735"/>
            <a:ext cx="5986764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Did it pick the wrong rule, compute wrongly, or decide wrongly?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042031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35706"/>
            <a:ext cx="5986764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Each needs a completely different fix.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570097"/>
            <a:ext cx="5986764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It says it used PREVENT. Did it actually compute PREVENT?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3652393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846068"/>
            <a:ext cx="5986764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Whether the stated method matches the work cannot be seen from the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180459"/>
            <a:ext cx="5986764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Which improvement fixes which error?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" y="4262755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456430"/>
            <a:ext cx="5986764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Existing work reports how much the score rose, not where the gain came from.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4940" y="1984248"/>
            <a:ext cx="4083522" cy="2101596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4124" y="2295144"/>
            <a:ext cx="342515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D6E4"/>
                </a:solidFill>
                <a:latin typeface="Arial"/>
                <a:ea typeface="Microsoft YaHei"/>
                <a:cs typeface="Arial"/>
              </a:rPr>
              <a:t>The gap in one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4124" y="2734056"/>
            <a:ext cx="3425154" cy="1095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There is no testbed with an exact answer at every step. Without one, we only know a model is weak, not what to fix or how.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What neighbouring work does, and where we differ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27048"/>
            <a:ext cx="10765231" cy="847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2704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" y="1645920"/>
            <a:ext cx="2372053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Medical calculation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4197" y="1645920"/>
            <a:ext cx="3970849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MedCalc-Bench and others: one calculation per item, accuracy only; From Scores to Steps drops GPT-4o from 62.7% to 43.6% once steps are scored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7655" y="1645920"/>
            <a:ext cx="3544504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We separate rule choice, calculation, decision and abstention, and compare fixes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374392"/>
            <a:ext cx="10765231" cy="6604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13232" y="23743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536" y="2493264"/>
            <a:ext cx="2372053" cy="47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Guideline updates and knowledge conflict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4197" y="2493264"/>
            <a:ext cx="3970849" cy="47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TempoMed-Bench, DriftMedQA: multiple-choice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7655" y="2493264"/>
            <a:ext cx="3544504" cy="47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Two real guideline versions; the conflict is patient-level and exactly computable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034792"/>
            <a:ext cx="10765231" cy="847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13232" y="30347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536" y="3153664"/>
            <a:ext cx="2372053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Abstention under missing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4197" y="3153664"/>
            <a:ext cx="3970849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ClinDet-Bench: 94 hand-made cases, point-score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7655" y="3153664"/>
            <a:ext cx="3544504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Interval arithmetic on continuous equations, with difficulty set by distance to the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882136"/>
            <a:ext cx="10765231" cy="44907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13232" y="3882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536" y="4001008"/>
            <a:ext cx="2372053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RL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4197" y="4001008"/>
            <a:ext cx="3970849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MedCalc-R1: reward still uses an LLM judge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7655" y="4001008"/>
            <a:ext cx="3544504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Our reward is computed entirely by a program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4331208"/>
            <a:ext cx="10765231" cy="847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713232" y="433120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9536" y="4450080"/>
            <a:ext cx="2372053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Relation to HTN-Concord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4197" y="4450080"/>
            <a:ext cx="3970849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Parallel project: hand-encoded guideline rules that need clinician adjudication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7655" y="4450080"/>
            <a:ext cx="3544504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Only published equations and thresholds, no adjudication; reuses its data pipelines and PREVENT code read-only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" y="517855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Patient × published equation → program-computed answer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27048"/>
            <a:ext cx="3063240" cy="2458212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746504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30552"/>
            <a:ext cx="2587752" cy="1635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One patient profile: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age, sex, BP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cholesterol, HDL, kidney function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smoking, diabetes, medications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+ one guideline rule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95928" y="2609850"/>
            <a:ext cx="512064" cy="292608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1527048"/>
            <a:ext cx="6677863" cy="2458212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1728216"/>
            <a:ext cx="6165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Reference answer from the program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0" y="217627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93976"/>
            <a:ext cx="5854903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Which guideline version, equation and threshold apply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248234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2400046"/>
            <a:ext cx="5854903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Risk from PCE and from PREVENT (both checked against published worked examples)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0" y="300304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2920746"/>
            <a:ext cx="5854903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Whether the rule says to start medication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330911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6088" y="3226816"/>
            <a:ext cx="5854903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With inputs missing: whether the decision is already determined (interval arithmetic)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369308"/>
            <a:ext cx="3429914" cy="18669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369308"/>
            <a:ext cx="3429914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43628"/>
            <a:ext cx="295442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Answers come only from programs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5039868"/>
            <a:ext cx="2954426" cy="1013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No LLM judge, no human labels. Every result can be reproduced exactly.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0890" y="4369308"/>
            <a:ext cx="3429914" cy="18669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0890" y="4369308"/>
            <a:ext cx="3429914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8634" y="4643628"/>
            <a:ext cx="295442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No clinician adjudication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8634" y="5039868"/>
            <a:ext cx="2954426" cy="1013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Equations and thresholds are published, implemented as printed and checked against worked examples; all 214 recommendations of both guidelines are transcribed.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8548" y="4369308"/>
            <a:ext cx="3429914" cy="18669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8548" y="4369308"/>
            <a:ext cx="3429914" cy="411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6292" y="4643628"/>
            <a:ext cx="295442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Locate, then fix, then train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6292" y="5039868"/>
            <a:ext cx="2954426" cy="1013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First split errors by step, then compare which fix repairs which error, then test whether training repairs them more fully.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KEY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Subtraction separates computing from deciding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1874519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108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54480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Condition 1 · rule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975104"/>
            <a:ext cx="4751679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"Per the 2025 guideline, start medication if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PREVENT ≥7.5%. This 62-year-old woman has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BP 134/82 ... Should she start medication?"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0976" y="2971800"/>
            <a:ext cx="4751679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50976" y="3044952"/>
            <a:ext cx="4751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The model picks the equation, computes and decides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1295" y="1499616"/>
            <a:ext cx="5227167" cy="1874519"/>
          </a:xfrm>
          <a:prstGeom prst="rect">
            <a:avLst/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1295" y="1499616"/>
            <a:ext cx="5227167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0751" y="1554480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Condition 2 · rule plus computed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1975104"/>
            <a:ext cx="4751679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"... A validated calculator gives her a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10-year PREVENT risk of 7.2%.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Should she start medication?"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89039" y="2971800"/>
            <a:ext cx="4751680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89039" y="3044952"/>
            <a:ext cx="4751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The computing step is removed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685032"/>
            <a:ext cx="10765231" cy="713232"/>
          </a:xfrm>
          <a:prstGeom prst="rect">
            <a:avLst/>
          </a:prstGeom>
          <a:solidFill>
            <a:srgbClr val="18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867912"/>
            <a:ext cx="107652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Accuracy (condition 2)  −  accuracy (condition 1)  =  loss from miscalculation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782312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690872"/>
            <a:ext cx="10490911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Same patients, same rule, one extra number, so any accuracy gap can only come from calculation.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122418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5030978"/>
            <a:ext cx="10490911" cy="5339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Errors that remain once the number is given are not calculation errors: the rule was misread, or the decision contradicts the model's own number.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683758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592318"/>
            <a:ext cx="10490911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The same logic applies to missing data: give the model the risk interval and see whether it still decides wrongly.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One testbed shared by three studies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63624"/>
            <a:ext cx="296052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NHANES 2017–18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public, API allowed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0994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1563624"/>
            <a:ext cx="296052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real records, local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8756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3348" y="1563624"/>
            <a:ext cx="296052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2017 and 2025 guidelines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equations and thresholds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9543" y="2121408"/>
            <a:ext cx="292608" cy="274320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450592"/>
            <a:ext cx="10765231" cy="658368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551176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Unified patient profile (HTN-Concord pipelines, reused read-only)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D8E4"/>
                </a:solidFill>
                <a:latin typeface="Arial"/>
                <a:ea typeface="Microsoft YaHei"/>
                <a:cs typeface="Arial"/>
              </a:rPr>
              <a:t>every source folded into one table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46221" y="3145536"/>
            <a:ext cx="256032" cy="237744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8789441" y="3145536"/>
            <a:ext cx="256032" cy="237744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419856"/>
            <a:ext cx="5122011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502152"/>
            <a:ext cx="47562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Reference answers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(PCE, PREVENT, interval arithmetic)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146221" y="4023360"/>
            <a:ext cx="256032" cy="219456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4279392"/>
            <a:ext cx="5122011" cy="60350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379976"/>
            <a:ext cx="47562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Rule, risk, decision, determinability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[hidden from the model]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6451" y="3419856"/>
            <a:ext cx="5122011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9331" y="3502152"/>
            <a:ext cx="47562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Question writer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(case vignette × condition)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89441" y="4023360"/>
            <a:ext cx="256032" cy="219456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6451" y="4279392"/>
            <a:ext cx="5122011" cy="60350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9331" y="4379976"/>
            <a:ext cx="47562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LLM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(local Qwen / OpenAI API)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3146221" y="4901183"/>
            <a:ext cx="256032" cy="219456"/>
          </a:xfrm>
          <a:prstGeom prst="downArrow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8789441" y="4901183"/>
            <a:ext cx="256032" cy="219456"/>
          </a:xfrm>
          <a:prstGeom prst="downArrow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5157216"/>
            <a:ext cx="10765231" cy="512064"/>
          </a:xfrm>
          <a:prstGeom prst="rect">
            <a:avLst/>
          </a:prstGeom>
          <a:solidFill>
            <a:srgbClr val="18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285231"/>
            <a:ext cx="10765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Scoring → error rate per step + failure types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797296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Data rule: MIMIC runs only on local Qwen and is never sent to an external API (PhysioNet DUA). NHANES is public and may go to APIs.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What is in and what is 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32461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840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91056"/>
            <a:ext cx="475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0312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03120"/>
            <a:ext cx="4404207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Computable rules: published risk equations and guideline thresholds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69697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696972"/>
            <a:ext cx="4404207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Cardiovascular risk: PCE, PREVENT (extendable to other equations)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290824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290824"/>
            <a:ext cx="4404207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Rule updates, missing inputs, calculation and faithfulness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884676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884676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Improving and training open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1295" y="1499616"/>
            <a:ext cx="5227167" cy="32461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1295" y="1499616"/>
            <a:ext cx="5227167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1591056"/>
            <a:ext cx="475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5615" y="210312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9935" y="2103120"/>
            <a:ext cx="4404207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Rules that need clinical judgement (HTN-Concord's territory)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269697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9935" y="2696972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 clinical decision support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5615" y="3076194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9935" y="3076194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Judging whether advice is clinically correct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615" y="3455416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9935" y="3455416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Sending MIMIC to any external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03834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The boundary is the strength: studying only rules with exactly computable answers removes the need for clinician adjudication and makes every result reproducible.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Two sources, one already in use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502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773936"/>
            <a:ext cx="4715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NHANES 2017–18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8996" y="1792224"/>
            <a:ext cx="1225371" cy="274320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Used in pilot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368296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286000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4,806 adult profiles, public data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2732532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2650236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Pilot used 140 cases (80 for A, 60 for B)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096768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" y="3014472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Added the MCQ_J questionnaire to exclude prior CVD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3461004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6" y="3378708"/>
            <a:ext cx="4440783" cy="527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Pilot participants logged and excluded from the main study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1295" y="1499616"/>
            <a:ext cx="5227167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1295" y="1499616"/>
            <a:ext cx="5227167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773936"/>
            <a:ext cx="4715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 3.1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0315" y="1792224"/>
            <a:ext cx="1622115" cy="274320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Feasibility checked</a:t>
            </a:r>
          </a:p>
        </p:txBody>
      </p:sp>
      <p:sp>
        <p:nvSpPr>
          <p:cNvPr id="24" name="Oval 23"/>
          <p:cNvSpPr/>
          <p:nvPr/>
        </p:nvSpPr>
        <p:spPr>
          <a:xfrm>
            <a:off x="6543903" y="2368296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3359" y="2286000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Feasibility check on 50 discharge summaries</a:t>
            </a:r>
          </a:p>
        </p:txBody>
      </p:sp>
      <p:sp>
        <p:nvSpPr>
          <p:cNvPr id="26" name="Oval 25"/>
          <p:cNvSpPr/>
          <p:nvPr/>
        </p:nvSpPr>
        <p:spPr>
          <a:xfrm>
            <a:off x="6543903" y="273253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3359" y="2650236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Templated lab lines match lab tables 97.5%</a:t>
            </a:r>
          </a:p>
        </p:txBody>
      </p:sp>
      <p:sp>
        <p:nvSpPr>
          <p:cNvPr id="28" name="Oval 27"/>
          <p:cNvSpPr/>
          <p:nvPr/>
        </p:nvSpPr>
        <p:spPr>
          <a:xfrm>
            <a:off x="6543903" y="3096768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3359" y="3014472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Lipids almost never appear in summaries (3/50)</a:t>
            </a:r>
          </a:p>
        </p:txBody>
      </p:sp>
      <p:sp>
        <p:nvSpPr>
          <p:cNvPr id="30" name="Oval 29"/>
          <p:cNvSpPr/>
          <p:nvPr/>
        </p:nvSpPr>
        <p:spPr>
          <a:xfrm>
            <a:off x="6543903" y="3461004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3359" y="3378708"/>
            <a:ext cx="4440783" cy="527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With lipids hidden, 61.8% still determinable at τ = 7.5%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038344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The MIMIC check changed the design: from the summary alone, 94% of patients have no computable PREVENT, so extract-then-compute fails; deciding whether the outcome is determined works well.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Three papers, each building on the last (plan v2)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91056"/>
            <a:ext cx="10765231" cy="847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9105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868424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6408" y="1709928"/>
            <a:ext cx="1803277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Diagnosis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2294" y="1709928"/>
            <a:ext cx="3041755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Rule updates (A) + missing inputs (B); split each answer into steps and count errors per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6658" y="1709928"/>
            <a:ext cx="3137023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Which step fails, and how that changes with model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6289" y="1709928"/>
            <a:ext cx="945869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Pilot done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438400"/>
            <a:ext cx="10765231" cy="6441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13232" y="243840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1248" y="2614168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6408" y="2557272"/>
            <a:ext cx="1803277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Ladder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2294" y="2557272"/>
            <a:ext cx="3041755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Ten fixes, from prompting and tools to fine-tuning and knowledge editing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6658" y="2557272"/>
            <a:ext cx="3137023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Which fix repairs which error, at what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6289" y="2557272"/>
            <a:ext cx="945869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To 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82544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13232" y="308254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1248" y="3258312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6408" y="3201416"/>
            <a:ext cx="1803277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2294" y="3201416"/>
            <a:ext cx="3041755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Program-scored reward to train small local Qwen models, against P2's best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6658" y="3201416"/>
            <a:ext cx="3137023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Does training fix more; is the gain skill or 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6289" y="3201416"/>
            <a:ext cx="945869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To do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" y="372668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Intervention ladder: ten fixes, cheapest first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10360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4996" y="1655064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Prompting: explicit rule, equation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390" y="1655064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None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925" y="1655064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Old equation with new cut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77136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13232" y="1977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051303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4996" y="2096008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Guideline text /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390" y="2096008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None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925" y="2096008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Rule choice; dilution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418080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418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492247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4996" y="2536952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Automatic prompt optimisation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1390" y="2536952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None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2925" y="2536952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Found automatically?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859024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13232" y="28590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2933191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4996" y="2977895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Majority vote over samples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1390" y="2977895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None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2925" y="2977895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Random errors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299967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299967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374135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54996" y="3418839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Calculator tool, or extract-only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1390" y="3418839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None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2925" y="3418839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Miscalculation (pilot: works)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3740912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13232" y="374091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1248" y="3815080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54996" y="3859784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Decoding-time intervention, steering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1390" y="3859784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Open models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2925" y="3859784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Old-rule fallback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4181856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713232" y="418185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41248" y="4256024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54996" y="4300728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Soft prompt tuning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1390" y="4300728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Open models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2925" y="4300728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Rule choice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" y="4622800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713232" y="462280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41248" y="4696968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54996" y="4741672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LoRA on program-generated 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1390" y="4741672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Open models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42925" y="4741672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Rule choice, calculation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3232" y="5063744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13232" y="506374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41248" y="5137912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54996" y="5182616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Knowledge editing ("the cut is 10%")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91390" y="5182616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Open models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42925" y="5182616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Old-rule fallback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13232" y="550468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13232" y="5760720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Scored with P1's metrics: which errors each fix repairs, at what cost, and what survives new patients or wording. Rungs 1–5: any model; 6–9: local open models; rung 10 is P3.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No single score: errors per step, plus three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4736701" cy="111963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45720" cy="111963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645920"/>
            <a:ext cx="427950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Primary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975104"/>
            <a:ext cx="4224637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Decision accuracy against the required rule (conflict and agreement cases reported separately)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820416"/>
            <a:ext cx="4736701" cy="141427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820416"/>
            <a:ext cx="45720" cy="141427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966720"/>
            <a:ext cx="427950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Step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295904"/>
            <a:ext cx="4224637" cy="29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Error and correlation of the reported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590544"/>
            <a:ext cx="4224637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Whether the stated equation and threshold are right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435856"/>
            <a:ext cx="4736701" cy="132283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4435856"/>
            <a:ext cx="45720" cy="1322832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4582160"/>
            <a:ext cx="427950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Others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911343"/>
            <a:ext cx="4224637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Decision matches own number · Premature decisions · Over-abstention · Claims a missing input it does not need · Silent substitution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269" y="1499616"/>
            <a:ext cx="5626193" cy="1405636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08301" y="16824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909" y="1682496"/>
            <a:ext cx="4803233" cy="308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Conflict cases need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909" y="2009140"/>
            <a:ext cx="4803233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Conflict cases sit near the threshold, so random error looks like falling back. They need agreement cases equally close to the threshold.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269" y="3088132"/>
            <a:ext cx="5626193" cy="1198372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301" y="32710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909" y="3271012"/>
            <a:ext cx="4803233" cy="308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Repeat samples and wordings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909" y="3597656"/>
            <a:ext cx="4803233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The pilot mostly asked once with one wording; the main study uses at least 3 samples and 2 wordings per case.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269" y="4469384"/>
            <a:ext cx="5626193" cy="1198372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08301" y="465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909" y="4652264"/>
            <a:ext cx="4803233" cy="308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Pilot data stay 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909" y="4978908"/>
            <a:ext cx="4803233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Pilot participants are logged; the main study freezes prompts and runs once.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PILOT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Six configurations, each failing somewhere else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627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703832"/>
            <a:ext cx="60978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1.7B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3637" y="1655064"/>
            <a:ext cx="5116010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Ignores the rule; decision contradicts own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2255" y="1655064"/>
            <a:ext cx="2203677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Conflict cases 62% → 76% with the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8541" y="1655064"/>
            <a:ext cx="1683618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Number does not fix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164080"/>
            <a:ext cx="10765231" cy="43281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13232" y="2164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234184"/>
            <a:ext cx="60978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43637" y="2282952"/>
            <a:ext cx="5116010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Cannot compute; says it used Framingham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2255" y="2282952"/>
            <a:ext cx="2203677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26% →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8541" y="2282952"/>
            <a:ext cx="1683618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Number fixes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596896"/>
            <a:ext cx="10765231" cy="627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59689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764535"/>
            <a:ext cx="60978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8B think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3637" y="2715768"/>
            <a:ext cx="5116010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Calls PREVENT a typo; 57/80 claim PCE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2255" y="2715768"/>
            <a:ext cx="2203677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38%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8541" y="2715768"/>
            <a:ext cx="1683618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Gone at larger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224783"/>
            <a:ext cx="10765231" cy="6278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13232" y="3224783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3392423"/>
            <a:ext cx="60978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14B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3637" y="3343655"/>
            <a:ext cx="5116010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Cannot compute; old threshold when no rule given; 59/60 "can't tell" with lipids hidden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2255" y="3343655"/>
            <a:ext cx="2203677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32% → 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8541" y="3343655"/>
            <a:ext cx="1683618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Number fixes 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852671"/>
            <a:ext cx="10765231" cy="627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852671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4020312"/>
            <a:ext cx="60978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43637" y="3971543"/>
            <a:ext cx="5116010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Estimates from memory, about 0.9 points off; weak anchoring on the old equation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2255" y="3971543"/>
            <a:ext cx="2203677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42% → 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8541" y="3971543"/>
            <a:ext cx="1683618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More reasoning did not help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4480559"/>
            <a:ext cx="10765231" cy="6278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13232" y="4480559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1248" y="4648200"/>
            <a:ext cx="60978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astra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43637" y="4599431"/>
            <a:ext cx="5116010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Computes almost exactly; 4.7% refuse, claiming BMI is missing (it is not needed)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2255" y="4599431"/>
            <a:ext cx="2203677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97%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8541" y="4599431"/>
            <a:ext cx="1683618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New failure type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" y="5108447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3232" y="5346191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1,460 local Qwen calls; 339 OpenAI calls, about $12. Only 5.7% (14/244) of real patients get opposite decisions under the two guidelines; 36 of the 50 conflict cases are synthetic.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What the pilot can and cannot say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840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91056"/>
            <a:ext cx="475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Can say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2140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21408"/>
            <a:ext cx="438591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Falling back to the old guideline fades as models get stronger and cannot carry a paper on its 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2338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23388"/>
            <a:ext cx="438591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The main failure is miscalculation, and it is invisible in the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32536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25368"/>
            <a:ext cx="438591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Models of different sizes fail at different steps, and one fix repairs only some of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92734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27348"/>
            <a:ext cx="4385919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Claiming a missing input that is not needed appears in both A and B, which supports merging them into one diagnostic benchmark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1295" y="1499616"/>
            <a:ext cx="5227167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1295" y="1499616"/>
            <a:ext cx="5227167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1591056"/>
            <a:ext cx="475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Cannot yet say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5615" y="212140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8223" y="2121408"/>
            <a:ext cx="438591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Any exact rate: most cases were asked once, with one wording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272338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8223" y="2723388"/>
            <a:ext cx="438591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Whether anchoring on the old equation is real: no near-threshold controls yet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5615" y="332536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8223" y="3325368"/>
            <a:ext cx="438591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How frontier models behave with missing inputs: B was run on Qwen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615" y="392734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8223" y="3927348"/>
            <a:ext cx="438591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Whether any advice is clinically correct: we only check rule compliance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Done, waiting, to 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3663161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3663161" cy="365760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3260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Done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144268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066544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Five candidate directions compared; novelty search (127-paper literature map)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2641600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563876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 feasibility (50 summaries + 2,376-patient determinability simulation)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138932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061208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PCE implemented and checked against worked examples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3636264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558540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Pilot on Qwen 1.7B / 8B / 14B + gpt-6-sol / astra, finalised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133595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055871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Plan v2 document and web page (diagnose → fix → train)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630927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553203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Both guidelines transcribed: 214 recommendations, equations, drug tables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5128259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050535"/>
            <a:ext cx="3059657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Code export and experiment 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4137" y="1499616"/>
            <a:ext cx="2478985" cy="4736592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4137" y="1499616"/>
            <a:ext cx="2478985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5305" y="1581912"/>
            <a:ext cx="20766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Waiting for confirmation</a:t>
            </a:r>
          </a:p>
        </p:txBody>
      </p:sp>
      <p:sp>
        <p:nvSpPr>
          <p:cNvPr id="28" name="Oval 27"/>
          <p:cNvSpPr/>
          <p:nvPr/>
        </p:nvSpPr>
        <p:spPr>
          <a:xfrm>
            <a:off x="4833593" y="2144268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6473" y="2066544"/>
            <a:ext cx="1875481" cy="652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Supervisor's view on the change of direction, and what happens to HTN-Concord</a:t>
            </a:r>
          </a:p>
        </p:txBody>
      </p:sp>
      <p:sp>
        <p:nvSpPr>
          <p:cNvPr id="30" name="Oval 29"/>
          <p:cNvSpPr/>
          <p:nvPr/>
        </p:nvSpPr>
        <p:spPr>
          <a:xfrm>
            <a:off x="4833593" y="2828544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16473" y="2750820"/>
            <a:ext cx="1875481" cy="652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API and GPU budget; is a university cluster available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30866" y="1499616"/>
            <a:ext cx="4147596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30866" y="1499616"/>
            <a:ext cx="4147596" cy="365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2034" y="1581912"/>
            <a:ext cx="3745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To do (critical path)</a:t>
            </a:r>
          </a:p>
        </p:txBody>
      </p:sp>
      <p:sp>
        <p:nvSpPr>
          <p:cNvPr id="35" name="Oval 34"/>
          <p:cNvSpPr/>
          <p:nvPr/>
        </p:nvSpPr>
        <p:spPr>
          <a:xfrm>
            <a:off x="7550322" y="214426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33202" y="2066544"/>
            <a:ext cx="3544092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Main testbed: pooled NHANES cycles, near-threshold controls, new conditions, multiple wordings</a:t>
            </a:r>
          </a:p>
        </p:txBody>
      </p:sp>
      <p:sp>
        <p:nvSpPr>
          <p:cNvPr id="37" name="Oval 36"/>
          <p:cNvSpPr/>
          <p:nvPr/>
        </p:nvSpPr>
        <p:spPr>
          <a:xfrm>
            <a:off x="7550322" y="2641600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33202" y="2563876"/>
            <a:ext cx="3544092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Power analysis to fix the number of cases</a:t>
            </a:r>
          </a:p>
        </p:txBody>
      </p:sp>
      <p:sp>
        <p:nvSpPr>
          <p:cNvPr id="39" name="Oval 38"/>
          <p:cNvSpPr/>
          <p:nvPr/>
        </p:nvSpPr>
        <p:spPr>
          <a:xfrm>
            <a:off x="7550322" y="295198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33202" y="2874264"/>
            <a:ext cx="3544092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Apply for research credits (Anthropic, OpenAI)</a:t>
            </a:r>
          </a:p>
        </p:txBody>
      </p:sp>
      <p:sp>
        <p:nvSpPr>
          <p:cNvPr id="41" name="Oval 40"/>
          <p:cNvSpPr/>
          <p:nvPr/>
        </p:nvSpPr>
        <p:spPr>
          <a:xfrm>
            <a:off x="7550322" y="3262376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33202" y="3184652"/>
            <a:ext cx="3544092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Second-person check of PCE coefficients</a:t>
            </a:r>
          </a:p>
        </p:txBody>
      </p:sp>
      <p:sp>
        <p:nvSpPr>
          <p:cNvPr id="43" name="Oval 42"/>
          <p:cNvSpPr/>
          <p:nvPr/>
        </p:nvSpPr>
        <p:spPr>
          <a:xfrm>
            <a:off x="7550322" y="3572763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33202" y="3495039"/>
            <a:ext cx="3544092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Literature for the ladder (prompt optimisation, soft prompts, knowledge editing)</a:t>
            </a:r>
          </a:p>
        </p:txBody>
      </p:sp>
      <p:sp>
        <p:nvSpPr>
          <p:cNvPr id="45" name="Oval 44"/>
          <p:cNvSpPr/>
          <p:nvPr/>
        </p:nvSpPr>
        <p:spPr>
          <a:xfrm>
            <a:off x="7550322" y="4070095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33202" y="3992371"/>
            <a:ext cx="3544092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Run the missing-input task on frontier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About 11 months, three papers (plan v2)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10360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6207" y="1655064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3535" y="1655064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Two experiments, six model configurations, finalised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3466" y="1655064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77136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13232" y="1977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051303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6207" y="2096008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Testbed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3535" y="2096008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Main case set, controls, runner, scoring; freeze prompts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3466" y="2096008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Month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418080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418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492247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6207" y="2536952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Diagnosis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3535" y="2536952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Step-level benchmark merging A and B; many models, wordings, repeats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3466" y="2536952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Months 2–4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859024"/>
            <a:ext cx="10765231" cy="6441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13232" y="28590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3034791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6207" y="2977895"/>
            <a:ext cx="2254720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Ladder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3535" y="2977895"/>
            <a:ext cx="5577322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Nine fixes: prompting, guideline text / RAG, optimisation, voting, tools, decoding, soft prompt, LoRA, editing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3466" y="2977895"/>
            <a:ext cx="1368693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Months 4–6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503168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50316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678936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6207" y="3622039"/>
            <a:ext cx="2254720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3535" y="3622039"/>
            <a:ext cx="5577322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GRPO on small local models, against the best fix; transfer tested on MIMIC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3466" y="3622039"/>
            <a:ext cx="1368693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Months 6–11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3232" y="414731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2" y="4385056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v1 ran A, B and C as three independent papers. The pilot shows A's effect is too small to stand alone, hence v2; the rule conflict stays as one dimension of the diagnosis. If frontier models show strong "computes correctly but still picks the old rule", A can still become its own paper.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Five real risks and responses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10765231" cy="88049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41148" cy="880491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36776"/>
            <a:ext cx="2524640" cy="88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Effect too 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7056" y="1636776"/>
            <a:ext cx="3385858" cy="88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Frontier models already compute well (astra 97% on conflict cases)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7234" y="1636776"/>
            <a:ext cx="4086636" cy="88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Focus the diagnosis on small and open models; on frontier models, study the new failure types such as claimed missing inputs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444115"/>
            <a:ext cx="41148" cy="69062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599563"/>
            <a:ext cx="2524640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Too few conflict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7056" y="2599563"/>
            <a:ext cx="3385858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Only 5.7% in the real population; the pilot filled the gap with synthetic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7234" y="2599563"/>
            <a:ext cx="4086636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Pool more NHANES cycles; report synthetic cases separately; report population shares from real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217036"/>
            <a:ext cx="10765231" cy="69062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217036"/>
            <a:ext cx="41148" cy="69062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372484"/>
            <a:ext cx="2524640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No raw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7056" y="3372484"/>
            <a:ext cx="3385858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OpenAI returns only summaries; about 60% of astra's are empty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7234" y="3372484"/>
            <a:ext cx="4086636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Base reasoning-trace claims on open models; for frontier models use outputs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989958"/>
            <a:ext cx="41148" cy="690626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145406"/>
            <a:ext cx="2524640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Cost and compute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056" y="4145406"/>
            <a:ext cx="3385858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OpenAI credit ran out twice; RL needs a CUDA GPU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7234" y="4145406"/>
            <a:ext cx="4086636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Batch API at half price, repeats on subsets; research credits; Colab or a university cluster for training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762880"/>
            <a:ext cx="10765231" cy="69062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4762880"/>
            <a:ext cx="41148" cy="690626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4918328"/>
            <a:ext cx="2524640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7056" y="4918328"/>
            <a:ext cx="3385858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The DUA forbids external APIs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7234" y="4918328"/>
            <a:ext cx="4086636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MIMIC runs only on local Qwen (M4 Max); release code on publication as the DUA requires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Four contributions, and decisions for the supervisor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PhD project design and pilot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21243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① A testbed for exact 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1710"/>
            <a:ext cx="2124379" cy="8755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Every step has a program-computed answer; unlimited cases, exact reproducibility.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0571" y="1700784"/>
            <a:ext cx="21243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② A step-level failure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0571" y="2251710"/>
            <a:ext cx="2124379" cy="8755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Which step fails, and how that changes with model size.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575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6743" y="1700784"/>
            <a:ext cx="21243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③ Fixes mapped to failures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6743" y="2251710"/>
            <a:ext cx="2124379" cy="8755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Which fix repairs which error, at what cost, and whether it transfers.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747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2915" y="1700784"/>
            <a:ext cx="21243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④ A transferable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2915" y="2049399"/>
            <a:ext cx="2124379" cy="1077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Applies to any domain with explicit, changing, computed rules, such as tax, insurance or compliance.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456432"/>
            <a:ext cx="5550124" cy="277977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657600"/>
            <a:ext cx="5074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Deliverables</a:t>
            </a:r>
          </a:p>
        </p:txBody>
      </p:sp>
      <p:sp>
        <p:nvSpPr>
          <p:cNvPr id="22" name="Oval 21"/>
          <p:cNvSpPr/>
          <p:nvPr/>
        </p:nvSpPr>
        <p:spPr>
          <a:xfrm>
            <a:off x="969264" y="4137660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059936"/>
            <a:ext cx="4818604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Three papers (diagnosis / intervention ladder / RL)</a:t>
            </a:r>
          </a:p>
        </p:txBody>
      </p:sp>
      <p:sp>
        <p:nvSpPr>
          <p:cNvPr id="24" name="Oval 23"/>
          <p:cNvSpPr/>
          <p:nvPr/>
        </p:nvSpPr>
        <p:spPr>
          <a:xfrm>
            <a:off x="969264" y="4482084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404360"/>
            <a:ext cx="4818604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Open testbed, case generator and scoring code</a:t>
            </a:r>
          </a:p>
        </p:txBody>
      </p:sp>
      <p:sp>
        <p:nvSpPr>
          <p:cNvPr id="26" name="Oval 25"/>
          <p:cNvSpPr/>
          <p:nvPr/>
        </p:nvSpPr>
        <p:spPr>
          <a:xfrm>
            <a:off x="969264" y="4826508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748784"/>
            <a:ext cx="4818604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Transcription of both guidelines (214 recommendations with page numbers)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74252" y="3456432"/>
            <a:ext cx="4904210" cy="2779776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1996" y="3657600"/>
            <a:ext cx="44287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D6E4"/>
                </a:solidFill>
                <a:latin typeface="Arial"/>
                <a:ea typeface="Microsoft YaHei"/>
                <a:cs typeface="Arial"/>
              </a:rPr>
              <a:t>Decisions needed from the supervisor</a:t>
            </a:r>
          </a:p>
        </p:txBody>
      </p:sp>
      <p:sp>
        <p:nvSpPr>
          <p:cNvPr id="30" name="Oval 29"/>
          <p:cNvSpPr/>
          <p:nvPr/>
        </p:nvSpPr>
        <p:spPr>
          <a:xfrm>
            <a:off x="6830284" y="4137660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1452" y="4059936"/>
            <a:ext cx="417269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Move from HTN-Concord to this direction, or run both</a:t>
            </a:r>
          </a:p>
        </p:txBody>
      </p:sp>
      <p:sp>
        <p:nvSpPr>
          <p:cNvPr id="32" name="Oval 31"/>
          <p:cNvSpPr/>
          <p:nvPr/>
        </p:nvSpPr>
        <p:spPr>
          <a:xfrm>
            <a:off x="6830284" y="4482084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1452" y="4404360"/>
            <a:ext cx="417269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Agree to v2's three-paper structure: diagnose → fix → train</a:t>
            </a:r>
          </a:p>
        </p:txBody>
      </p:sp>
      <p:sp>
        <p:nvSpPr>
          <p:cNvPr id="34" name="Oval 33"/>
          <p:cNvSpPr/>
          <p:nvPr/>
        </p:nvSpPr>
        <p:spPr>
          <a:xfrm>
            <a:off x="6830284" y="502462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31452" y="4946904"/>
            <a:ext cx="417269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API and GPU budget; is a university cluster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